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3D"/>
        </a:solidFill>
      </p:bgPr>
    </p:bg>
    <p:spTree>
      <p:nvGrpSpPr>
        <p:cNvPr id="1" name=""/>
        <p:cNvGrpSpPr/>
        <p:nvPr/>
      </p:nvGrpSpPr>
      <p:grpSpPr>
        <a:xfrm>
          <a:off x="0" y="0"/>
          <a:ext cx="0" cy="0"/>
          <a:chOff x="0" y="0"/>
          <a:chExt cx="0" cy="0"/>
        </a:xfrm>
      </p:grpSpPr>
      <p:sp>
        <p:nvSpPr>
          <p:cNvPr id="2" name="Text 0"/>
          <p:cNvSpPr/>
          <p:nvPr/>
        </p:nvSpPr>
        <p:spPr>
          <a:xfrm>
            <a:off x="822960" y="1371600"/>
            <a:ext cx="9144000" cy="274320"/>
          </a:xfrm>
          <a:prstGeom prst="rect">
            <a:avLst/>
          </a:prstGeom>
          <a:noFill/>
          <a:ln/>
        </p:spPr>
        <p:txBody>
          <a:bodyPr wrap="square" lIns="0" tIns="0" rIns="0" bIns="0" rtlCol="0" anchor="ctr"/>
          <a:lstStyle/>
          <a:p>
            <a:pPr indent="0" marL="0">
              <a:buNone/>
            </a:pPr>
            <a:r>
              <a:rPr lang="en-US" sz="1100" b="1" spc="200" kern="0" dirty="0">
                <a:solidFill>
                  <a:srgbClr val="C1652F"/>
                </a:solidFill>
                <a:latin typeface="Calibri" pitchFamily="34" charset="0"/>
                <a:ea typeface="Calibri" pitchFamily="34" charset="-122"/>
                <a:cs typeface="Calibri" pitchFamily="34" charset="-120"/>
              </a:rPr>
              <a:t>MÓDULO 4.23 · PROTOCOLOS CLÍNICOS</a:t>
            </a:r>
            <a:endParaRPr lang="en-US" sz="1100" dirty="0"/>
          </a:p>
        </p:txBody>
      </p:sp>
      <p:sp>
        <p:nvSpPr>
          <p:cNvPr id="3" name="Text 1"/>
          <p:cNvSpPr/>
          <p:nvPr/>
        </p:nvSpPr>
        <p:spPr>
          <a:xfrm>
            <a:off x="777240" y="1737360"/>
            <a:ext cx="10058400" cy="128016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Insônia (CBT-I)</a:t>
            </a:r>
            <a:endParaRPr lang="en-US" sz="5600" dirty="0"/>
          </a:p>
        </p:txBody>
      </p:sp>
      <p:sp>
        <p:nvSpPr>
          <p:cNvPr id="4" name="Text 2"/>
          <p:cNvSpPr/>
          <p:nvPr/>
        </p:nvSpPr>
        <p:spPr>
          <a:xfrm>
            <a:off x="822960" y="2880360"/>
            <a:ext cx="9601200" cy="640080"/>
          </a:xfrm>
          <a:prstGeom prst="rect">
            <a:avLst/>
          </a:prstGeom>
          <a:noFill/>
          <a:ln/>
        </p:spPr>
        <p:txBody>
          <a:bodyPr wrap="square" lIns="0" tIns="0" rIns="0" bIns="0" rtlCol="0" anchor="ctr"/>
          <a:lstStyle/>
          <a:p>
            <a:pPr indent="0" marL="0">
              <a:buNone/>
            </a:pPr>
            <a:r>
              <a:rPr lang="en-US" sz="2100" dirty="0">
                <a:solidFill>
                  <a:srgbClr val="CBD8E5"/>
                </a:solidFill>
                <a:latin typeface="Calibri" pitchFamily="34" charset="0"/>
                <a:ea typeface="Calibri" pitchFamily="34" charset="-122"/>
                <a:cs typeface="Calibri" pitchFamily="34" charset="-120"/>
              </a:rPr>
              <a:t>O protocolo mais contraintuitivo — e um dos mais eficazes</a:t>
            </a:r>
            <a:endParaRPr lang="en-US" sz="2100" dirty="0"/>
          </a:p>
        </p:txBody>
      </p:sp>
      <p:sp>
        <p:nvSpPr>
          <p:cNvPr id="5" name="Shape 3"/>
          <p:cNvSpPr/>
          <p:nvPr/>
        </p:nvSpPr>
        <p:spPr>
          <a:xfrm>
            <a:off x="822960" y="4160520"/>
            <a:ext cx="384048" cy="384048"/>
          </a:xfrm>
          <a:prstGeom prst="ellipse">
            <a:avLst/>
          </a:prstGeom>
          <a:solidFill>
            <a:srgbClr val="C1652F"/>
          </a:solidFill>
          <a:ln/>
        </p:spPr>
      </p:sp>
      <p:sp>
        <p:nvSpPr>
          <p:cNvPr id="6" name="Text 4"/>
          <p:cNvSpPr/>
          <p:nvPr/>
        </p:nvSpPr>
        <p:spPr>
          <a:xfrm>
            <a:off x="82296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50292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Mecanismo</a:t>
            </a:r>
            <a:endParaRPr lang="en-US" sz="1000" dirty="0"/>
          </a:p>
        </p:txBody>
      </p:sp>
      <p:sp>
        <p:nvSpPr>
          <p:cNvPr id="8" name="Shape 6"/>
          <p:cNvSpPr/>
          <p:nvPr/>
        </p:nvSpPr>
        <p:spPr>
          <a:xfrm>
            <a:off x="2606040" y="4160520"/>
            <a:ext cx="384048" cy="384048"/>
          </a:xfrm>
          <a:prstGeom prst="ellipse">
            <a:avLst/>
          </a:prstGeom>
          <a:solidFill>
            <a:srgbClr val="1A3350"/>
          </a:solidFill>
          <a:ln/>
        </p:spPr>
      </p:sp>
      <p:sp>
        <p:nvSpPr>
          <p:cNvPr id="9" name="Text 7"/>
          <p:cNvSpPr/>
          <p:nvPr/>
        </p:nvSpPr>
        <p:spPr>
          <a:xfrm>
            <a:off x="260604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228600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Sinais</a:t>
            </a:r>
            <a:endParaRPr lang="en-US" sz="1000" dirty="0"/>
          </a:p>
        </p:txBody>
      </p:sp>
      <p:sp>
        <p:nvSpPr>
          <p:cNvPr id="11" name="Shape 9"/>
          <p:cNvSpPr/>
          <p:nvPr/>
        </p:nvSpPr>
        <p:spPr>
          <a:xfrm>
            <a:off x="4389120" y="4160520"/>
            <a:ext cx="384048" cy="384048"/>
          </a:xfrm>
          <a:prstGeom prst="ellipse">
            <a:avLst/>
          </a:prstGeom>
          <a:solidFill>
            <a:srgbClr val="1A3350"/>
          </a:solidFill>
          <a:ln/>
        </p:spPr>
      </p:sp>
      <p:sp>
        <p:nvSpPr>
          <p:cNvPr id="12" name="Text 10"/>
          <p:cNvSpPr/>
          <p:nvPr/>
        </p:nvSpPr>
        <p:spPr>
          <a:xfrm>
            <a:off x="438912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p:nvPr/>
        </p:nvSpPr>
        <p:spPr>
          <a:xfrm>
            <a:off x="406908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Instrumento</a:t>
            </a:r>
            <a:endParaRPr lang="en-US" sz="1000" dirty="0"/>
          </a:p>
        </p:txBody>
      </p:sp>
      <p:sp>
        <p:nvSpPr>
          <p:cNvPr id="14" name="Shape 12"/>
          <p:cNvSpPr/>
          <p:nvPr/>
        </p:nvSpPr>
        <p:spPr>
          <a:xfrm>
            <a:off x="6172200" y="4160520"/>
            <a:ext cx="384048" cy="384048"/>
          </a:xfrm>
          <a:prstGeom prst="ellipse">
            <a:avLst/>
          </a:prstGeom>
          <a:solidFill>
            <a:srgbClr val="1A3350"/>
          </a:solidFill>
          <a:ln/>
        </p:spPr>
      </p:sp>
      <p:sp>
        <p:nvSpPr>
          <p:cNvPr id="15" name="Text 13"/>
          <p:cNvSpPr/>
          <p:nvPr/>
        </p:nvSpPr>
        <p:spPr>
          <a:xfrm>
            <a:off x="617220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6" name="Text 14"/>
          <p:cNvSpPr/>
          <p:nvPr/>
        </p:nvSpPr>
        <p:spPr>
          <a:xfrm>
            <a:off x="585216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Protocolo</a:t>
            </a:r>
            <a:endParaRPr lang="en-US" sz="1000" dirty="0"/>
          </a:p>
        </p:txBody>
      </p:sp>
      <p:sp>
        <p:nvSpPr>
          <p:cNvPr id="17" name="Shape 15"/>
          <p:cNvSpPr/>
          <p:nvPr/>
        </p:nvSpPr>
        <p:spPr>
          <a:xfrm>
            <a:off x="7955280" y="4160520"/>
            <a:ext cx="384048" cy="384048"/>
          </a:xfrm>
          <a:prstGeom prst="ellipse">
            <a:avLst/>
          </a:prstGeom>
          <a:solidFill>
            <a:srgbClr val="1A3350"/>
          </a:solidFill>
          <a:ln/>
        </p:spPr>
      </p:sp>
      <p:sp>
        <p:nvSpPr>
          <p:cNvPr id="18" name="Text 16"/>
          <p:cNvSpPr/>
          <p:nvPr/>
        </p:nvSpPr>
        <p:spPr>
          <a:xfrm>
            <a:off x="795528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9" name="Text 17"/>
          <p:cNvSpPr/>
          <p:nvPr/>
        </p:nvSpPr>
        <p:spPr>
          <a:xfrm>
            <a:off x="763524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Encaminhamento</a:t>
            </a:r>
            <a:endParaRPr lang="en-US" sz="1000" dirty="0"/>
          </a:p>
        </p:txBody>
      </p:sp>
      <p:sp>
        <p:nvSpPr>
          <p:cNvPr id="20" name="Text 18"/>
          <p:cNvSpPr/>
          <p:nvPr/>
        </p:nvSpPr>
        <p:spPr>
          <a:xfrm>
            <a:off x="822960" y="6035040"/>
            <a:ext cx="9144000" cy="320040"/>
          </a:xfrm>
          <a:prstGeom prst="rect">
            <a:avLst/>
          </a:prstGeom>
          <a:noFill/>
          <a:ln/>
        </p:spPr>
        <p:txBody>
          <a:bodyPr wrap="square" lIns="0" tIns="0" rIns="0" bIns="0" rtlCol="0" anchor="ctr"/>
          <a:lstStyle/>
          <a:p>
            <a:pPr indent="0" marL="0">
              <a:buNone/>
            </a:pPr>
            <a:r>
              <a:rPr lang="en-US" sz="1100" dirty="0">
                <a:solidFill>
                  <a:srgbClr val="7E93A8"/>
                </a:solidFill>
                <a:latin typeface="Calibri" pitchFamily="34" charset="0"/>
                <a:ea typeface="Calibri" pitchFamily="34" charset="-122"/>
                <a:cs typeface="Calibri" pitchFamily="34" charset="-120"/>
              </a:rPr>
              <a:t>Formação em Neurociência Aplicada à Psicoterapia — by Dioclides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50292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ROTEIRO DESTA AULA</a:t>
            </a:r>
            <a:endParaRPr lang="en-US" sz="1100" dirty="0"/>
          </a:p>
        </p:txBody>
      </p:sp>
      <p:sp>
        <p:nvSpPr>
          <p:cNvPr id="3" name="Text 1"/>
          <p:cNvSpPr/>
          <p:nvPr/>
        </p:nvSpPr>
        <p:spPr>
          <a:xfrm>
            <a:off x="777240" y="77724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A mesma anatomia de 5 passos, em todo protocolo do curso</a:t>
            </a:r>
            <a:endParaRPr lang="en-US" sz="2800" dirty="0"/>
          </a:p>
        </p:txBody>
      </p:sp>
      <p:sp>
        <p:nvSpPr>
          <p:cNvPr id="4" name="Shape 2"/>
          <p:cNvSpPr/>
          <p:nvPr/>
        </p:nvSpPr>
        <p:spPr>
          <a:xfrm>
            <a:off x="822960"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454810" y="2240280"/>
            <a:ext cx="640080" cy="640080"/>
          </a:xfrm>
          <a:prstGeom prst="ellipse">
            <a:avLst/>
          </a:prstGeom>
          <a:solidFill>
            <a:srgbClr val="C1652F"/>
          </a:solidFill>
          <a:ln/>
        </p:spPr>
      </p:sp>
      <p:sp>
        <p:nvSpPr>
          <p:cNvPr id="6" name="Text 4"/>
          <p:cNvSpPr/>
          <p:nvPr/>
        </p:nvSpPr>
        <p:spPr>
          <a:xfrm>
            <a:off x="1454810"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960120"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Mecanismo</a:t>
            </a:r>
            <a:endParaRPr lang="en-US" sz="1500" dirty="0"/>
          </a:p>
        </p:txBody>
      </p:sp>
      <p:sp>
        <p:nvSpPr>
          <p:cNvPr id="8" name="Text 6"/>
          <p:cNvSpPr/>
          <p:nvPr/>
        </p:nvSpPr>
        <p:spPr>
          <a:xfrm>
            <a:off x="1005840"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Como a cama vira sinal de vigília, não de sono</a:t>
            </a:r>
            <a:endParaRPr lang="en-US" sz="1100" dirty="0"/>
          </a:p>
        </p:txBody>
      </p:sp>
      <p:sp>
        <p:nvSpPr>
          <p:cNvPr id="9" name="Shape 7"/>
          <p:cNvSpPr/>
          <p:nvPr/>
        </p:nvSpPr>
        <p:spPr>
          <a:xfrm>
            <a:off x="2982773"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3614623" y="2240280"/>
            <a:ext cx="640080" cy="640080"/>
          </a:xfrm>
          <a:prstGeom prst="ellipse">
            <a:avLst/>
          </a:prstGeom>
          <a:solidFill>
            <a:srgbClr val="12283D"/>
          </a:solidFill>
          <a:ln/>
        </p:spPr>
      </p:sp>
      <p:sp>
        <p:nvSpPr>
          <p:cNvPr id="11" name="Text 9"/>
          <p:cNvSpPr/>
          <p:nvPr/>
        </p:nvSpPr>
        <p:spPr>
          <a:xfrm>
            <a:off x="3614623"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3119933"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Sinais</a:t>
            </a:r>
            <a:endParaRPr lang="en-US" sz="1500" dirty="0"/>
          </a:p>
        </p:txBody>
      </p:sp>
      <p:sp>
        <p:nvSpPr>
          <p:cNvPr id="13" name="Text 11"/>
          <p:cNvSpPr/>
          <p:nvPr/>
        </p:nvSpPr>
        <p:spPr>
          <a:xfrm>
            <a:off x="3165653"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O ciclo que se sustenta mesmo sem o estressor original</a:t>
            </a:r>
            <a:endParaRPr lang="en-US" sz="1100" dirty="0"/>
          </a:p>
        </p:txBody>
      </p:sp>
      <p:sp>
        <p:nvSpPr>
          <p:cNvPr id="14" name="Shape 12"/>
          <p:cNvSpPr/>
          <p:nvPr/>
        </p:nvSpPr>
        <p:spPr>
          <a:xfrm>
            <a:off x="5142586"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15" name="Shape 13"/>
          <p:cNvSpPr/>
          <p:nvPr/>
        </p:nvSpPr>
        <p:spPr>
          <a:xfrm>
            <a:off x="5774436" y="2240280"/>
            <a:ext cx="640080" cy="640080"/>
          </a:xfrm>
          <a:prstGeom prst="ellipse">
            <a:avLst/>
          </a:prstGeom>
          <a:solidFill>
            <a:srgbClr val="12283D"/>
          </a:solidFill>
          <a:ln/>
        </p:spPr>
      </p:sp>
      <p:sp>
        <p:nvSpPr>
          <p:cNvPr id="16" name="Text 14"/>
          <p:cNvSpPr/>
          <p:nvPr/>
        </p:nvSpPr>
        <p:spPr>
          <a:xfrm>
            <a:off x="5774436"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5279746"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Instrumento</a:t>
            </a:r>
            <a:endParaRPr lang="en-US" sz="1500" dirty="0"/>
          </a:p>
        </p:txBody>
      </p:sp>
      <p:sp>
        <p:nvSpPr>
          <p:cNvPr id="18" name="Text 16"/>
          <p:cNvSpPr/>
          <p:nvPr/>
        </p:nvSpPr>
        <p:spPr>
          <a:xfrm>
            <a:off x="5325466"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ISI, diário do sono e triagem de apneia</a:t>
            </a:r>
            <a:endParaRPr lang="en-US" sz="1100" dirty="0"/>
          </a:p>
        </p:txBody>
      </p:sp>
      <p:sp>
        <p:nvSpPr>
          <p:cNvPr id="19" name="Shape 17"/>
          <p:cNvSpPr/>
          <p:nvPr/>
        </p:nvSpPr>
        <p:spPr>
          <a:xfrm>
            <a:off x="7302398"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20" name="Shape 18"/>
          <p:cNvSpPr/>
          <p:nvPr/>
        </p:nvSpPr>
        <p:spPr>
          <a:xfrm>
            <a:off x="7934249" y="2240280"/>
            <a:ext cx="640080" cy="640080"/>
          </a:xfrm>
          <a:prstGeom prst="ellipse">
            <a:avLst/>
          </a:prstGeom>
          <a:solidFill>
            <a:srgbClr val="12283D"/>
          </a:solidFill>
          <a:ln/>
        </p:spPr>
      </p:sp>
      <p:sp>
        <p:nvSpPr>
          <p:cNvPr id="21" name="Text 19"/>
          <p:cNvSpPr/>
          <p:nvPr/>
        </p:nvSpPr>
        <p:spPr>
          <a:xfrm>
            <a:off x="7934249"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7439558"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Protocolo</a:t>
            </a:r>
            <a:endParaRPr lang="en-US" sz="1500" dirty="0"/>
          </a:p>
        </p:txBody>
      </p:sp>
      <p:sp>
        <p:nvSpPr>
          <p:cNvPr id="23" name="Text 21"/>
          <p:cNvSpPr/>
          <p:nvPr/>
        </p:nvSpPr>
        <p:spPr>
          <a:xfrm>
            <a:off x="7485278"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4 passos da CBT-I, o padrão-ouro de tratamento</a:t>
            </a:r>
            <a:endParaRPr lang="en-US" sz="1100" dirty="0"/>
          </a:p>
        </p:txBody>
      </p:sp>
      <p:sp>
        <p:nvSpPr>
          <p:cNvPr id="24" name="Shape 22"/>
          <p:cNvSpPr/>
          <p:nvPr/>
        </p:nvSpPr>
        <p:spPr>
          <a:xfrm>
            <a:off x="9462211"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25" name="Shape 23"/>
          <p:cNvSpPr/>
          <p:nvPr/>
        </p:nvSpPr>
        <p:spPr>
          <a:xfrm>
            <a:off x="10094062" y="2240280"/>
            <a:ext cx="640080" cy="640080"/>
          </a:xfrm>
          <a:prstGeom prst="ellipse">
            <a:avLst/>
          </a:prstGeom>
          <a:solidFill>
            <a:srgbClr val="12283D"/>
          </a:solidFill>
          <a:ln/>
        </p:spPr>
      </p:sp>
      <p:sp>
        <p:nvSpPr>
          <p:cNvPr id="26" name="Text 24"/>
          <p:cNvSpPr/>
          <p:nvPr/>
        </p:nvSpPr>
        <p:spPr>
          <a:xfrm>
            <a:off x="10094062"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9599371"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Encaminhamento</a:t>
            </a:r>
            <a:endParaRPr lang="en-US" sz="1500" dirty="0"/>
          </a:p>
        </p:txBody>
      </p:sp>
      <p:sp>
        <p:nvSpPr>
          <p:cNvPr id="28" name="Text 26"/>
          <p:cNvSpPr/>
          <p:nvPr/>
        </p:nvSpPr>
        <p:spPr>
          <a:xfrm>
            <a:off x="9645091"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Quando insônia é sintoma de outra coisa</a:t>
            </a:r>
            <a:endParaRPr lang="en-US" sz="1100" dirty="0"/>
          </a:p>
        </p:txBody>
      </p:sp>
      <p:sp>
        <p:nvSpPr>
          <p:cNvPr id="29" name="Text 27"/>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30" name="Text 2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82296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ANTES DE COMEÇAR</a:t>
            </a:r>
            <a:endParaRPr lang="en-US" sz="1100" dirty="0"/>
          </a:p>
        </p:txBody>
      </p:sp>
      <p:sp>
        <p:nvSpPr>
          <p:cNvPr id="3" name="Text 1"/>
          <p:cNvSpPr/>
          <p:nvPr/>
        </p:nvSpPr>
        <p:spPr>
          <a:xfrm>
            <a:off x="822960" y="1371600"/>
            <a:ext cx="9875520" cy="2377440"/>
          </a:xfrm>
          <a:prstGeom prst="rect">
            <a:avLst/>
          </a:prstGeom>
          <a:noFill/>
          <a:ln/>
        </p:spPr>
        <p:txBody>
          <a:bodyPr wrap="square" lIns="0" tIns="0" rIns="0" bIns="0" rtlCol="0" anchor="ctr"/>
          <a:lstStyle/>
          <a:p>
            <a:pPr indent="0" marL="0">
              <a:lnSpc>
                <a:spcPct val="115000"/>
              </a:lnSpc>
              <a:buNone/>
            </a:pPr>
            <a:r>
              <a:rPr lang="en-US" sz="3400" b="1" dirty="0">
                <a:solidFill>
                  <a:srgbClr val="12283D"/>
                </a:solidFill>
                <a:latin typeface="Cambria" pitchFamily="34" charset="0"/>
                <a:ea typeface="Cambria" pitchFamily="34" charset="-122"/>
                <a:cs typeface="Cambria" pitchFamily="34" charset="-120"/>
              </a:rPr>
              <a:t>O componente mais eficaz do tratamento da insônia crônica é, na prática, reduzir o tempo que a pessoa passa na cama — o oposto do que ela mais quer fazer quando está exausta.</a:t>
            </a:r>
            <a:endParaRPr lang="en-US" sz="3400" dirty="0"/>
          </a:p>
        </p:txBody>
      </p:sp>
      <p:sp>
        <p:nvSpPr>
          <p:cNvPr id="4" name="Text 2"/>
          <p:cNvSpPr/>
          <p:nvPr/>
        </p:nvSpPr>
        <p:spPr>
          <a:xfrm>
            <a:off x="822960" y="3931920"/>
            <a:ext cx="7955280" cy="1371600"/>
          </a:xfrm>
          <a:prstGeom prst="rect">
            <a:avLst/>
          </a:prstGeom>
          <a:noFill/>
          <a:ln/>
        </p:spPr>
        <p:txBody>
          <a:bodyPr wrap="square" lIns="0" tIns="0" rIns="0" bIns="0" rtlCol="0" anchor="ctr"/>
          <a:lstStyle/>
          <a:p>
            <a:pPr indent="0" marL="0">
              <a:buNone/>
            </a:pPr>
            <a:r>
              <a:rPr lang="en-US" sz="1500" dirty="0">
                <a:solidFill>
                  <a:srgbClr val="6B6153"/>
                </a:solidFill>
                <a:latin typeface="Calibri" pitchFamily="34" charset="0"/>
                <a:ea typeface="Calibri" pitchFamily="34" charset="-122"/>
                <a:cs typeface="Calibri" pitchFamily="34" charset="-120"/>
              </a:rPr>
              <a:t>Isso só faz sentido quando se entende o mecanismo: a cama, com o tempo, deixou de ser sinal de sono e passou a ser sinal de frustração e vigília.</a:t>
            </a:r>
            <a:endParaRPr lang="en-US" sz="150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Por que a mente acelera justamente na hora de dormir</a:t>
            </a:r>
            <a:endParaRPr lang="en-US" sz="2800" dirty="0"/>
          </a:p>
        </p:txBody>
      </p:sp>
      <p:sp>
        <p:nvSpPr>
          <p:cNvPr id="4" name="Shape 2"/>
          <p:cNvSpPr/>
          <p:nvPr/>
        </p:nvSpPr>
        <p:spPr>
          <a:xfrm>
            <a:off x="822960" y="1691640"/>
            <a:ext cx="5120640" cy="4023360"/>
          </a:xfrm>
          <a:prstGeom prst="ellipse">
            <a:avLst/>
          </a:prstGeom>
          <a:solidFill>
            <a:srgbClr val="EFE8D9"/>
          </a:solidFill>
          <a:ln w="25400">
            <a:solidFill>
              <a:srgbClr val="12283D"/>
            </a:solidFill>
            <a:prstDash val="solid"/>
          </a:ln>
        </p:spPr>
      </p:sp>
      <p:sp>
        <p:nvSpPr>
          <p:cNvPr id="5" name="Shape 3"/>
          <p:cNvSpPr/>
          <p:nvPr/>
        </p:nvSpPr>
        <p:spPr>
          <a:xfrm>
            <a:off x="1847088" y="2576779"/>
            <a:ext cx="457200" cy="457200"/>
          </a:xfrm>
          <a:prstGeom prst="ellipse">
            <a:avLst/>
          </a:prstGeom>
          <a:solidFill>
            <a:srgbClr val="C1652F"/>
          </a:solidFill>
          <a:ln w="19050">
            <a:solidFill>
              <a:srgbClr val="FFFFFF"/>
            </a:solidFill>
            <a:prstDash val="solid"/>
          </a:ln>
        </p:spPr>
      </p:sp>
      <p:sp>
        <p:nvSpPr>
          <p:cNvPr id="6" name="Shape 4"/>
          <p:cNvSpPr/>
          <p:nvPr/>
        </p:nvSpPr>
        <p:spPr>
          <a:xfrm>
            <a:off x="1949501" y="4186123"/>
            <a:ext cx="365760" cy="365760"/>
          </a:xfrm>
          <a:prstGeom prst="ellipse">
            <a:avLst/>
          </a:prstGeom>
          <a:solidFill>
            <a:srgbClr val="12283D"/>
          </a:solidFill>
          <a:ln w="19050">
            <a:solidFill>
              <a:srgbClr val="FFFFFF"/>
            </a:solidFill>
            <a:prstDash val="solid"/>
          </a:ln>
        </p:spPr>
      </p:sp>
      <p:sp>
        <p:nvSpPr>
          <p:cNvPr id="7" name="Shape 5"/>
          <p:cNvSpPr/>
          <p:nvPr/>
        </p:nvSpPr>
        <p:spPr>
          <a:xfrm>
            <a:off x="3895344" y="4105656"/>
            <a:ext cx="329184" cy="329184"/>
          </a:xfrm>
          <a:prstGeom prst="ellipse">
            <a:avLst/>
          </a:prstGeom>
          <a:solidFill>
            <a:srgbClr val="63768A"/>
          </a:solidFill>
          <a:ln w="19050">
            <a:solidFill>
              <a:srgbClr val="FFFFFF"/>
            </a:solidFill>
            <a:prstDash val="solid"/>
          </a:ln>
        </p:spPr>
      </p:sp>
      <p:sp>
        <p:nvSpPr>
          <p:cNvPr id="8" name="Shape 6"/>
          <p:cNvSpPr/>
          <p:nvPr/>
        </p:nvSpPr>
        <p:spPr>
          <a:xfrm>
            <a:off x="3792931" y="2657246"/>
            <a:ext cx="329184" cy="329184"/>
          </a:xfrm>
          <a:prstGeom prst="ellipse">
            <a:avLst/>
          </a:prstGeom>
          <a:solidFill>
            <a:srgbClr val="D99A73"/>
          </a:solidFill>
          <a:ln w="19050">
            <a:solidFill>
              <a:srgbClr val="FFFFFF"/>
            </a:solidFill>
            <a:prstDash val="solid"/>
          </a:ln>
        </p:spPr>
      </p:sp>
      <p:sp>
        <p:nvSpPr>
          <p:cNvPr id="9" name="Shape 7"/>
          <p:cNvSpPr/>
          <p:nvPr/>
        </p:nvSpPr>
        <p:spPr>
          <a:xfrm>
            <a:off x="6400800" y="1947672"/>
            <a:ext cx="201168" cy="201168"/>
          </a:xfrm>
          <a:prstGeom prst="ellipse">
            <a:avLst/>
          </a:prstGeom>
          <a:solidFill>
            <a:srgbClr val="C1652F"/>
          </a:solidFill>
          <a:ln/>
        </p:spPr>
      </p:sp>
      <p:sp>
        <p:nvSpPr>
          <p:cNvPr id="10" name="Text 8"/>
          <p:cNvSpPr/>
          <p:nvPr/>
        </p:nvSpPr>
        <p:spPr>
          <a:xfrm>
            <a:off x="6720840" y="187452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Sistema de hiperativação (arousal cognitivo e fisiológico elevado à noite)</a:t>
            </a:r>
            <a:endParaRPr lang="en-US" sz="1300" dirty="0"/>
          </a:p>
        </p:txBody>
      </p:sp>
      <p:sp>
        <p:nvSpPr>
          <p:cNvPr id="11" name="Shape 9"/>
          <p:cNvSpPr/>
          <p:nvPr/>
        </p:nvSpPr>
        <p:spPr>
          <a:xfrm>
            <a:off x="6400800" y="2450592"/>
            <a:ext cx="201168" cy="201168"/>
          </a:xfrm>
          <a:prstGeom prst="ellipse">
            <a:avLst/>
          </a:prstGeom>
          <a:solidFill>
            <a:srgbClr val="12283D"/>
          </a:solidFill>
          <a:ln/>
        </p:spPr>
      </p:sp>
      <p:sp>
        <p:nvSpPr>
          <p:cNvPr id="12" name="Text 10"/>
          <p:cNvSpPr/>
          <p:nvPr/>
        </p:nvSpPr>
        <p:spPr>
          <a:xfrm>
            <a:off x="6720840" y="237744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Amígdala (condicionamento da cama como sinal de ameaça/frustração)</a:t>
            </a:r>
            <a:endParaRPr lang="en-US" sz="1300" dirty="0"/>
          </a:p>
        </p:txBody>
      </p:sp>
      <p:sp>
        <p:nvSpPr>
          <p:cNvPr id="13" name="Shape 11"/>
          <p:cNvSpPr/>
          <p:nvPr/>
        </p:nvSpPr>
        <p:spPr>
          <a:xfrm>
            <a:off x="6400800" y="2953512"/>
            <a:ext cx="201168" cy="201168"/>
          </a:xfrm>
          <a:prstGeom prst="ellipse">
            <a:avLst/>
          </a:prstGeom>
          <a:solidFill>
            <a:srgbClr val="63768A"/>
          </a:solidFill>
          <a:ln/>
        </p:spPr>
      </p:sp>
      <p:sp>
        <p:nvSpPr>
          <p:cNvPr id="14" name="Text 12"/>
          <p:cNvSpPr/>
          <p:nvPr/>
        </p:nvSpPr>
        <p:spPr>
          <a:xfrm>
            <a:off x="6720840" y="288036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Processo homeostático de sono (pressão de sono reduzida por compensações)</a:t>
            </a:r>
            <a:endParaRPr lang="en-US" sz="1300" dirty="0"/>
          </a:p>
        </p:txBody>
      </p:sp>
      <p:sp>
        <p:nvSpPr>
          <p:cNvPr id="15" name="Shape 13"/>
          <p:cNvSpPr/>
          <p:nvPr/>
        </p:nvSpPr>
        <p:spPr>
          <a:xfrm>
            <a:off x="6400800" y="3456432"/>
            <a:ext cx="201168" cy="201168"/>
          </a:xfrm>
          <a:prstGeom prst="ellipse">
            <a:avLst/>
          </a:prstGeom>
          <a:solidFill>
            <a:srgbClr val="D99A73"/>
          </a:solidFill>
          <a:ln/>
        </p:spPr>
      </p:sp>
      <p:sp>
        <p:nvSpPr>
          <p:cNvPr id="16" name="Text 14"/>
          <p:cNvSpPr/>
          <p:nvPr/>
        </p:nvSpPr>
        <p:spPr>
          <a:xfrm>
            <a:off x="6720840" y="338328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Núcleo supraquiasmático (ritmo circadiano desalinhado por horários irregulares)</a:t>
            </a:r>
            <a:endParaRPr lang="en-US" sz="1300" dirty="0"/>
          </a:p>
        </p:txBody>
      </p:sp>
      <p:sp>
        <p:nvSpPr>
          <p:cNvPr id="17" name="Text 15"/>
          <p:cNvSpPr/>
          <p:nvPr/>
        </p:nvSpPr>
        <p:spPr>
          <a:xfrm>
            <a:off x="6400800" y="4160520"/>
            <a:ext cx="5120640" cy="20116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6B6153"/>
                </a:solidFill>
                <a:latin typeface="Calibri" pitchFamily="34" charset="0"/>
                <a:ea typeface="Calibri" pitchFamily="34" charset="-122"/>
                <a:cs typeface="Calibri" pitchFamily="34" charset="-120"/>
              </a:rPr>
              <a:t>O sistema de hiperativação mantém ativação cognitiva e fisiológica elevada justamente no momento em que o corpo deveria relaxar pra dormir.</a:t>
            </a:r>
            <a:endParaRPr lang="en-US" sz="1250" dirty="0"/>
          </a:p>
          <a:p>
            <a:pPr marL="342900" indent="-342900">
              <a:spcAft>
                <a:spcPts val="1000"/>
              </a:spcAft>
              <a:buSzPct val="100000"/>
              <a:buChar char="•"/>
            </a:pPr>
            <a:r>
              <a:rPr lang="en-US" sz="1250" dirty="0">
                <a:solidFill>
                  <a:srgbClr val="6B6153"/>
                </a:solidFill>
                <a:latin typeface="Calibri" pitchFamily="34" charset="0"/>
                <a:ea typeface="Calibri" pitchFamily="34" charset="-122"/>
                <a:cs typeface="Calibri" pitchFamily="34" charset="-120"/>
              </a:rPr>
              <a:t>A amígdala participa do condicionamento da cama como sinal de frustração — não mais de sono — depois de noites repetidas de vigília ali.</a:t>
            </a:r>
            <a:endParaRPr lang="en-US" sz="1250" dirty="0"/>
          </a:p>
          <a:p>
            <a:pPr marL="342900" indent="-342900">
              <a:spcAft>
                <a:spcPts val="1000"/>
              </a:spcAft>
              <a:buSzPct val="100000"/>
              <a:buChar char="•"/>
            </a:pPr>
            <a:r>
              <a:rPr lang="en-US" sz="1250" dirty="0">
                <a:solidFill>
                  <a:srgbClr val="6B6153"/>
                </a:solidFill>
                <a:latin typeface="Calibri" pitchFamily="34" charset="0"/>
                <a:ea typeface="Calibri" pitchFamily="34" charset="-122"/>
                <a:cs typeface="Calibri" pitchFamily="34" charset="-120"/>
              </a:rPr>
              <a:t>A pressão de sono (processo homeostático) fica reduzida por cochilos e tempo excessivo na cama, dois comportamentos compensatórios que parecem ajudar mas perpetuam o problema.</a:t>
            </a:r>
            <a:endParaRPr lang="en-US" sz="1250" dirty="0"/>
          </a:p>
        </p:txBody>
      </p:sp>
      <p:sp>
        <p:nvSpPr>
          <p:cNvPr id="18" name="Text 1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19" name="Text 1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Do estressor inicial ao ciclo autossustentado</a:t>
            </a:r>
            <a:endParaRPr lang="en-US" sz="2800" dirty="0"/>
          </a:p>
        </p:txBody>
      </p:sp>
      <p:sp>
        <p:nvSpPr>
          <p:cNvPr id="4" name="Shape 2"/>
          <p:cNvSpPr/>
          <p:nvPr/>
        </p:nvSpPr>
        <p:spPr>
          <a:xfrm>
            <a:off x="822960"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5" name="Text 3"/>
          <p:cNvSpPr/>
          <p:nvPr/>
        </p:nvSpPr>
        <p:spPr>
          <a:xfrm>
            <a:off x="987552"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Episódio inicial de sono ruim</a:t>
            </a:r>
            <a:endParaRPr lang="en-US" sz="1500" dirty="0"/>
          </a:p>
        </p:txBody>
      </p:sp>
      <p:sp>
        <p:nvSpPr>
          <p:cNvPr id="6" name="Text 4"/>
          <p:cNvSpPr/>
          <p:nvPr/>
        </p:nvSpPr>
        <p:spPr>
          <a:xfrm>
            <a:off x="987552"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Geralmente ligado a um estressor agudo ou evento de vida específico</a:t>
            </a:r>
            <a:endParaRPr lang="en-US" sz="1100" dirty="0"/>
          </a:p>
        </p:txBody>
      </p:sp>
      <p:sp>
        <p:nvSpPr>
          <p:cNvPr id="7" name="Text 5"/>
          <p:cNvSpPr/>
          <p:nvPr/>
        </p:nvSpPr>
        <p:spPr>
          <a:xfrm>
            <a:off x="3081528"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584448"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9" name="Text 7"/>
          <p:cNvSpPr/>
          <p:nvPr/>
        </p:nvSpPr>
        <p:spPr>
          <a:xfrm>
            <a:off x="3749040"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Resposta compensatória</a:t>
            </a:r>
            <a:endParaRPr lang="en-US" sz="1500" dirty="0"/>
          </a:p>
        </p:txBody>
      </p:sp>
      <p:sp>
        <p:nvSpPr>
          <p:cNvPr id="10" name="Text 8"/>
          <p:cNvSpPr/>
          <p:nvPr/>
        </p:nvSpPr>
        <p:spPr>
          <a:xfrm>
            <a:off x="3749040"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Ir pra cama mais cedo, ficar mais tempo deitado tentando dormir</a:t>
            </a:r>
            <a:endParaRPr lang="en-US" sz="1100" dirty="0"/>
          </a:p>
        </p:txBody>
      </p:sp>
      <p:sp>
        <p:nvSpPr>
          <p:cNvPr id="11" name="Text 9"/>
          <p:cNvSpPr/>
          <p:nvPr/>
        </p:nvSpPr>
        <p:spPr>
          <a:xfrm>
            <a:off x="5843016"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6345936"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13" name="Text 11"/>
          <p:cNvSpPr/>
          <p:nvPr/>
        </p:nvSpPr>
        <p:spPr>
          <a:xfrm>
            <a:off x="6510528"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Condicionamento negativo</a:t>
            </a:r>
            <a:endParaRPr lang="en-US" sz="1500" dirty="0"/>
          </a:p>
        </p:txBody>
      </p:sp>
      <p:sp>
        <p:nvSpPr>
          <p:cNvPr id="14" name="Text 12"/>
          <p:cNvSpPr/>
          <p:nvPr/>
        </p:nvSpPr>
        <p:spPr>
          <a:xfrm>
            <a:off x="6510528"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A cama passa a ser sinal de vigília e frustração, não de sono</a:t>
            </a:r>
            <a:endParaRPr lang="en-US" sz="1100" dirty="0"/>
          </a:p>
        </p:txBody>
      </p:sp>
      <p:sp>
        <p:nvSpPr>
          <p:cNvPr id="15" name="Text 13"/>
          <p:cNvSpPr/>
          <p:nvPr/>
        </p:nvSpPr>
        <p:spPr>
          <a:xfrm>
            <a:off x="8604504"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9107424" y="1965960"/>
            <a:ext cx="2258568" cy="1920240"/>
          </a:xfrm>
          <a:prstGeom prst="roundRect">
            <a:avLst>
              <a:gd name="adj" fmla="val 3810"/>
            </a:avLst>
          </a:prstGeom>
          <a:solidFill>
            <a:srgbClr val="C1652F"/>
          </a:solidFill>
          <a:ln/>
          <a:effectLst>
            <a:outerShdw sx="100000" sy="100000" kx="0" ky="0" algn="bl" rotWithShape="0" blurRad="101600" dist="38100" dir="2700000">
              <a:srgbClr val="000000">
                <a:alpha val="12000"/>
              </a:srgbClr>
            </a:outerShdw>
          </a:effectLst>
        </p:spPr>
      </p:sp>
      <p:sp>
        <p:nvSpPr>
          <p:cNvPr id="17" name="Text 15"/>
          <p:cNvSpPr/>
          <p:nvPr/>
        </p:nvSpPr>
        <p:spPr>
          <a:xfrm>
            <a:off x="9272016"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Insônia crônica</a:t>
            </a:r>
            <a:endParaRPr lang="en-US" sz="1500" dirty="0"/>
          </a:p>
        </p:txBody>
      </p:sp>
      <p:sp>
        <p:nvSpPr>
          <p:cNvPr id="18" name="Text 16"/>
          <p:cNvSpPr/>
          <p:nvPr/>
        </p:nvSpPr>
        <p:spPr>
          <a:xfrm>
            <a:off x="9272016"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Persiste mesmo depois que o estressor original já passou</a:t>
            </a:r>
            <a:endParaRPr lang="en-US" sz="1100" dirty="0"/>
          </a:p>
        </p:txBody>
      </p:sp>
      <p:sp>
        <p:nvSpPr>
          <p:cNvPr id="19" name="Text 17"/>
          <p:cNvSpPr/>
          <p:nvPr/>
        </p:nvSpPr>
        <p:spPr>
          <a:xfrm>
            <a:off x="822960" y="4480560"/>
            <a:ext cx="9875520" cy="822960"/>
          </a:xfrm>
          <a:prstGeom prst="rect">
            <a:avLst/>
          </a:prstGeom>
          <a:noFill/>
          <a:ln/>
        </p:spPr>
        <p:txBody>
          <a:bodyPr wrap="square" lIns="0" tIns="0" rIns="0" bIns="0" rtlCol="0" anchor="ctr"/>
          <a:lstStyle/>
          <a:p>
            <a:pPr indent="0" marL="0">
              <a:buNone/>
            </a:pPr>
            <a:r>
              <a:rPr lang="en-US" sz="1350" i="1" dirty="0">
                <a:solidFill>
                  <a:srgbClr val="6B6153"/>
                </a:solidFill>
                <a:latin typeface="Calibri" pitchFamily="34" charset="0"/>
                <a:ea typeface="Calibri" pitchFamily="34" charset="-122"/>
                <a:cs typeface="Calibri" pitchFamily="34" charset="-120"/>
              </a:rPr>
              <a:t>É por isso que insônia crônica muitas vezes continua bem depois do problema que a originou ter sido resolvido — o ciclo aprendeu a se sustentar sozinho.</a:t>
            </a:r>
            <a:endParaRPr lang="en-US" sz="1350" dirty="0"/>
          </a:p>
        </p:txBody>
      </p:sp>
      <p:sp>
        <p:nvSpPr>
          <p:cNvPr id="20" name="Text 18"/>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21" name="Text 1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3 mecanismos centrais</a:t>
            </a:r>
            <a:endParaRPr lang="en-US" sz="2800" dirty="0"/>
          </a:p>
        </p:txBody>
      </p:sp>
      <p:sp>
        <p:nvSpPr>
          <p:cNvPr id="4" name="Shape 2"/>
          <p:cNvSpPr/>
          <p:nvPr/>
        </p:nvSpPr>
        <p:spPr>
          <a:xfrm>
            <a:off x="2116836" y="1920240"/>
            <a:ext cx="822960" cy="822960"/>
          </a:xfrm>
          <a:prstGeom prst="ellipse">
            <a:avLst/>
          </a:prstGeom>
          <a:solidFill>
            <a:srgbClr val="C1652F"/>
          </a:solidFill>
          <a:ln/>
        </p:spPr>
      </p:sp>
      <p:sp>
        <p:nvSpPr>
          <p:cNvPr id="5" name="Text 3"/>
          <p:cNvSpPr/>
          <p:nvPr/>
        </p:nvSpPr>
        <p:spPr>
          <a:xfrm>
            <a:off x="92811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Hiperativação cognitiva</a:t>
            </a:r>
            <a:endParaRPr lang="en-US" sz="2000" dirty="0"/>
          </a:p>
        </p:txBody>
      </p:sp>
      <p:sp>
        <p:nvSpPr>
          <p:cNvPr id="6" name="Text 4"/>
          <p:cNvSpPr/>
          <p:nvPr/>
        </p:nvSpPr>
        <p:spPr>
          <a:xfrm>
            <a:off x="111099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Mente acelerada e ruminação ao se aproximar da hora de dormir</a:t>
            </a:r>
            <a:endParaRPr lang="en-US" sz="1300" dirty="0"/>
          </a:p>
        </p:txBody>
      </p:sp>
      <p:sp>
        <p:nvSpPr>
          <p:cNvPr id="7" name="Shape 5"/>
          <p:cNvSpPr/>
          <p:nvPr/>
        </p:nvSpPr>
        <p:spPr>
          <a:xfrm>
            <a:off x="5682996" y="1920240"/>
            <a:ext cx="822960" cy="822960"/>
          </a:xfrm>
          <a:prstGeom prst="ellipse">
            <a:avLst/>
          </a:prstGeom>
          <a:solidFill>
            <a:srgbClr val="12283D"/>
          </a:solidFill>
          <a:ln/>
        </p:spPr>
      </p:sp>
      <p:sp>
        <p:nvSpPr>
          <p:cNvPr id="8" name="Text 6"/>
          <p:cNvSpPr/>
          <p:nvPr/>
        </p:nvSpPr>
        <p:spPr>
          <a:xfrm>
            <a:off x="449427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Condicionamento cama-vigília</a:t>
            </a:r>
            <a:endParaRPr lang="en-US" sz="2000" dirty="0"/>
          </a:p>
        </p:txBody>
      </p:sp>
      <p:sp>
        <p:nvSpPr>
          <p:cNvPr id="9" name="Text 7"/>
          <p:cNvSpPr/>
          <p:nvPr/>
        </p:nvSpPr>
        <p:spPr>
          <a:xfrm>
            <a:off x="467715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A cama deixa de sinalizar sono e passa a sinalizar frustração</a:t>
            </a:r>
            <a:endParaRPr lang="en-US" sz="1300" dirty="0"/>
          </a:p>
        </p:txBody>
      </p:sp>
      <p:sp>
        <p:nvSpPr>
          <p:cNvPr id="10" name="Shape 8"/>
          <p:cNvSpPr/>
          <p:nvPr/>
        </p:nvSpPr>
        <p:spPr>
          <a:xfrm>
            <a:off x="9249156" y="1920240"/>
            <a:ext cx="822960" cy="822960"/>
          </a:xfrm>
          <a:prstGeom prst="ellipse">
            <a:avLst/>
          </a:prstGeom>
          <a:solidFill>
            <a:srgbClr val="63768A"/>
          </a:solidFill>
          <a:ln/>
        </p:spPr>
      </p:sp>
      <p:sp>
        <p:nvSpPr>
          <p:cNvPr id="11" name="Text 9"/>
          <p:cNvSpPr/>
          <p:nvPr/>
        </p:nvSpPr>
        <p:spPr>
          <a:xfrm>
            <a:off x="806043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Comportamentos compensatórios</a:t>
            </a:r>
            <a:endParaRPr lang="en-US" sz="2000" dirty="0"/>
          </a:p>
        </p:txBody>
      </p:sp>
      <p:sp>
        <p:nvSpPr>
          <p:cNvPr id="12" name="Text 10"/>
          <p:cNvSpPr/>
          <p:nvPr/>
        </p:nvSpPr>
        <p:spPr>
          <a:xfrm>
            <a:off x="824331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Cochilos e tempo excessivo na cama, que perpetuam o problema</a:t>
            </a:r>
            <a:endParaRPr lang="en-US" sz="1300" dirty="0"/>
          </a:p>
        </p:txBody>
      </p:sp>
      <p:sp>
        <p:nvSpPr>
          <p:cNvPr id="13" name="Text 11"/>
          <p:cNvSpPr/>
          <p:nvPr/>
        </p:nvSpPr>
        <p:spPr>
          <a:xfrm>
            <a:off x="822960" y="5212080"/>
            <a:ext cx="9601200" cy="548640"/>
          </a:xfrm>
          <a:prstGeom prst="rect">
            <a:avLst/>
          </a:prstGeom>
          <a:noFill/>
          <a:ln/>
        </p:spPr>
        <p:txBody>
          <a:bodyPr wrap="square" lIns="0" tIns="0" rIns="0" bIns="0" rtlCol="0" anchor="ctr"/>
          <a:lstStyle/>
          <a:p>
            <a:pPr algn="ctr" indent="0" marL="0">
              <a:buNone/>
            </a:pPr>
            <a:r>
              <a:rPr lang="en-US" sz="1300" i="1" dirty="0">
                <a:solidFill>
                  <a:srgbClr val="6B6153"/>
                </a:solidFill>
                <a:latin typeface="Calibri" pitchFamily="34" charset="0"/>
                <a:ea typeface="Calibri" pitchFamily="34" charset="-122"/>
                <a:cs typeface="Calibri" pitchFamily="34" charset="-120"/>
              </a:rPr>
              <a:t>Os comportamentos compensatórios parecem lógicos ("preciso recuperar o sono perdido"), mas são justamente o que mantém o ciclo ativo.</a:t>
            </a:r>
            <a:endParaRPr lang="en-US" sz="130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15"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2 · SINAIS DE ALERTA</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Como reconhecer o padrão na prática</a:t>
            </a:r>
            <a:endParaRPr lang="en-US" sz="2800" dirty="0"/>
          </a:p>
        </p:txBody>
      </p:sp>
      <p:sp>
        <p:nvSpPr>
          <p:cNvPr id="4" name="Shape 2"/>
          <p:cNvSpPr/>
          <p:nvPr/>
        </p:nvSpPr>
        <p:spPr>
          <a:xfrm>
            <a:off x="822960" y="1929384"/>
            <a:ext cx="201168" cy="201168"/>
          </a:xfrm>
          <a:prstGeom prst="ellipse">
            <a:avLst/>
          </a:prstGeom>
          <a:solidFill>
            <a:srgbClr val="C1652F"/>
          </a:solidFill>
          <a:ln/>
        </p:spPr>
      </p:sp>
      <p:sp>
        <p:nvSpPr>
          <p:cNvPr id="5" name="Text 3"/>
          <p:cNvSpPr/>
          <p:nvPr/>
        </p:nvSpPr>
        <p:spPr>
          <a:xfrm>
            <a:off x="1188720" y="187452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Cognitivo</a:t>
            </a:r>
            <a:endParaRPr lang="en-US" sz="1500" dirty="0"/>
          </a:p>
        </p:txBody>
      </p:sp>
      <p:sp>
        <p:nvSpPr>
          <p:cNvPr id="6" name="Text 4"/>
          <p:cNvSpPr/>
          <p:nvPr/>
        </p:nvSpPr>
        <p:spPr>
          <a:xfrm>
            <a:off x="3657600" y="187452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Ansiedade antecipatória sobre não conseguir dormir, catastrofização das consequências</a:t>
            </a:r>
            <a:endParaRPr lang="en-US" sz="1350" dirty="0"/>
          </a:p>
        </p:txBody>
      </p:sp>
      <p:sp>
        <p:nvSpPr>
          <p:cNvPr id="7" name="Shape 5"/>
          <p:cNvSpPr/>
          <p:nvPr/>
        </p:nvSpPr>
        <p:spPr>
          <a:xfrm>
            <a:off x="822960" y="2798064"/>
            <a:ext cx="201168" cy="201168"/>
          </a:xfrm>
          <a:prstGeom prst="ellipse">
            <a:avLst/>
          </a:prstGeom>
          <a:solidFill>
            <a:srgbClr val="C1652F"/>
          </a:solidFill>
          <a:ln/>
        </p:spPr>
      </p:sp>
      <p:sp>
        <p:nvSpPr>
          <p:cNvPr id="8" name="Text 6"/>
          <p:cNvSpPr/>
          <p:nvPr/>
        </p:nvSpPr>
        <p:spPr>
          <a:xfrm>
            <a:off x="1188720" y="274320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Comportamental</a:t>
            </a:r>
            <a:endParaRPr lang="en-US" sz="1500" dirty="0"/>
          </a:p>
        </p:txBody>
      </p:sp>
      <p:sp>
        <p:nvSpPr>
          <p:cNvPr id="9" name="Text 7"/>
          <p:cNvSpPr/>
          <p:nvPr/>
        </p:nvSpPr>
        <p:spPr>
          <a:xfrm>
            <a:off x="3657600" y="274320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Tempo excessivo na cama tentando forçar o sono, cochilos diurnos compensatórios</a:t>
            </a:r>
            <a:endParaRPr lang="en-US" sz="1350" dirty="0"/>
          </a:p>
        </p:txBody>
      </p:sp>
      <p:sp>
        <p:nvSpPr>
          <p:cNvPr id="10" name="Shape 8"/>
          <p:cNvSpPr/>
          <p:nvPr/>
        </p:nvSpPr>
        <p:spPr>
          <a:xfrm>
            <a:off x="822960" y="3666744"/>
            <a:ext cx="201168" cy="201168"/>
          </a:xfrm>
          <a:prstGeom prst="ellipse">
            <a:avLst/>
          </a:prstGeom>
          <a:solidFill>
            <a:srgbClr val="C1652F"/>
          </a:solidFill>
          <a:ln/>
        </p:spPr>
      </p:sp>
      <p:sp>
        <p:nvSpPr>
          <p:cNvPr id="11" name="Text 9"/>
          <p:cNvSpPr/>
          <p:nvPr/>
        </p:nvSpPr>
        <p:spPr>
          <a:xfrm>
            <a:off x="1188720" y="361188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Funcional</a:t>
            </a:r>
            <a:endParaRPr lang="en-US" sz="1500" dirty="0"/>
          </a:p>
        </p:txBody>
      </p:sp>
      <p:sp>
        <p:nvSpPr>
          <p:cNvPr id="12" name="Text 10"/>
          <p:cNvSpPr/>
          <p:nvPr/>
        </p:nvSpPr>
        <p:spPr>
          <a:xfrm>
            <a:off x="3657600" y="361188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Fadiga diurna, irritabilidade, prejuízo cognitivo no dia seguinte</a:t>
            </a:r>
            <a:endParaRPr lang="en-US" sz="1350" dirty="0"/>
          </a:p>
        </p:txBody>
      </p:sp>
      <p:sp>
        <p:nvSpPr>
          <p:cNvPr id="13" name="Shape 11"/>
          <p:cNvSpPr/>
          <p:nvPr/>
        </p:nvSpPr>
        <p:spPr>
          <a:xfrm>
            <a:off x="822960" y="4535424"/>
            <a:ext cx="201168" cy="201168"/>
          </a:xfrm>
          <a:prstGeom prst="ellipse">
            <a:avLst/>
          </a:prstGeom>
          <a:solidFill>
            <a:srgbClr val="C1652F"/>
          </a:solidFill>
          <a:ln/>
        </p:spPr>
      </p:sp>
      <p:sp>
        <p:nvSpPr>
          <p:cNvPr id="14" name="Text 12"/>
          <p:cNvSpPr/>
          <p:nvPr/>
        </p:nvSpPr>
        <p:spPr>
          <a:xfrm>
            <a:off x="1188720" y="448056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Físico</a:t>
            </a:r>
            <a:endParaRPr lang="en-US" sz="1500" dirty="0"/>
          </a:p>
        </p:txBody>
      </p:sp>
      <p:sp>
        <p:nvSpPr>
          <p:cNvPr id="15" name="Text 13"/>
          <p:cNvSpPr/>
          <p:nvPr/>
        </p:nvSpPr>
        <p:spPr>
          <a:xfrm>
            <a:off x="3657600" y="448056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Tensão muscular e hiperativação do sistema nervoso simpático ao anoitecer</a:t>
            </a:r>
            <a:endParaRPr lang="en-US" sz="135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2 · SINAIS DE ALERTA</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Diagnóstico diferencial rápido</a:t>
            </a:r>
            <a:endParaRPr lang="en-US" sz="2800" dirty="0"/>
          </a:p>
        </p:txBody>
      </p:sp>
      <p:sp>
        <p:nvSpPr>
          <p:cNvPr id="4" name="Shape 2"/>
          <p:cNvSpPr/>
          <p:nvPr/>
        </p:nvSpPr>
        <p:spPr>
          <a:xfrm>
            <a:off x="822960"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822960" y="1920240"/>
            <a:ext cx="3240024" cy="640080"/>
          </a:xfrm>
          <a:prstGeom prst="rect">
            <a:avLst/>
          </a:prstGeom>
          <a:solidFill>
            <a:srgbClr val="12283D"/>
          </a:solidFill>
          <a:ln/>
        </p:spPr>
      </p:sp>
      <p:sp>
        <p:nvSpPr>
          <p:cNvPr id="6" name="Text 4"/>
          <p:cNvSpPr/>
          <p:nvPr/>
        </p:nvSpPr>
        <p:spPr>
          <a:xfrm>
            <a:off x="822960"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Insônia secundária</a:t>
            </a:r>
            <a:endParaRPr lang="en-US" sz="1500" dirty="0"/>
          </a:p>
        </p:txBody>
      </p:sp>
      <p:sp>
        <p:nvSpPr>
          <p:cNvPr id="7" name="Text 5"/>
          <p:cNvSpPr/>
          <p:nvPr/>
        </p:nvSpPr>
        <p:spPr>
          <a:xfrm>
            <a:off x="1051560"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A ansiedade generalizada ou depressão de base deve ser tratada em conjunto, não só a insônia isolada</a:t>
            </a:r>
            <a:endParaRPr lang="en-US" sz="1250" dirty="0"/>
          </a:p>
        </p:txBody>
      </p:sp>
      <p:sp>
        <p:nvSpPr>
          <p:cNvPr id="8" name="Shape 6"/>
          <p:cNvSpPr/>
          <p:nvPr/>
        </p:nvSpPr>
        <p:spPr>
          <a:xfrm>
            <a:off x="4474464"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9" name="Shape 7"/>
          <p:cNvSpPr/>
          <p:nvPr/>
        </p:nvSpPr>
        <p:spPr>
          <a:xfrm>
            <a:off x="4474464" y="1920240"/>
            <a:ext cx="3240024" cy="640080"/>
          </a:xfrm>
          <a:prstGeom prst="rect">
            <a:avLst/>
          </a:prstGeom>
          <a:solidFill>
            <a:srgbClr val="12283D"/>
          </a:solidFill>
          <a:ln/>
        </p:spPr>
      </p:sp>
      <p:sp>
        <p:nvSpPr>
          <p:cNvPr id="10" name="Text 8"/>
          <p:cNvSpPr/>
          <p:nvPr/>
        </p:nvSpPr>
        <p:spPr>
          <a:xfrm>
            <a:off x="4474464"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Apneia do sono</a:t>
            </a:r>
            <a:endParaRPr lang="en-US" sz="1500" dirty="0"/>
          </a:p>
        </p:txBody>
      </p:sp>
      <p:sp>
        <p:nvSpPr>
          <p:cNvPr id="11" name="Text 9"/>
          <p:cNvSpPr/>
          <p:nvPr/>
        </p:nvSpPr>
        <p:spPr>
          <a:xfrm>
            <a:off x="4703064"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Ronco, pausas respiratórias e sonolência diurna mesmo com tempo de sono adequado exigem triagem antes da CBT-I</a:t>
            </a:r>
            <a:endParaRPr lang="en-US" sz="1250" dirty="0"/>
          </a:p>
        </p:txBody>
      </p:sp>
      <p:sp>
        <p:nvSpPr>
          <p:cNvPr id="12" name="Shape 10"/>
          <p:cNvSpPr/>
          <p:nvPr/>
        </p:nvSpPr>
        <p:spPr>
          <a:xfrm>
            <a:off x="8125968"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13" name="Shape 11"/>
          <p:cNvSpPr/>
          <p:nvPr/>
        </p:nvSpPr>
        <p:spPr>
          <a:xfrm>
            <a:off x="8125968" y="1920240"/>
            <a:ext cx="3240024" cy="640080"/>
          </a:xfrm>
          <a:prstGeom prst="rect">
            <a:avLst/>
          </a:prstGeom>
          <a:solidFill>
            <a:srgbClr val="12283D"/>
          </a:solidFill>
          <a:ln/>
        </p:spPr>
      </p:sp>
      <p:sp>
        <p:nvSpPr>
          <p:cNvPr id="14" name="Text 12"/>
          <p:cNvSpPr/>
          <p:nvPr/>
        </p:nvSpPr>
        <p:spPr>
          <a:xfrm>
            <a:off x="8125968"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Transtorno Bipolar (Módulo 4.20)</a:t>
            </a:r>
            <a:endParaRPr lang="en-US" sz="1500" dirty="0"/>
          </a:p>
        </p:txBody>
      </p:sp>
      <p:sp>
        <p:nvSpPr>
          <p:cNvPr id="15" name="Text 13"/>
          <p:cNvSpPr/>
          <p:nvPr/>
        </p:nvSpPr>
        <p:spPr>
          <a:xfrm>
            <a:off x="8354568"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Redução da necessidade de sono em mania é diferente de insônia com desejo de dormir e incapacidade</a:t>
            </a:r>
            <a:endParaRPr lang="en-US" sz="125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3 · INSTRUMENTO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Instrumentos e triagem antes de começar</a:t>
            </a:r>
            <a:endParaRPr lang="en-US" sz="2800" dirty="0"/>
          </a:p>
        </p:txBody>
      </p:sp>
      <p:sp>
        <p:nvSpPr>
          <p:cNvPr id="4" name="Shape 2"/>
          <p:cNvSpPr/>
          <p:nvPr/>
        </p:nvSpPr>
        <p:spPr>
          <a:xfrm>
            <a:off x="822960"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1051560"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ISI</a:t>
            </a:r>
            <a:endParaRPr lang="en-US" sz="2200" dirty="0"/>
          </a:p>
        </p:txBody>
      </p:sp>
      <p:sp>
        <p:nvSpPr>
          <p:cNvPr id="6" name="Text 4"/>
          <p:cNvSpPr/>
          <p:nvPr/>
        </p:nvSpPr>
        <p:spPr>
          <a:xfrm>
            <a:off x="1051560"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Insomnia Severity Index</a:t>
            </a:r>
            <a:endParaRPr lang="en-US" sz="1100" dirty="0"/>
          </a:p>
        </p:txBody>
      </p:sp>
      <p:sp>
        <p:nvSpPr>
          <p:cNvPr id="7" name="Text 5"/>
          <p:cNvSpPr/>
          <p:nvPr/>
        </p:nvSpPr>
        <p:spPr>
          <a:xfrm>
            <a:off x="1051560"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Mede gravidade e impacto funcional da insônia.</a:t>
            </a:r>
            <a:endParaRPr lang="en-US" sz="1200" dirty="0"/>
          </a:p>
        </p:txBody>
      </p:sp>
      <p:sp>
        <p:nvSpPr>
          <p:cNvPr id="8" name="Shape 6"/>
          <p:cNvSpPr/>
          <p:nvPr/>
        </p:nvSpPr>
        <p:spPr>
          <a:xfrm>
            <a:off x="4474464"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4703064"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Diário do sono</a:t>
            </a:r>
            <a:endParaRPr lang="en-US" sz="2200" dirty="0"/>
          </a:p>
        </p:txBody>
      </p:sp>
      <p:sp>
        <p:nvSpPr>
          <p:cNvPr id="10" name="Text 8"/>
          <p:cNvSpPr/>
          <p:nvPr/>
        </p:nvSpPr>
        <p:spPr>
          <a:xfrm>
            <a:off x="4703064"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Registro diário, 1-2 semanas</a:t>
            </a:r>
            <a:endParaRPr lang="en-US" sz="1100" dirty="0"/>
          </a:p>
        </p:txBody>
      </p:sp>
      <p:sp>
        <p:nvSpPr>
          <p:cNvPr id="11" name="Text 9"/>
          <p:cNvSpPr/>
          <p:nvPr/>
        </p:nvSpPr>
        <p:spPr>
          <a:xfrm>
            <a:off x="4703064"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Linha de base objetiva antes de iniciar o protocolo.</a:t>
            </a:r>
            <a:endParaRPr lang="en-US" sz="1200" dirty="0"/>
          </a:p>
        </p:txBody>
      </p:sp>
      <p:sp>
        <p:nvSpPr>
          <p:cNvPr id="12" name="Shape 10"/>
          <p:cNvSpPr/>
          <p:nvPr/>
        </p:nvSpPr>
        <p:spPr>
          <a:xfrm>
            <a:off x="8125968"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8354568"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Triagem de apneia</a:t>
            </a:r>
            <a:endParaRPr lang="en-US" sz="2200" dirty="0"/>
          </a:p>
        </p:txBody>
      </p:sp>
      <p:sp>
        <p:nvSpPr>
          <p:cNvPr id="14" name="Text 12"/>
          <p:cNvSpPr/>
          <p:nvPr/>
        </p:nvSpPr>
        <p:spPr>
          <a:xfrm>
            <a:off x="8354568"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Perguntas de rastreio (ronco, pausas respiratórias)</a:t>
            </a:r>
            <a:endParaRPr lang="en-US" sz="1100" dirty="0"/>
          </a:p>
        </p:txBody>
      </p:sp>
      <p:sp>
        <p:nvSpPr>
          <p:cNvPr id="15" name="Text 13"/>
          <p:cNvSpPr/>
          <p:nvPr/>
        </p:nvSpPr>
        <p:spPr>
          <a:xfrm>
            <a:off x="8354568"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Descarta apneia do sono antes de assumir insônia primária.</a:t>
            </a:r>
            <a:endParaRPr lang="en-US" sz="12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Do mecanismo ao protocolo: 4 passos da CBT-I</a:t>
            </a:r>
            <a:endParaRPr lang="en-US" sz="2800" dirty="0"/>
          </a:p>
        </p:txBody>
      </p:sp>
      <p:sp>
        <p:nvSpPr>
          <p:cNvPr id="4" name="Shape 2"/>
          <p:cNvSpPr/>
          <p:nvPr/>
        </p:nvSpPr>
        <p:spPr>
          <a:xfrm>
            <a:off x="1723644" y="2286000"/>
            <a:ext cx="731520" cy="731520"/>
          </a:xfrm>
          <a:prstGeom prst="ellipse">
            <a:avLst/>
          </a:prstGeom>
          <a:solidFill>
            <a:srgbClr val="C1652F"/>
          </a:solidFill>
          <a:ln/>
        </p:spPr>
      </p:sp>
      <p:sp>
        <p:nvSpPr>
          <p:cNvPr id="5" name="Text 3"/>
          <p:cNvSpPr/>
          <p:nvPr/>
        </p:nvSpPr>
        <p:spPr>
          <a:xfrm>
            <a:off x="1723644"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914400"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Restrição</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de sono</a:t>
            </a:r>
            <a:endParaRPr lang="en-US" sz="1400" dirty="0"/>
          </a:p>
        </p:txBody>
      </p:sp>
      <p:sp>
        <p:nvSpPr>
          <p:cNvPr id="7" name="Text 5"/>
          <p:cNvSpPr/>
          <p:nvPr/>
        </p:nvSpPr>
        <p:spPr>
          <a:xfrm>
            <a:off x="1051560"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Reduzir o tempo na cama pra aumentar a pressão e eficiência do sono</a:t>
            </a:r>
            <a:endParaRPr lang="en-US" sz="1100" dirty="0"/>
          </a:p>
        </p:txBody>
      </p:sp>
      <p:sp>
        <p:nvSpPr>
          <p:cNvPr id="8" name="Text 6"/>
          <p:cNvSpPr/>
          <p:nvPr/>
        </p:nvSpPr>
        <p:spPr>
          <a:xfrm>
            <a:off x="3264408"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393692" y="2286000"/>
            <a:ext cx="731520" cy="731520"/>
          </a:xfrm>
          <a:prstGeom prst="ellipse">
            <a:avLst/>
          </a:prstGeom>
          <a:solidFill>
            <a:srgbClr val="C1652F"/>
          </a:solidFill>
          <a:ln/>
        </p:spPr>
      </p:sp>
      <p:sp>
        <p:nvSpPr>
          <p:cNvPr id="10" name="Text 8"/>
          <p:cNvSpPr/>
          <p:nvPr/>
        </p:nvSpPr>
        <p:spPr>
          <a:xfrm>
            <a:off x="4393692"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3584448"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Controle de</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estímulos</a:t>
            </a:r>
            <a:endParaRPr lang="en-US" sz="1400" dirty="0"/>
          </a:p>
        </p:txBody>
      </p:sp>
      <p:sp>
        <p:nvSpPr>
          <p:cNvPr id="12" name="Text 10"/>
          <p:cNvSpPr/>
          <p:nvPr/>
        </p:nvSpPr>
        <p:spPr>
          <a:xfrm>
            <a:off x="3721608"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Recondicionar a cama como sinal de sono, não de vigília</a:t>
            </a:r>
            <a:endParaRPr lang="en-US" sz="1100" dirty="0"/>
          </a:p>
        </p:txBody>
      </p:sp>
      <p:sp>
        <p:nvSpPr>
          <p:cNvPr id="13" name="Text 11"/>
          <p:cNvSpPr/>
          <p:nvPr/>
        </p:nvSpPr>
        <p:spPr>
          <a:xfrm>
            <a:off x="5934456"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7063740" y="2286000"/>
            <a:ext cx="731520" cy="731520"/>
          </a:xfrm>
          <a:prstGeom prst="ellipse">
            <a:avLst/>
          </a:prstGeom>
          <a:solidFill>
            <a:srgbClr val="C1652F"/>
          </a:solidFill>
          <a:ln/>
        </p:spPr>
      </p:sp>
      <p:sp>
        <p:nvSpPr>
          <p:cNvPr id="15" name="Text 13"/>
          <p:cNvSpPr/>
          <p:nvPr/>
        </p:nvSpPr>
        <p:spPr>
          <a:xfrm>
            <a:off x="7063740"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p:nvPr/>
        </p:nvSpPr>
        <p:spPr>
          <a:xfrm>
            <a:off x="6254496"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Higiene do</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sono e ritmo</a:t>
            </a:r>
            <a:endParaRPr lang="en-US" sz="1400" dirty="0"/>
          </a:p>
        </p:txBody>
      </p:sp>
      <p:sp>
        <p:nvSpPr>
          <p:cNvPr id="17" name="Text 15"/>
          <p:cNvSpPr/>
          <p:nvPr/>
        </p:nvSpPr>
        <p:spPr>
          <a:xfrm>
            <a:off x="6391656"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Horários consistentes, exposição à luz, regulação de cafeína</a:t>
            </a:r>
            <a:endParaRPr lang="en-US" sz="1100" dirty="0"/>
          </a:p>
        </p:txBody>
      </p:sp>
      <p:sp>
        <p:nvSpPr>
          <p:cNvPr id="18" name="Text 16"/>
          <p:cNvSpPr/>
          <p:nvPr/>
        </p:nvSpPr>
        <p:spPr>
          <a:xfrm>
            <a:off x="8604504"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9733788" y="2286000"/>
            <a:ext cx="731520" cy="731520"/>
          </a:xfrm>
          <a:prstGeom prst="ellipse">
            <a:avLst/>
          </a:prstGeom>
          <a:solidFill>
            <a:srgbClr val="C1652F"/>
          </a:solidFill>
          <a:ln/>
        </p:spPr>
      </p:sp>
      <p:sp>
        <p:nvSpPr>
          <p:cNvPr id="20" name="Text 18"/>
          <p:cNvSpPr/>
          <p:nvPr/>
        </p:nvSpPr>
        <p:spPr>
          <a:xfrm>
            <a:off x="9733788"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Text 19"/>
          <p:cNvSpPr/>
          <p:nvPr/>
        </p:nvSpPr>
        <p:spPr>
          <a:xfrm>
            <a:off x="8924544"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Reestruturação</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cognitiva</a:t>
            </a:r>
            <a:endParaRPr lang="en-US" sz="1400" dirty="0"/>
          </a:p>
        </p:txBody>
      </p:sp>
      <p:sp>
        <p:nvSpPr>
          <p:cNvPr id="22" name="Text 20"/>
          <p:cNvSpPr/>
          <p:nvPr/>
        </p:nvSpPr>
        <p:spPr>
          <a:xfrm>
            <a:off x="9061704"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Questionar crenças catastróficas sobre as consequências de dormir mal</a:t>
            </a:r>
            <a:endParaRPr lang="en-US" sz="1100" dirty="0"/>
          </a:p>
        </p:txBody>
      </p:sp>
      <p:sp>
        <p:nvSpPr>
          <p:cNvPr id="23" name="Text 21"/>
          <p:cNvSpPr/>
          <p:nvPr/>
        </p:nvSpPr>
        <p:spPr>
          <a:xfrm>
            <a:off x="822960" y="5349240"/>
            <a:ext cx="9601200" cy="457200"/>
          </a:xfrm>
          <a:prstGeom prst="rect">
            <a:avLst/>
          </a:prstGeom>
          <a:noFill/>
          <a:ln/>
        </p:spPr>
        <p:txBody>
          <a:bodyPr wrap="square" lIns="0" tIns="0" rIns="0" bIns="0" rtlCol="0" anchor="ctr"/>
          <a:lstStyle/>
          <a:p>
            <a:pPr algn="ctr" indent="0" marL="0">
              <a:buNone/>
            </a:pPr>
            <a:r>
              <a:rPr lang="en-US" sz="1300" i="1" dirty="0">
                <a:solidFill>
                  <a:srgbClr val="6B6153"/>
                </a:solidFill>
                <a:latin typeface="Calibri" pitchFamily="34" charset="0"/>
                <a:ea typeface="Calibri" pitchFamily="34" charset="-122"/>
                <a:cs typeface="Calibri" pitchFamily="34" charset="-120"/>
              </a:rPr>
              <a:t>O passo mais contraintuitivo — restrição de sono — costuma ser também o mais eficaz, mesmo parecendo piorar as coisas nos primeiros dias.</a:t>
            </a:r>
            <a:endParaRPr lang="en-US" sz="1300" dirty="0"/>
          </a:p>
        </p:txBody>
      </p:sp>
      <p:sp>
        <p:nvSpPr>
          <p:cNvPr id="24" name="Text 2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25" name="Text 2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Passos 1 e 2, na prática</a:t>
            </a:r>
            <a:endParaRPr lang="en-US" sz="2800" dirty="0"/>
          </a:p>
        </p:txBody>
      </p:sp>
      <p:sp>
        <p:nvSpPr>
          <p:cNvPr id="4" name="Shape 2"/>
          <p:cNvSpPr/>
          <p:nvPr/>
        </p:nvSpPr>
        <p:spPr>
          <a:xfrm>
            <a:off x="82296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057400"/>
            <a:ext cx="457200" cy="457200"/>
          </a:xfrm>
          <a:prstGeom prst="ellipse">
            <a:avLst/>
          </a:prstGeom>
          <a:solidFill>
            <a:srgbClr val="C1652F"/>
          </a:solidFill>
          <a:ln/>
        </p:spPr>
      </p:sp>
      <p:sp>
        <p:nvSpPr>
          <p:cNvPr id="6" name="Text 4"/>
          <p:cNvSpPr/>
          <p:nvPr/>
        </p:nvSpPr>
        <p:spPr>
          <a:xfrm>
            <a:off x="105156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64592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Restrição de sono</a:t>
            </a:r>
            <a:endParaRPr lang="en-US" sz="1600" dirty="0"/>
          </a:p>
        </p:txBody>
      </p:sp>
      <p:sp>
        <p:nvSpPr>
          <p:cNvPr id="8" name="Text 6"/>
          <p:cNvSpPr/>
          <p:nvPr/>
        </p:nvSpPr>
        <p:spPr>
          <a:xfrm>
            <a:off x="1051560" y="2697480"/>
            <a:ext cx="4663440" cy="1188720"/>
          </a:xfrm>
          <a:prstGeom prst="rect">
            <a:avLst/>
          </a:prstGeom>
          <a:noFill/>
          <a:ln/>
        </p:spPr>
        <p:txBody>
          <a:bodyPr wrap="square" lIns="0" tIns="0" rIns="0" bIns="0" rtlCol="0" anchor="ctr"/>
          <a:lstStyle/>
          <a:p>
            <a:pPr indent="0" marL="0">
              <a:buNone/>
            </a:pPr>
            <a:r>
              <a:rPr lang="en-US" sz="1300" i="1" dirty="0">
                <a:solidFill>
                  <a:srgbClr val="6B6153"/>
                </a:solidFill>
                <a:latin typeface="Calibri" pitchFamily="34" charset="0"/>
                <a:ea typeface="Calibri" pitchFamily="34" charset="-122"/>
                <a:cs typeface="Calibri" pitchFamily="34" charset="-120"/>
              </a:rPr>
              <a:t>“Vamos reduzir o tempo que você passa na cama por algumas semanas — isso vai parecer contraintuitivo, mas é o que reconstrói a eficiência do seu sono.”</a:t>
            </a:r>
            <a:endParaRPr lang="en-US" sz="1300" dirty="0"/>
          </a:p>
        </p:txBody>
      </p:sp>
      <p:sp>
        <p:nvSpPr>
          <p:cNvPr id="9" name="Text 7"/>
          <p:cNvSpPr/>
          <p:nvPr/>
        </p:nvSpPr>
        <p:spPr>
          <a:xfrm>
            <a:off x="1051560" y="402336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Calcule o tempo de restrição com base no diário de sono, nunca abaixo de um mínimo seguro</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Ajuste progressivamente conforme a eficiência do sono melhora</a:t>
            </a:r>
            <a:endParaRPr lang="en-US" sz="1250" dirty="0"/>
          </a:p>
        </p:txBody>
      </p:sp>
      <p:sp>
        <p:nvSpPr>
          <p:cNvPr id="10" name="Shape 8"/>
          <p:cNvSpPr/>
          <p:nvPr/>
        </p:nvSpPr>
        <p:spPr>
          <a:xfrm>
            <a:off x="626364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6492240" y="2057400"/>
            <a:ext cx="457200" cy="457200"/>
          </a:xfrm>
          <a:prstGeom prst="ellipse">
            <a:avLst/>
          </a:prstGeom>
          <a:solidFill>
            <a:srgbClr val="C1652F"/>
          </a:solidFill>
          <a:ln/>
        </p:spPr>
      </p:sp>
      <p:sp>
        <p:nvSpPr>
          <p:cNvPr id="12" name="Text 10"/>
          <p:cNvSpPr/>
          <p:nvPr/>
        </p:nvSpPr>
        <p:spPr>
          <a:xfrm>
            <a:off x="649224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708660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Controle de estímulos</a:t>
            </a:r>
            <a:endParaRPr lang="en-US" sz="1600" dirty="0"/>
          </a:p>
        </p:txBody>
      </p:sp>
      <p:sp>
        <p:nvSpPr>
          <p:cNvPr id="14" name="Text 12"/>
          <p:cNvSpPr/>
          <p:nvPr/>
        </p:nvSpPr>
        <p:spPr>
          <a:xfrm>
            <a:off x="649224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Só deitar na cama quando sentir sono real, não apenas cansaço</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Se não dormir em cerca de 20 minutos, sair da cama e voltar só quando sentir sono novamente</a:t>
            </a:r>
            <a:endParaRPr lang="en-US" sz="1250" dirty="0"/>
          </a:p>
        </p:txBody>
      </p:sp>
      <p:sp>
        <p:nvSpPr>
          <p:cNvPr id="15"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16"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Passos 3 e 4, na prática</a:t>
            </a:r>
            <a:endParaRPr lang="en-US" sz="2800" dirty="0"/>
          </a:p>
        </p:txBody>
      </p:sp>
      <p:sp>
        <p:nvSpPr>
          <p:cNvPr id="4" name="Shape 2"/>
          <p:cNvSpPr/>
          <p:nvPr/>
        </p:nvSpPr>
        <p:spPr>
          <a:xfrm>
            <a:off x="82296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057400"/>
            <a:ext cx="457200" cy="457200"/>
          </a:xfrm>
          <a:prstGeom prst="ellipse">
            <a:avLst/>
          </a:prstGeom>
          <a:solidFill>
            <a:srgbClr val="C1652F"/>
          </a:solidFill>
          <a:ln/>
        </p:spPr>
      </p:sp>
      <p:sp>
        <p:nvSpPr>
          <p:cNvPr id="6" name="Text 4"/>
          <p:cNvSpPr/>
          <p:nvPr/>
        </p:nvSpPr>
        <p:spPr>
          <a:xfrm>
            <a:off x="105156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7" name="Text 5"/>
          <p:cNvSpPr/>
          <p:nvPr/>
        </p:nvSpPr>
        <p:spPr>
          <a:xfrm>
            <a:off x="164592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Higiene do sono e ritmo circadiano</a:t>
            </a:r>
            <a:endParaRPr lang="en-US" sz="1600" dirty="0"/>
          </a:p>
        </p:txBody>
      </p:sp>
      <p:sp>
        <p:nvSpPr>
          <p:cNvPr id="8" name="Text 6"/>
          <p:cNvSpPr/>
          <p:nvPr/>
        </p:nvSpPr>
        <p:spPr>
          <a:xfrm>
            <a:off x="105156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Mantenha horários de dormir e acordar consistentes, inclusive nos fins de semana</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Regule exposição à luz e consumo de cafeína conforme o horário do dia</a:t>
            </a:r>
            <a:endParaRPr lang="en-US" sz="1250" dirty="0"/>
          </a:p>
        </p:txBody>
      </p:sp>
      <p:sp>
        <p:nvSpPr>
          <p:cNvPr id="9" name="Shape 7"/>
          <p:cNvSpPr/>
          <p:nvPr/>
        </p:nvSpPr>
        <p:spPr>
          <a:xfrm>
            <a:off x="626364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6492240" y="2057400"/>
            <a:ext cx="457200" cy="457200"/>
          </a:xfrm>
          <a:prstGeom prst="ellipse">
            <a:avLst/>
          </a:prstGeom>
          <a:solidFill>
            <a:srgbClr val="C1652F"/>
          </a:solidFill>
          <a:ln/>
        </p:spPr>
      </p:sp>
      <p:sp>
        <p:nvSpPr>
          <p:cNvPr id="11" name="Text 9"/>
          <p:cNvSpPr/>
          <p:nvPr/>
        </p:nvSpPr>
        <p:spPr>
          <a:xfrm>
            <a:off x="649224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2" name="Text 10"/>
          <p:cNvSpPr/>
          <p:nvPr/>
        </p:nvSpPr>
        <p:spPr>
          <a:xfrm>
            <a:off x="708660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Reestruturação cognitiva</a:t>
            </a:r>
            <a:endParaRPr lang="en-US" sz="1600" dirty="0"/>
          </a:p>
        </p:txBody>
      </p:sp>
      <p:sp>
        <p:nvSpPr>
          <p:cNvPr id="13" name="Text 11"/>
          <p:cNvSpPr/>
          <p:nvPr/>
        </p:nvSpPr>
        <p:spPr>
          <a:xfrm>
            <a:off x="6492240" y="2697480"/>
            <a:ext cx="4663440" cy="1188720"/>
          </a:xfrm>
          <a:prstGeom prst="rect">
            <a:avLst/>
          </a:prstGeom>
          <a:noFill/>
          <a:ln/>
        </p:spPr>
        <p:txBody>
          <a:bodyPr wrap="square" lIns="0" tIns="0" rIns="0" bIns="0" rtlCol="0" anchor="ctr"/>
          <a:lstStyle/>
          <a:p>
            <a:pPr indent="0" marL="0">
              <a:buNone/>
            </a:pPr>
            <a:r>
              <a:rPr lang="en-US" sz="1300" i="1" dirty="0">
                <a:solidFill>
                  <a:srgbClr val="6B6153"/>
                </a:solidFill>
                <a:latin typeface="Calibri" pitchFamily="34" charset="0"/>
                <a:ea typeface="Calibri" pitchFamily="34" charset="-122"/>
                <a:cs typeface="Calibri" pitchFamily="34" charset="-120"/>
              </a:rPr>
              <a:t>“O que realmente aconteceria se você tivesse mais uma noite de sono ruim — é tão catastrófico quanto parece agora, às 3 da manhã?”</a:t>
            </a:r>
            <a:endParaRPr lang="en-US" sz="1300" dirty="0"/>
          </a:p>
        </p:txBody>
      </p:sp>
      <p:sp>
        <p:nvSpPr>
          <p:cNvPr id="14" name="Text 12"/>
          <p:cNvSpPr/>
          <p:nvPr/>
        </p:nvSpPr>
        <p:spPr>
          <a:xfrm>
            <a:off x="6492240" y="402336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Questione crenças catastróficas sobre as consequências de uma noite mal dormida</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Trabalhe a ansiedade antecipatória associada à hora de deitar</a:t>
            </a:r>
            <a:endParaRPr lang="en-US" sz="1250" dirty="0"/>
          </a:p>
        </p:txBody>
      </p:sp>
      <p:sp>
        <p:nvSpPr>
          <p:cNvPr id="15"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16"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APLICAÇÃO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Estudo de caso</a:t>
            </a:r>
            <a:endParaRPr lang="en-US" sz="2800" dirty="0"/>
          </a:p>
        </p:txBody>
      </p:sp>
      <p:sp>
        <p:nvSpPr>
          <p:cNvPr id="4" name="Shape 2"/>
          <p:cNvSpPr/>
          <p:nvPr/>
        </p:nvSpPr>
        <p:spPr>
          <a:xfrm>
            <a:off x="822960" y="1783080"/>
            <a:ext cx="10515600" cy="1828800"/>
          </a:xfrm>
          <a:prstGeom prst="roundRect">
            <a:avLst>
              <a:gd name="adj" fmla="val 4000"/>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1097280" y="1965960"/>
            <a:ext cx="9966960" cy="146304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Patrícia, 40 anos, relata insônia há 2 anos, iniciada após um período de estresse no trabalho que já foi resolvido há mais de um ano. Vai pra cama às 21h "pra garantir tempo suficiente", mas só consegue dormir por volta da 1h, e cochila à tarde "pra compensar". Relata pânico só de pensar em outra noite mal dormida, e já tentou "de tudo", incluindo ficar ainda mais tempo na cama tentando relaxar.</a:t>
            </a:r>
            <a:endParaRPr lang="en-US" sz="1500" dirty="0"/>
          </a:p>
        </p:txBody>
      </p:sp>
      <p:sp>
        <p:nvSpPr>
          <p:cNvPr id="6" name="Text 4"/>
          <p:cNvSpPr/>
          <p:nvPr/>
        </p:nvSpPr>
        <p:spPr>
          <a:xfrm>
            <a:off x="822960" y="3886200"/>
            <a:ext cx="5486400" cy="36576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Discussão guiada</a:t>
            </a:r>
            <a:endParaRPr lang="en-US" sz="1600" dirty="0"/>
          </a:p>
        </p:txBody>
      </p:sp>
      <p:sp>
        <p:nvSpPr>
          <p:cNvPr id="7" name="Text 5"/>
          <p:cNvSpPr/>
          <p:nvPr/>
        </p:nvSpPr>
        <p:spPr>
          <a:xfrm>
            <a:off x="822960" y="4297680"/>
            <a:ext cx="10058400" cy="16459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Que elementos da vinheta ilustram os 3 mecanismos centrais da insônia crônica?</a:t>
            </a:r>
            <a:endParaRPr lang="en-US" sz="1400" dirty="0"/>
          </a:p>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Por que o estressor original já ter sido resolvido não significa que a insônia deveria ter passado também?</a:t>
            </a:r>
            <a:endParaRPr lang="en-US" sz="1400" dirty="0"/>
          </a:p>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Que ajuste específico no comportamento de Patrícia você indicaria primeiro, e por quê?</a:t>
            </a:r>
            <a:endParaRPr lang="en-US" sz="1400" dirty="0"/>
          </a:p>
        </p:txBody>
      </p:sp>
      <p:sp>
        <p:nvSpPr>
          <p:cNvPr id="8"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9"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5 · ENCAMINHAMENTO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Quando isso não basta</a:t>
            </a:r>
            <a:endParaRPr lang="en-US" sz="2800" dirty="0"/>
          </a:p>
        </p:txBody>
      </p:sp>
      <p:sp>
        <p:nvSpPr>
          <p:cNvPr id="4" name="Shape 2"/>
          <p:cNvSpPr/>
          <p:nvPr/>
        </p:nvSpPr>
        <p:spPr>
          <a:xfrm>
            <a:off x="822960" y="196596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212848"/>
            <a:ext cx="274320" cy="274320"/>
          </a:xfrm>
          <a:prstGeom prst="ellipse">
            <a:avLst/>
          </a:prstGeom>
          <a:solidFill>
            <a:srgbClr val="C1652F"/>
          </a:solidFill>
          <a:ln/>
        </p:spPr>
      </p:sp>
      <p:sp>
        <p:nvSpPr>
          <p:cNvPr id="6" name="Text 4"/>
          <p:cNvSpPr/>
          <p:nvPr/>
        </p:nvSpPr>
        <p:spPr>
          <a:xfrm>
            <a:off x="1508760" y="196596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Rastreio de apneia do sono antes de iniciar a CBT-I — encaminhar pra polissonografia se houver suspeita</a:t>
            </a:r>
            <a:endParaRPr lang="en-US" sz="1300" dirty="0"/>
          </a:p>
        </p:txBody>
      </p:sp>
      <p:sp>
        <p:nvSpPr>
          <p:cNvPr id="7" name="Shape 5"/>
          <p:cNvSpPr/>
          <p:nvPr/>
        </p:nvSpPr>
        <p:spPr>
          <a:xfrm>
            <a:off x="822960" y="292608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8" name="Shape 6"/>
          <p:cNvSpPr/>
          <p:nvPr/>
        </p:nvSpPr>
        <p:spPr>
          <a:xfrm>
            <a:off x="1051560" y="3172968"/>
            <a:ext cx="274320" cy="274320"/>
          </a:xfrm>
          <a:prstGeom prst="ellipse">
            <a:avLst/>
          </a:prstGeom>
          <a:solidFill>
            <a:srgbClr val="C1652F"/>
          </a:solidFill>
          <a:ln/>
        </p:spPr>
      </p:sp>
      <p:sp>
        <p:nvSpPr>
          <p:cNvPr id="9" name="Text 7"/>
          <p:cNvSpPr/>
          <p:nvPr/>
        </p:nvSpPr>
        <p:spPr>
          <a:xfrm>
            <a:off x="1508760" y="292608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Tratar o transtorno psiquiátrico primário concomitantemente, quando a insônia for secundária a ansiedade ou depressão</a:t>
            </a:r>
            <a:endParaRPr lang="en-US" sz="1300" dirty="0"/>
          </a:p>
        </p:txBody>
      </p:sp>
      <p:sp>
        <p:nvSpPr>
          <p:cNvPr id="10" name="Shape 8"/>
          <p:cNvSpPr/>
          <p:nvPr/>
        </p:nvSpPr>
        <p:spPr>
          <a:xfrm>
            <a:off x="822960" y="388620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1051560" y="4133088"/>
            <a:ext cx="274320" cy="274320"/>
          </a:xfrm>
          <a:prstGeom prst="ellipse">
            <a:avLst/>
          </a:prstGeom>
          <a:solidFill>
            <a:srgbClr val="C1652F"/>
          </a:solidFill>
          <a:ln/>
        </p:spPr>
      </p:sp>
      <p:sp>
        <p:nvSpPr>
          <p:cNvPr id="12" name="Text 10"/>
          <p:cNvSpPr/>
          <p:nvPr/>
        </p:nvSpPr>
        <p:spPr>
          <a:xfrm>
            <a:off x="1508760" y="388620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Insônia crônica não tratada é fator de risco pra depressão e ansiedade — o tratamento tem valor preventivo</a:t>
            </a:r>
            <a:endParaRPr lang="en-US" sz="1300" dirty="0"/>
          </a:p>
        </p:txBody>
      </p:sp>
      <p:sp>
        <p:nvSpPr>
          <p:cNvPr id="13" name="Shape 11"/>
          <p:cNvSpPr/>
          <p:nvPr/>
        </p:nvSpPr>
        <p:spPr>
          <a:xfrm>
            <a:off x="822960" y="484632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14" name="Shape 12"/>
          <p:cNvSpPr/>
          <p:nvPr/>
        </p:nvSpPr>
        <p:spPr>
          <a:xfrm>
            <a:off x="1051560" y="5093208"/>
            <a:ext cx="274320" cy="274320"/>
          </a:xfrm>
          <a:prstGeom prst="ellipse">
            <a:avLst/>
          </a:prstGeom>
          <a:solidFill>
            <a:srgbClr val="C1652F"/>
          </a:solidFill>
          <a:ln/>
        </p:spPr>
      </p:sp>
      <p:sp>
        <p:nvSpPr>
          <p:cNvPr id="15" name="Text 13"/>
          <p:cNvSpPr/>
          <p:nvPr/>
        </p:nvSpPr>
        <p:spPr>
          <a:xfrm>
            <a:off x="1508760" y="484632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Uso crônico de medicação hipnótica sem acompanhamento: encaminhar pra avaliação médica de desmame supervisionado</a:t>
            </a:r>
            <a:endParaRPr lang="en-US" sz="13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Insônia — Módulo 4.23</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83D"/>
        </a:solidFill>
      </p:bgPr>
    </p:bg>
    <p:spTree>
      <p:nvGrpSpPr>
        <p:cNvPr id="1" name=""/>
        <p:cNvGrpSpPr/>
        <p:nvPr/>
      </p:nvGrpSpPr>
      <p:grpSpPr>
        <a:xfrm>
          <a:off x="0" y="0"/>
          <a:ext cx="0" cy="0"/>
          <a:chOff x="0" y="0"/>
          <a:chExt cx="0" cy="0"/>
        </a:xfrm>
      </p:grpSpPr>
      <p:sp>
        <p:nvSpPr>
          <p:cNvPr id="2" name="Text 0"/>
          <p:cNvSpPr/>
          <p:nvPr/>
        </p:nvSpPr>
        <p:spPr>
          <a:xfrm>
            <a:off x="822960" y="822960"/>
            <a:ext cx="9144000" cy="274320"/>
          </a:xfrm>
          <a:prstGeom prst="rect">
            <a:avLst/>
          </a:prstGeom>
          <a:noFill/>
          <a:ln/>
        </p:spPr>
        <p:txBody>
          <a:bodyPr wrap="square" lIns="0" tIns="0" rIns="0" bIns="0" rtlCol="0" anchor="ctr"/>
          <a:lstStyle/>
          <a:p>
            <a:pPr indent="0" marL="0">
              <a:buNone/>
            </a:pPr>
            <a:r>
              <a:rPr lang="en-US" sz="1100" b="1" spc="200" kern="0" dirty="0">
                <a:solidFill>
                  <a:srgbClr val="C1652F"/>
                </a:solidFill>
                <a:latin typeface="Calibri" pitchFamily="34" charset="0"/>
                <a:ea typeface="Calibri" pitchFamily="34" charset="-122"/>
                <a:cs typeface="Calibri" pitchFamily="34" charset="-120"/>
              </a:rPr>
              <a:t>RECAPITULANDO</a:t>
            </a:r>
            <a:endParaRPr lang="en-US" sz="1100" dirty="0"/>
          </a:p>
        </p:txBody>
      </p:sp>
      <p:sp>
        <p:nvSpPr>
          <p:cNvPr id="3" name="Text 1"/>
          <p:cNvSpPr/>
          <p:nvPr/>
        </p:nvSpPr>
        <p:spPr>
          <a:xfrm>
            <a:off x="777240" y="118872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 que leva desta aula</a:t>
            </a:r>
            <a:endParaRPr lang="en-US" sz="3200" dirty="0"/>
          </a:p>
        </p:txBody>
      </p:sp>
      <p:sp>
        <p:nvSpPr>
          <p:cNvPr id="4" name="Text 2"/>
          <p:cNvSpPr/>
          <p:nvPr/>
        </p:nvSpPr>
        <p:spPr>
          <a:xfrm>
            <a:off x="822960" y="2194560"/>
            <a:ext cx="8869680" cy="2377440"/>
          </a:xfrm>
          <a:prstGeom prst="rect">
            <a:avLst/>
          </a:prstGeom>
          <a:noFill/>
          <a:ln/>
        </p:spPr>
        <p:txBody>
          <a:bodyPr wrap="square" lIns="0" tIns="0" rIns="0" bIns="0" rtlCol="0" anchor="ctr"/>
          <a:lstStyle/>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A cama, com o tempo, deixa de sinalizar sono e passa a sinalizar frustração e vigília — o núcleo do condicionamento na insônia crônica</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Hiperativação cognitiva, condicionamento cama-vigília e comportamentos compensatórios são os 3 mecanismos centrais</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ISI, diário do sono e triagem de apneia estruturam a avaliação antes de iniciar o protocolo</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A CBT-I, com restrição de sono e controle de estímulos como pilares, é o padrão-ouro de tratamento, mesmo parecendo contraintuitiva</a:t>
            </a:r>
            <a:endParaRPr lang="en-US" sz="1700" dirty="0"/>
          </a:p>
        </p:txBody>
      </p:sp>
      <p:sp>
        <p:nvSpPr>
          <p:cNvPr id="5" name="Shape 3"/>
          <p:cNvSpPr/>
          <p:nvPr/>
        </p:nvSpPr>
        <p:spPr>
          <a:xfrm>
            <a:off x="822960" y="4846320"/>
            <a:ext cx="8686800" cy="1051560"/>
          </a:xfrm>
          <a:prstGeom prst="roundRect">
            <a:avLst>
              <a:gd name="adj" fmla="val 6957"/>
            </a:avLst>
          </a:prstGeom>
          <a:solidFill>
            <a:srgbClr val="1A3350"/>
          </a:solidFill>
          <a:ln/>
        </p:spPr>
      </p:sp>
      <p:sp>
        <p:nvSpPr>
          <p:cNvPr id="6" name="Text 4"/>
          <p:cNvSpPr/>
          <p:nvPr/>
        </p:nvSpPr>
        <p:spPr>
          <a:xfrm>
            <a:off x="1097280" y="4846320"/>
            <a:ext cx="8229600" cy="1051560"/>
          </a:xfrm>
          <a:prstGeom prst="rect">
            <a:avLst/>
          </a:prstGeom>
          <a:noFill/>
          <a:ln/>
        </p:spPr>
        <p:txBody>
          <a:bodyPr wrap="square" lIns="0" tIns="0" rIns="0" bIns="0" rtlCol="0" anchor="ctr"/>
          <a:lstStyle/>
          <a:p>
            <a:pPr indent="0" marL="0">
              <a:buNone/>
            </a:pPr>
            <a:r>
              <a:rPr lang="en-US" sz="1500" b="1" dirty="0">
                <a:solidFill>
                  <a:srgbClr val="D99A73"/>
                </a:solidFill>
                <a:latin typeface="Calibri" pitchFamily="34" charset="0"/>
                <a:ea typeface="Calibri" pitchFamily="34" charset="-122"/>
                <a:cs typeface="Calibri" pitchFamily="34" charset="-120"/>
              </a:rPr>
              <a:t>Próximo: exercícios práticos e avaliação do Módulo 4.23 →</a:t>
            </a:r>
            <a:endParaRPr lang="en-US" sz="1500" dirty="0"/>
          </a:p>
        </p:txBody>
      </p:sp>
      <p:sp>
        <p:nvSpPr>
          <p:cNvPr id="7" name="Text 5"/>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8FA0B3"/>
                </a:solidFill>
                <a:latin typeface="Calibri" pitchFamily="34" charset="0"/>
                <a:ea typeface="Calibri" pitchFamily="34" charset="-122"/>
                <a:cs typeface="Calibri" pitchFamily="34" charset="-120"/>
              </a:rPr>
              <a:t>Insônia — Módulo 4.23</a:t>
            </a:r>
            <a:endParaRPr lang="en-US" sz="900" dirty="0"/>
          </a:p>
        </p:txBody>
      </p:sp>
      <p:sp>
        <p:nvSpPr>
          <p:cNvPr id="8" name="Text 6"/>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8FA0B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Insônia (CBT-I) — Da Neurociência ao Protocolo Clínico</dc:title>
  <dc:subject>PptxGenJS Presentation</dc:subject>
  <dc:creator>Dioclides</dc:creator>
  <cp:lastModifiedBy>Dioclides</cp:lastModifiedBy>
  <cp:revision>1</cp:revision>
  <dcterms:created xsi:type="dcterms:W3CDTF">2026-07-10T02:24:55Z</dcterms:created>
  <dcterms:modified xsi:type="dcterms:W3CDTF">2026-07-10T02:24:55Z</dcterms:modified>
</cp:coreProperties>
</file>