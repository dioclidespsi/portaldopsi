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4.24 · PROTOCOLOS CLÍNICOS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Luto Complicado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saudade não segue a trajetória esperada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cérebro continua "esperando" quem partiu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luto deixa de seguir sua trajetória esperada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ICG/PG-13 e o critério de tempo do DSM-5-TR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Protocolo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passos, sem apressar nem patologizar a dor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Encaminhamento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e sobreposição com TEPT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do cérebro continua "esperando" a pessoa que partiu — é por isso que o luto dói tanto, e por isso que, pra uma parte das pessoas, essa espera nunca se atualiza sozinha.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do protocolo nunca é apressar o luto ou fazer a pessoa "superar" — é reconhecer quando o processo natural encontrou um obstáculo e precisa de ajuda pra seguir.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a saudade se comporta como um tipo de fissura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recompensa (ativado por lembranças, de forma similar ao craving)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 de dor social (hiperativado por lembranças da perda)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apego (representação implícita de vínculo contínuo)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de crenças (conflito entre apego contínuo e realidade da perda)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é ativado por lembranças da pessoa falecida de forma parecida ao craving — o que explica a intensidade da saudade.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circuito de dor social, o mesmo envolvido em rejeição e exclusão, fica hiperativado diante de lembranças da perda.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apego mantém uma representação implícita de vínculo contínuo, que entra em conflito direto com a atualização cognitiva da realidade da perda.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processo natural ao luto que não se resolve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Perda de uma figura de apego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do processo natural de luto, com ondas de sofrimento e adaptação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Obstáculos ao processamento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Apego ambivalente, morte súbita ou traumática, falta de suporte social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interrompido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luto permanece intenso além do período esperado de adaptação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Luto Prolongado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formal do DSM-5-TR: 12 meses pra adultos, com prejuízo funcional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das pessoas em luto não desenvolve esse quadro — o protocolo é pra quando obstáculos específicos impedem o processo natural de seguir seu curso.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traços centrais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Saudade intensa e persistente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preocupação constante com a pessoa falecida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Dor emocional intensa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Raiva, culpa ou negação que não se atenuam com o tempo esperado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Dificuldade de reengajamento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vida e a própria identidade após a perda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 central não é a intensidade da dor num momento isolado — é a ausência de progressão ao longo do tempo esperado.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reconhecer o padrão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Descrença persistente sobre a morte, dificuldade de aceitar a realidade da perda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Evitação extrema de lembranças, ou apego excessivo a objetos/rituais do falecido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de investir em outros vínculos, sensação de que parte de si morreu junto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Sintomas somáticos associados à dor emocional intensa e prolongada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Diagnóstico diferencial rápido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Luto 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doloroso, mas com trajetória gradual de adaptação, sem critério fixo de tempo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Depressão Maior (Módulo 4.2)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é centrado na saudade específica do falecido, não numa tristeza generalizada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TEPT (Módulo 4.6)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morte foi traumática, avaliar sintomas de intrusão e hipervigilância além do luto em si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 e critério formal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ICG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of Complicated Grief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 intensidade e características do luto complicado.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PG-13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Prolonged Grief Disorder Scale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 específico alinhado aos critérios formais do transtorno.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DSM-5-TR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tempo formal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pra adultos, 6 meses pra crianças e adolescentes.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ao protocolo: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psicoeducação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a trajetória do luto, sem apressar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narrativa da perda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Incluindo, quando aplicável, as circunstâncias da morte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Reconstruir 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simbólico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Integrar a perda à identidade, sem apagar a memória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Reengajamento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Retomar papéis e vínculos de vida, no ritmo da pessoa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contínuo saudável não significa esquecer quem partiu — significa integrar essa perda à própria identidade, de forma que a vida siga possível.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Validação e psicoeducação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“Não existe um prazo certo pra doer menos — mas quando a dor não muda de forma nenhuma com o tempo, faz sentido olhar com mais cuidado pro que pode estar bloqueando esse processo.”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 intensidade da dor sem minimizar nem patologizar prematuramente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Explique a trajetória esperada do luto, com suas ondas naturais de sofrimento e adaptação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Processar a narrativa da perda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Ajude o paciente a construir e revisitar a narrativa da perda, no próprio ritmo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morte foi traumática, trabalhe essa dimensão com cuidado adicional, em diálogo com o Módulo 4.6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Reconstruir o vínculo simbólico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formas de manter uma conexão simbólica saudável com a pessoa falecida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Diferencie isso de negação — o objetivo é integração, não substituição da realidade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Reengajamento gradual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“Retomar a vida não é trair a memória — dá pra guardar essa pessoa com você e, ao mesmo tempo, seguir em frente, no seu tempo.”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Incentive retomada gradual de papéis e vínculos, sem forçar prazos externos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Celebre pequenos passos de reengajamento como parte legítima do processo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Marcelo, 52 anos, perdeu a esposa há 18 meses, em um acidente súbito. Relata que ainda dorme do lado dela na cama "esperando ela voltar", não conseguiu tocar em nenhum pertence dela, e evita qualquer conversa sobre o acidente. Afirma que "parte de mim morreu junto" e que não vê sentido em retomar atividades que faziam juntos. Nega qualquer melhora desde o primeiro mês após a perda.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da vinheta sustentam a hipótese de Luto Prolongado, além do tempo decorrido?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outro protocolo deste curso pode se sobrepor a esse caso, dado que a morte foi súbita?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você começaria o protocolo com Marcelo, considerando a ausência total de progressão relatada?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risco de suicídio quando presente desejo de reunião com o falecido: ativar o protocolo do Módulo 4.9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Circunstâncias traumáticas da morte podem exigir trabalho conjunto com o protocolo de TEPT (Módulo 4.6)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 mais de 12 meses sem qualquer progressão e prejuízo funcional significativo, conforme critério do DSM-5-TR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Isolamento social severo ou abandono completo de papéis de vida (trabalho, cuidado pessoal) por período prolongado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de recompensa e o circuito de dor social explicam por que a saudade pode funcionar quase como uma fissura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intensa e persistente, dor emocional sem atenuação e dificuldade de reengajamento são os 3 traços centrais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ICG, PG-13 e o critério de 12 meses do DSM-5-TR estruturam a avaliação formal do quadro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nunca apressa o luto — reconhece quando o processo natural encontrou um obstáculo e precisa de ajuda pra seguir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4.24 concluído — fim da expansão de protocolos clínicos deste bloco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Luto Complicado — Módulo 4.24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Luto Complicado — Da Neurociência ao Protocolo Clínico</dc:title>
  <dc:subject>PptxGenJS Presentation</dc:subject>
  <dc:creator>Dioclides</dc:creator>
  <cp:lastModifiedBy>Dioclides</cp:lastModifiedBy>
  <cp:revision>1</cp:revision>
  <dcterms:created xsi:type="dcterms:W3CDTF">2026-07-10T02:27:59Z</dcterms:created>
  <dcterms:modified xsi:type="dcterms:W3CDTF">2026-07-10T02:27:59Z</dcterms:modified>
</cp:coreProperties>
</file>