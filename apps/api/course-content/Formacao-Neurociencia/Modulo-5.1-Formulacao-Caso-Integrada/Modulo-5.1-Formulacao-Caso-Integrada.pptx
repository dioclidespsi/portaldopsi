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5.1 · BLOCO 5 · INTEGRAÇÃO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73736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Formulação de Caso Integrada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BD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Mecanismo, diagnóstico, farmacologia e protocolo numa única história coerente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22960" y="4160520"/>
            <a:ext cx="384048" cy="38404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Mecanismo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9" name="Text 7"/>
          <p:cNvSpPr/>
          <p:nvPr/>
        </p:nvSpPr>
        <p:spPr>
          <a:xfrm>
            <a:off x="260604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600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06908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Farmacologia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5216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3524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 guiada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6035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Formação em Neurociência Aplicada à Psicoterapia — by Dioclides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DESTA AULA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mesma anatomia de 5 passos, em todo protocolo do curso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54810" y="2240280"/>
            <a:ext cx="640080" cy="64008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45481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Mecanismo (Bloco 1)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esse padrão existe nessa pessoa específica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82773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14623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1" name="Text 9"/>
          <p:cNvSpPr/>
          <p:nvPr/>
        </p:nvSpPr>
        <p:spPr>
          <a:xfrm>
            <a:off x="3614623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119933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Diagnóstico (Bloco 2)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165653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os dados coletados significam clinicamente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42586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74436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6" name="Text 14"/>
          <p:cNvSpPr/>
          <p:nvPr/>
        </p:nvSpPr>
        <p:spPr>
          <a:xfrm>
            <a:off x="5774436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279746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Farmacologia (Bloco 3)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325466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Fatores medicamentosos relevantes, quando aplicável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02398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934249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1" name="Text 19"/>
          <p:cNvSpPr/>
          <p:nvPr/>
        </p:nvSpPr>
        <p:spPr>
          <a:xfrm>
            <a:off x="7934249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39558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Protocolo (Bloco 4)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85278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intervenção selecionada e adaptada ao caso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462211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094062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6" name="Text 24"/>
          <p:cNvSpPr/>
          <p:nvPr/>
        </p:nvSpPr>
        <p:spPr>
          <a:xfrm>
            <a:off x="10094062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599371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Prática guiada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645091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caso complexo, passo a passo, do início ao fim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Formulação de Caso Integrada — Módulo 5.1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COMEÇAR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9875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bom terapeuta não aplica um protocolo isolado — ele constrói uma formulação de caso que integra mecanismo, diagnóstico, instrumento e intervenção numa única história coerente sobre aquela pessoa específica.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93192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módulo não traz conteúdo novo — ele é o ponto de convergência de tudo que os Blocos 1 a 4 construíram, praticado com um caso completo e complexo.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Formulação de Caso Integrada — Módulo 5.1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4 blocos que convergem na formulação de caso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5120640" cy="4023360"/>
          </a:xfrm>
          <a:prstGeom prst="ellipse">
            <a:avLst/>
          </a:prstGeom>
          <a:solidFill>
            <a:srgbClr val="EFE8D9"/>
          </a:solidFill>
          <a:ln w="25400">
            <a:solidFill>
              <a:srgbClr val="1228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47088" y="2576779"/>
            <a:ext cx="457200" cy="457200"/>
          </a:xfrm>
          <a:prstGeom prst="ellipse">
            <a:avLst/>
          </a:prstGeom>
          <a:solidFill>
            <a:srgbClr val="1228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49501" y="4186123"/>
            <a:ext cx="365760" cy="365760"/>
          </a:xfrm>
          <a:prstGeom prst="ellipse">
            <a:avLst/>
          </a:prstGeom>
          <a:solidFill>
            <a:srgbClr val="C1652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95344" y="4105656"/>
            <a:ext cx="329184" cy="329184"/>
          </a:xfrm>
          <a:prstGeom prst="ellipse">
            <a:avLst/>
          </a:prstGeom>
          <a:solidFill>
            <a:srgbClr val="63768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92931" y="2657246"/>
            <a:ext cx="329184" cy="329184"/>
          </a:xfrm>
          <a:prstGeom prst="ellipse">
            <a:avLst/>
          </a:prstGeom>
          <a:solidFill>
            <a:srgbClr val="D99A7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947672"/>
            <a:ext cx="201168" cy="201168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(Bloco 1): mecanismo neurobiológico do padrão observado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2450592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6720840" y="2377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(Bloco 2): diagnóstico formal e instrumentos aplicados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0" y="2953512"/>
            <a:ext cx="201168" cy="201168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4" name="Text 12"/>
          <p:cNvSpPr/>
          <p:nvPr/>
        </p:nvSpPr>
        <p:spPr>
          <a:xfrm>
            <a:off x="6720840" y="2880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Farmacologia (Bloco 3): contexto medicamentoso, quando aplicável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0" y="3456432"/>
            <a:ext cx="201168" cy="201168"/>
          </a:xfrm>
          <a:prstGeom prst="ellipse">
            <a:avLst/>
          </a:prstGeom>
          <a:solidFill>
            <a:srgbClr val="D99A73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3383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Protocolos (Bloco 4): intervenção clínica selecionada e adaptada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416052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mecanismo neurobiológico (Bloco 1) explica o "por quê" — a base que sustenta toda a psicoeducação ao longo do tratamento.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diagnóstico formal (Bloco 2) traduz a observação clínica numa linguagem precisa e compartilhável entre profissionais.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farmacologia (Bloco 3), quando presente no caso, precisa ser considerada na leitura de sintomas e na comunicação com a equipe médica.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Formulação de Caso Integrada — Módulo 5.1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anamnese à formulação integrada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87552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Coleta ampla de dados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87552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Entrevista, testes, escalas e histórico completo (Bloco 2)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81528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584448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49040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Síntese com hierarquia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749040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Priorização clínica das demandas identificadas (Módulo 2.6)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43016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345936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10528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Seleção do protocolo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10528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e adaptação da intervenção ao caso específico (Bloco 4)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04504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9107424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C1652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72016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Formulação registrada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272016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vivo que guia e é revisado ao longo do tratamento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44805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formulação de caso não é um documento estático — ela é revisada e ajustada conforme o tratamento avança e novos dados aparecem.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Formulação de Caso Integrada — Módulo 5.1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elementos de uma formulação completa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116836" y="1920240"/>
            <a:ext cx="822960" cy="82296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5" name="Text 3"/>
          <p:cNvSpPr/>
          <p:nvPr/>
        </p:nvSpPr>
        <p:spPr>
          <a:xfrm>
            <a:off x="92811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Compreensão do mecanismo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1099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esse padrão existe nessa pessoa, com essa história específica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82996" y="1920240"/>
            <a:ext cx="822960" cy="82296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8" name="Text 6"/>
          <p:cNvSpPr/>
          <p:nvPr/>
        </p:nvSpPr>
        <p:spPr>
          <a:xfrm>
            <a:off x="449427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Leitura diagnóstica formal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67715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os dados coletados significam clinicamente, com especificadores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249156" y="1920240"/>
            <a:ext cx="822960" cy="822960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1" name="Text 9"/>
          <p:cNvSpPr/>
          <p:nvPr/>
        </p:nvSpPr>
        <p:spPr>
          <a:xfrm>
            <a:off x="806043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Plano de ação específico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4331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fazer, em que ordem, com qual protocolo adaptado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52120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formulação que tem só um desses 3 elementos é incompleta — mecanismo sem plano de ação não orienta a prática; plano sem mecanismo carece de fundamento.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Formulação de Caso Integrada — Módulo 5.1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Sinais de uma formulação malfeita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938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874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Sintomas isolados sem hierarquia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0" y="18745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Tentar tratar tudo ao mesmo tempo, sem priorização clara (Módulo 2.6)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79806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743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aplicado sem adaptação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0" y="27432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o protocolo padrão ignorando particularidades do caso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366674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611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Fatores farmacológicos ignorados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0" y="361188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considerar medicação em uso na leitura dos sintomas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453542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4480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Formulação nunca revisada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57600" y="44805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Manter o mesmo plano mesmo diante de evolução ou estagnação clara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Formulação de Caso Integrada — Módulo 5.1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Níveis de complexidade da formulação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Formulação simples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diagnóstico claro, um protocolo aplicado diretamente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Formulação com comorbidade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03064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Múltiplos diagnósticos coexistentes, exigindo hierarquia clara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4" name="Text 12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Formulação multifatorial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54568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Farmacologia, personalidade e fatores situacionais concomitantes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Formulação de Caso Integrada — Módulo 5.1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3 · INSTRUMENTO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3 documentos que sustentam a formulação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Anamnese completa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 e exame do estado mental (Módulo 2.1)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de qualquer formulação, coletada com rigor.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3064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Bateria de avaliação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703064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e escalas aplicados (Módulos 2.3 a 2.5)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03064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objetivos que sustentam ou refinam as hipóteses.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54568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Plano terapêutico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354568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 e priorização (Módulo 2.6)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54568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documento que efetivamente orienta o trabalho sessão a sessão.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Formulação de Caso Integrada — Módulo 5.1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Construindo a formulação: 4 passos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723644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723644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os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coletados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Numa narrativa coerente, não numa lista solta de achados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64408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393692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0" name="Text 8"/>
          <p:cNvSpPr/>
          <p:nvPr/>
        </p:nvSpPr>
        <p:spPr>
          <a:xfrm>
            <a:off x="4393692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84448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mecanismo central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21608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conecta os diferentes sintomas observados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34456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063740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706374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54496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Selecionar 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adaptar o protocolo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91656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Ajustado às particularidades desse caso específico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04504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733788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20" name="Text 18"/>
          <p:cNvSpPr/>
          <p:nvPr/>
        </p:nvSpPr>
        <p:spPr>
          <a:xfrm>
            <a:off x="9733788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924544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periodicamente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061704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base na evolução real, não apenas no plano inicial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53492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Esses 4 passos resumem, na prática, todo o percurso deste curso — do mecanismo neurobiológico ao plano de ação concreto.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Formulação de Caso Integrada — Módulo 5.1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1 e 2,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Integrar os dados coletados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Reúna anamnese, exame do estado mental, testes e escalas numa única narrativa clínica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 ativamente convergências e discrepâncias entre as diferentes fontes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Identificar o mecanismo central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 que conecta a ansiedade, a dificuldade de dormir e o padrão de evitação que você descreve — existe um fio condutor comum?”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402336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Busque o mecanismo neurobiológico (Bloco 1) que melhor explica o conjunto de sintomas, não apenas cada um isoladamente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Formulação de Caso Integrada — Módulo 5.1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3 e 4,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Selecionar e adaptar o protocolo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o protocolo do Bloco 4 mais alinhado à hierarquia de prioridades definida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 a linguagem, o ritmo e a ênfase conforme as particularidades do paciente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Revisar periodicamente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Reaplique escalas (Módulo 2.5) e compare com a linha de base regularmente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 a formulação — não apenas o protocolo — quando a evolução real destoar do esperado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Formulação de Caso Integrada — Módulo 5.1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Estudo de caso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0515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965960"/>
            <a:ext cx="9966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Marina, 34 anos, chega relatando ansiedade intensa e insônia há 6 meses, desde que assumiu um cargo de liderança. A anamnese revela padrão de perfeccionismo extremo desde a adolescência e dificuldade histórica de delegar tarefas. Ela está em uso de um ansiolítico prescrito recentemente, que a deixa "mais calma, mas meio apagada". As escalas aplicadas confirmam ansiedade moderada (GAD-7) e sinais de esgotamento profissional (MBI) já em estágio avançado. Ela nega qualquer histórico de queixas assim antes desse cargo.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3886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Discussão guiada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29768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módulos do Bloco 4 esse caso conecta, considerando o perfeccionismo de longa data e o quadro atual?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você hierarquizaria as demandas (ansiedade, insônia, burnout, uso de ansiolítico) numa formulação integrada?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mecanismo central (Bloco 1) melhor conecta esses diferentes sintomas relatados?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Formulação de Caso Integrada — Módulo 5.1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5 · ENCAMINHAMENTO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isso não basta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21284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196596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Complexidade do caso excede a competência de um único profissional: considerar equipe multiprofissional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92608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51560" y="317296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9" name="Text 7"/>
          <p:cNvSpPr/>
          <p:nvPr/>
        </p:nvSpPr>
        <p:spPr>
          <a:xfrm>
            <a:off x="1508760" y="292608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periódica revela estagnação apesar de protocolo bem aplicado: reformular a hipótese diagnóstica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88620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51560" y="413308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1508760" y="388620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Fatores farmacológicos relevantes não endereçados: comunicar à psiquiatria (Bloco 3) antes de aprofundar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484632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51560" y="509320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484632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sinal de risco identificado durante a formulação: ativar o Módulo 4.9 imediatamente, antes de qualquer outro passo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Formulação de Caso Integrada — Módulo 5.1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RECAPITULANDO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1887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leva desta aula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2194560"/>
            <a:ext cx="8869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formulação de caso integra mecanismo (Bloco 1), diagnóstico (Bloco 2), farmacologia (Bloco 3) e protocolo (Bloco 4) numa única narrativa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Compreensão do mecanismo, leitura diagnóstica formal e plano de ação específico são os 3 elementos que compõem uma formulação completa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Formulação simples, com comorbidade, e multifatorial exigem níveis crescentes de coordenação e cuidado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formulação é um documento vivo — revisado com a evolução real do caso, não fixado apenas na avaliação inicial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4846320"/>
            <a:ext cx="8686800" cy="1051560"/>
          </a:xfrm>
          <a:prstGeom prst="roundRect">
            <a:avLst>
              <a:gd name="adj" fmla="val 6957"/>
            </a:avLst>
          </a:prstGeom>
          <a:solidFill>
            <a:srgbClr val="1A3350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484632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9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Próximo: exercícios práticos e avaliação do Módulo 5.1 →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Formulação de Caso Integrada — Módulo 5.1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Formulação de Caso Integrada — Onde Tudo Que Você Aprendeu Converge</dc:title>
  <dc:subject>PptxGenJS Presentation</dc:subject>
  <dc:creator>Dioclides</dc:creator>
  <cp:lastModifiedBy>Dioclides</cp:lastModifiedBy>
  <cp:revision>1</cp:revision>
  <dcterms:created xsi:type="dcterms:W3CDTF">2026-07-10T14:42:30Z</dcterms:created>
  <dcterms:modified xsi:type="dcterms:W3CDTF">2026-07-10T14:42:30Z</dcterms:modified>
</cp:coreProperties>
</file>