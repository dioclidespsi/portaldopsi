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4.18 · CLUSTER C · TRANSTORNOS DE PERSONALIDADE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73736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TP Dependente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BD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Autonomia como habilidade a ser reconstruída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384048" cy="38404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Mecanismo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06908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5216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3524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Encaminhamento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6035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Formação em Neurociência Aplicada à Psicoterapia — by Dioclides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DESTA AULA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mesma anatomia de 5 passos, em todo protocolo do curso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54810" y="2240280"/>
            <a:ext cx="640080" cy="64008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45481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Mecanismo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decidir sozinho gera tanta ansiedade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82773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14623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1" name="Text 9"/>
          <p:cNvSpPr/>
          <p:nvPr/>
        </p:nvSpPr>
        <p:spPr>
          <a:xfrm>
            <a:off x="3614623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119933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Sinais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165653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Submissão, medo de separação e tolerância a maus-tratos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42586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74436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6" name="Text 14"/>
          <p:cNvSpPr/>
          <p:nvPr/>
        </p:nvSpPr>
        <p:spPr>
          <a:xfrm>
            <a:off x="5774436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79746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Instrumento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25466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PID-5, SCID-5-PD e IDI na prática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02398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934249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1" name="Text 19"/>
          <p:cNvSpPr/>
          <p:nvPr/>
        </p:nvSpPr>
        <p:spPr>
          <a:xfrm>
            <a:off x="7934249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39558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Manejo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85278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passos, com autonomia gradual no centro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462211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094062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6" name="Text 24"/>
          <p:cNvSpPr/>
          <p:nvPr/>
        </p:nvSpPr>
        <p:spPr>
          <a:xfrm>
            <a:off x="10094062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599371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Encaminhamento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645091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 especial a relações de risco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Dependente — Módulo 4.18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COMEÇAR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TP Dependente, a submissão não é passividade — é uma estratégia ativa, aprendida cedo, pra manter por perto a figura de quem a pessoa acredita não conseguir sobreviver sem.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93192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 muda o objetivo do manejo: não é ensinar a pessoa a "ter opinião" — é reconstruir, com segurança, a crença de que ela é capaz de funcionar de forma autônoma.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Dependente — Módulo 4.18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decidir sozinho gera tanta ansiedade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5120640" cy="4023360"/>
          </a:xfrm>
          <a:prstGeom prst="ellipse">
            <a:avLst/>
          </a:prstGeom>
          <a:solidFill>
            <a:srgbClr val="EFE8D9"/>
          </a:solidFill>
          <a:ln w="25400">
            <a:solidFill>
              <a:srgbClr val="1228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47088" y="2576779"/>
            <a:ext cx="457200" cy="457200"/>
          </a:xfrm>
          <a:prstGeom prst="ellipse">
            <a:avLst/>
          </a:prstGeom>
          <a:solidFill>
            <a:srgbClr val="1228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49501" y="4186123"/>
            <a:ext cx="365760" cy="365760"/>
          </a:xfrm>
          <a:prstGeom prst="ellipse">
            <a:avLst/>
          </a:prstGeom>
          <a:solidFill>
            <a:srgbClr val="C1652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95344" y="4105656"/>
            <a:ext cx="329184" cy="329184"/>
          </a:xfrm>
          <a:prstGeom prst="ellipse">
            <a:avLst/>
          </a:prstGeom>
          <a:solidFill>
            <a:srgbClr val="63768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92931" y="2657246"/>
            <a:ext cx="329184" cy="329184"/>
          </a:xfrm>
          <a:prstGeom prst="ellipse">
            <a:avLst/>
          </a:prstGeom>
          <a:solidFill>
            <a:srgbClr val="D99A7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947672"/>
            <a:ext cx="201168" cy="201168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apego (hiperativado, alta necessidade de proximidade)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2450592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6720840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Amígdala (reatividade intensa a sinais de separação)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0" y="2953512"/>
            <a:ext cx="201168" cy="201168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2880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Córtex pré-frontal (menor autonomia funcional na tomada de decisão)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3456432"/>
            <a:ext cx="201168" cy="201168"/>
          </a:xfrm>
          <a:prstGeom prst="ellipse">
            <a:avLst/>
          </a:prstGeom>
          <a:solidFill>
            <a:srgbClr val="D99A73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3383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recompensa (alívio acentuado ao ceder responsabilidade a outro)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416052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de apego funciona hiperativado, gerando necessidade intensa e constante de proximidade com a figura de referência.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amígdala reage de forma amplificada a qualquer sinal, real ou percebido, de separação iminente.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córtex pré-frontal mostra menor engajamento autônomo na tomada de decisão — parte do padrão é evitar a ansiedade de decidir sozinho, não apenas incapacidade.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Dependente — Módulo 4.18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apego inseguro à submissão pervasiva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87552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Apego inseguro na infância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87552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 inconsistente ou superproteção, sem espaço pra autonomia gradual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81528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584448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49040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Crença central de incapacidade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49040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"Não consigo funcionar sozinho", internalizada cedo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43016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345936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10528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Busca ativa por figuras de referência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10528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assumam responsabilidade e decisões pela pessoa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04504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9107424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C1652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72016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TP Dependente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272016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pervasivo de submissão e medo intenso de separação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44805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superproteção, tanto quanto a negligência, pode alimentar esse padrão — o fator comum é a ausência de espaço seguro pra praticar autonomia na infância.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Dependente — Módulo 4.18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traços centrais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116836" y="1920240"/>
            <a:ext cx="822960" cy="82296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5" name="Text 3"/>
          <p:cNvSpPr/>
          <p:nvPr/>
        </p:nvSpPr>
        <p:spPr>
          <a:xfrm>
            <a:off x="92811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Dificuldade de decidir sem orientação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1099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Necessidade de reasseguramento excessivo antes de qualquer decisão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82996" y="1920240"/>
            <a:ext cx="822960" cy="82296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449427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Delegação de responsabilidade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7715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 que outros assumam as principais áreas da própria vida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249156" y="1920240"/>
            <a:ext cx="822960" cy="822960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1" name="Text 9"/>
          <p:cNvSpPr/>
          <p:nvPr/>
        </p:nvSpPr>
        <p:spPr>
          <a:xfrm>
            <a:off x="806043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Medo de separação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4331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Submissão ativa como estratégia pra manter o vínculo por perto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52120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importante diferenciar isso de dependência real e adaptativa — como em contextos de doença física ou cuidado legítimo — antes de patologizar.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Dependente — Módulo 4.18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reconhecer o padrão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938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874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0" y="18745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Crença de incompetência pessoal ("não consigo sozinho")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79806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743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Comportamental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0" y="27432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Dificuldade de discordar, busca constante de aprovação antes de agir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66674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611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0" y="361188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Tolerância excessiva a maus-tratos pra não perder o vínculo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453542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4480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57600" y="44805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Ativação do sistema de apego/estresse diante de sinais de separação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Dependente — Módulo 4.18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Diagnóstico diferencial rápido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TP Evitativa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se aproximar por medo de rejeição; dependente se agarra intensamente uma vez vinculada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TP Borderline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03064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 instabilidade extrema de humor/identidade nem a autolesão características da Borderline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4" name="Text 12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Dependência adaptativa real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54568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Contextos de doença física ou cuidado legítimo não configuram, por si, transtorno de personalidade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Dependente — Módulo 4.18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3 · INSTRUMENTO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instrumentos, três finalidades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PID-5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Personality Inventory for DSM-5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Mapeia os traços patológicos de forma dimensional.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3064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SCID-5-PD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703064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 Estruturada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03064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Padrão-ouro pra diagnóstico categorial formal.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54568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IDI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54568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Inventário de Dependência Interpessoal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54568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Específico pra medir o grau de dependência interpessoal e submissão.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Dependente — Módulo 4.18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mecanismo ao manejo: 4 passos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723644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723644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Autonomia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decisória gradual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Começar por decisões pequenas e de baixo risco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64408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93692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0" name="Text 8"/>
          <p:cNvSpPr/>
          <p:nvPr/>
        </p:nvSpPr>
        <p:spPr>
          <a:xfrm>
            <a:off x="4393692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84448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Tolerância 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discordar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21608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Praticar expressar opinião própria com segurança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34456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063740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706374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54496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Tolerância à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separação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91656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capacidade de estar bem sem a figura de referência por perto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04504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733788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20" name="Text 18"/>
          <p:cNvSpPr/>
          <p:nvPr/>
        </p:nvSpPr>
        <p:spPr>
          <a:xfrm>
            <a:off x="9733788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924544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risco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061704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Investigar tolerância a maus-tratos no vínculo atual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5349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passo 4 não é opcional — a submissão pode manter a pessoa em relações abusivas por medo de ficar sozinha, exigindo avaliação de segurança específica.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Dependente — Módulo 4.18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1 e 2,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Autonomia decisória gradual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Comece com decisões pequenas e de baixo risco (o que comer, que roupa usar) antes de avançar pra decisões maiores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Resista à tentação de decidir pelo paciente durante a sessão, mesmo quando ele pedir diretamente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Tolerância a discordar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 que você realmente pensa sobre isso, independente do que eu ou outra pessoa achem?”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402336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Pratique, dentro da sessão, expressar opinião própria mesmo quando diverge da do terapeuta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 o desconforto de discordar sem reforçar a busca imediata de reasseguramento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Dependente — Módulo 4.18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3 e 4,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Tolerância à separação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Trabalhe gradualmente períodos maiores sem contato com a figura de referência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Nomeie a ansiedade de separação como sintoma treinável, não como sinal de perigo real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Avaliar risco relacional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Investigue ativamente se há tolerância a maus-tratos (emocionais, físicos ou financeiros) no vínculo atual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presuma que o paciente vai relatar isso espontaneamente — o medo de separação pode silenciar o relato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Dependente — Módulo 4.18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Estudo de caso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0515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965960"/>
            <a:ext cx="9966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Renata, 35 anos, procura terapia a pedido do marido, que reclama que ela "não toma nenhuma decisão sozinha, nem escolhe o que vestir sem perguntar antes". Renata relata pânico só de pensar em discordar dele, mesmo em assuntos pequenos, e conta que já tolerou comentários humilhantes recorrentes "porque prefiro isso a ficar sozinha, não saberia nem por onde começar". Nunca morou sozinha e foi criada por pais extremamente protetores, que decidiam tudo por ela.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3886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Discussão guiada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29768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elementos da vinheta ilustram os 3 traços centrais do TP Dependente?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sinal na vinheta exige investigação mais aprofundada, independente do diagnóstico de personalidade?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onde você começaria o passo 1 (autonomia decisória gradual) com Renata?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Dependente — Módulo 4.18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5 · ENCAMINHAMENTO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isso não basta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21284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196596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 de tolerância a maus-tratos emocionais, físicos ou financeiros: avaliar segurança e considerar rede de proteção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92608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51560" y="317296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9" name="Text 7"/>
          <p:cNvSpPr/>
          <p:nvPr/>
        </p:nvSpPr>
        <p:spPr>
          <a:xfrm>
            <a:off x="1508760" y="292608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Sintomas depressivos significativos após término de relação ou perda da figura de referência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88620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51560" y="413308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1508760" y="388620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Comorbidade com TP Evitativa ou sintomas de ansiedade generalizada, relativamente comuns nesse perfil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84632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51560" y="509320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48463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Considerar terapia de casal com cautela, apenas quando o parceiro não reforça ativamente a dependência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Dependente — Módulo 4.18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RECAPITULANDO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1887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leva desta aula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194560"/>
            <a:ext cx="8869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TP Dependente, a submissão é uma estratégia ativa aprendida cedo, não passividade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Dificuldade de decidir sem orientação, delegação de responsabilidade e medo de separação são os 3 traços centrais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PID-5, SCID-5-PD e IDI estruturam a avaliação dimensional, categorial e específica de dependência interpessoal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manejo reconstrói autonomia de forma gradual e inclui avaliação ativa de risco em relações de tolerância a maus-tratos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846320"/>
            <a:ext cx="8686800" cy="1051560"/>
          </a:xfrm>
          <a:prstGeom prst="roundRect">
            <a:avLst>
              <a:gd name="adj" fmla="val 6957"/>
            </a:avLst>
          </a:prstGeom>
          <a:solidFill>
            <a:srgbClr val="1A3350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484632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9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Próximo: exercícios práticos e avaliação do Módulo 4.18 →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Dependente — Módulo 4.18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Transtorno de Personalidade Dependente — Da Neurociência ao Manejo</dc:title>
  <dc:subject>PptxGenJS Presentation</dc:subject>
  <dc:creator>Dioclides</dc:creator>
  <cp:lastModifiedBy>Dioclides</cp:lastModifiedBy>
  <cp:revision>1</cp:revision>
  <dcterms:created xsi:type="dcterms:W3CDTF">2026-07-10T01:57:15Z</dcterms:created>
  <dcterms:modified xsi:type="dcterms:W3CDTF">2026-07-10T01:57:15Z</dcterms:modified>
</cp:coreProperties>
</file>