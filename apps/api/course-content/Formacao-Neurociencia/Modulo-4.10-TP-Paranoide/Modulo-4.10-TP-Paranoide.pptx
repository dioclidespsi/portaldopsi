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4.10 · CLUSTER A · TRANSTORNOS DE PERSONALIDADE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 Paranoide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B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desconfiança generalizada ao manejo da aliança terapêutica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908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Encaminhamento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em Neurociência Aplicada à Psicoterapia — by Dioclides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DESTA AULA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anatomia de 5 passos, em todo protocolo do curso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4810" y="2240280"/>
            <a:ext cx="640080" cy="64008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45481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Mecanismo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desconfiança se torna um esquema estável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82773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4623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1" name="Text 9"/>
          <p:cNvSpPr/>
          <p:nvPr/>
        </p:nvSpPr>
        <p:spPr>
          <a:xfrm>
            <a:off x="3614623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19933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Sinais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65653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diferencia desconfiança de traço da patológica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42586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4436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6" name="Text 14"/>
          <p:cNvSpPr/>
          <p:nvPr/>
        </p:nvSpPr>
        <p:spPr>
          <a:xfrm>
            <a:off x="577443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79746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25466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PID-5, MCMI-IV e SCID-5-PD na prática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02398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34249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1" name="Text 19"/>
          <p:cNvSpPr/>
          <p:nvPr/>
        </p:nvSpPr>
        <p:spPr>
          <a:xfrm>
            <a:off x="7934249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39558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Manejo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85278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passos, adaptados a um padrão de longo prazo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62211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94062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6" name="Text 24"/>
          <p:cNvSpPr/>
          <p:nvPr/>
        </p:nvSpPr>
        <p:spPr>
          <a:xfrm>
            <a:off x="1009406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599371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Encaminhamento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45091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isso não basta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Paranoide — Módulo 4.10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TP Paranoide, o problema não é o cérebro mentir sobre ameaça — é generalizar demais uma leitura de proteção que, em algum momento da vida, já fez sentido.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muda o tom da psicoeducação: não é "você está enxergando errado", é "esse sistema de alerta está calibrado alto demais pra maioria das situações de hoje".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Paranoide — Módulo 4.10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base da hipervigilância interpessoal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4023360"/>
          </a:xfrm>
          <a:prstGeom prst="ellipse">
            <a:avLst/>
          </a:prstGeom>
          <a:solidFill>
            <a:srgbClr val="EFE8D9"/>
          </a:solidFill>
          <a:ln w="25400">
            <a:solidFill>
              <a:srgbClr val="1228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44675" y="2496312"/>
            <a:ext cx="457200" cy="457200"/>
          </a:xfrm>
          <a:prstGeom prst="ellipse">
            <a:avLst/>
          </a:prstGeom>
          <a:solidFill>
            <a:srgbClr val="1228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51914" y="4266590"/>
            <a:ext cx="365760" cy="365760"/>
          </a:xfrm>
          <a:prstGeom prst="ellipse">
            <a:avLst/>
          </a:prstGeom>
          <a:solidFill>
            <a:srgbClr val="C165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2931" y="4266590"/>
            <a:ext cx="329184" cy="329184"/>
          </a:xfrm>
          <a:prstGeom prst="ellipse">
            <a:avLst/>
          </a:prstGeom>
          <a:solidFill>
            <a:srgbClr val="6376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95344" y="2737714"/>
            <a:ext cx="329184" cy="329184"/>
          </a:xfrm>
          <a:prstGeom prst="ellipse">
            <a:avLst/>
          </a:prstGeom>
          <a:solidFill>
            <a:srgbClr val="D99A7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947672"/>
            <a:ext cx="201168" cy="201168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Amígdala (limiar reduzido pra detectar ameaça social)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450592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Córtex pré-frontal (viés de atribuição hostil na interpretação)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953512"/>
            <a:ext cx="201168" cy="201168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Hipocampo (memórias de traição/humilhação moldam o esquema)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3456432"/>
            <a:ext cx="201168" cy="201168"/>
          </a:xfrm>
          <a:prstGeom prst="ellipse">
            <a:avLst/>
          </a:prstGeom>
          <a:solidFill>
            <a:srgbClr val="D99A73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Estriado (reforça a vigilância como comportamento "recompensado")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1605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viés de atribuição hostil faz ambiguidade social ser lida como intenção hostil por padrão, não por exceção.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não é escolha consciente — é o filtro automático com que a informação social chega ao córtex.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"confirmação" da desconfiança (real ou mal-interpretada) reforça o esquema — um ciclo que se autoalimenta.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Paranoide — Módulo 4.10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ciclo que mantém o esquema de desconfiança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Ambiguidade social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7552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comentário, atraso ou silêncio sem explicação clara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81528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84448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Viés de atribuição hostil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lido automaticamente como intenção de prejudicar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43016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45936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0528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Comportamento defensivo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0528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pessoa se antecipa com desconfiança, cobrança ou hostilidade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04504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107424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C1652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72016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Profecia se confirma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72016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outro reage à defensividade, "confirmando" a ameaça esperada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 ciclo autorreforçador — quebrar em qualquer ponto (mais frequentemente na etapa 2) é o que o manejo clínico busca fazer.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Paranoide — Módulo 4.10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traços centrais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16836" y="1920240"/>
            <a:ext cx="822960" cy="82296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92811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Desconfiança generalizada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099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Suspeita, sem base suficiente, de que outros querem prejudicar ou explorar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82996" y="1920240"/>
            <a:ext cx="822960" cy="82296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8" name="Text 6"/>
          <p:cNvSpPr/>
          <p:nvPr/>
        </p:nvSpPr>
        <p:spPr>
          <a:xfrm>
            <a:off x="449427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Hipervigilância a intenções ocultas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7715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Procura significados escondidos em comentários neutros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49156" y="1920240"/>
            <a:ext cx="822960" cy="822960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1" name="Text 9"/>
          <p:cNvSpPr/>
          <p:nvPr/>
        </p:nvSpPr>
        <p:spPr>
          <a:xfrm>
            <a:off x="806043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Rancor persistente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4331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 de perdoar ofensas reais ou percebidas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critério clínico é o grau — desconfiança seletiva e proporcional é adaptativa; aqui ela é generalizada e desproporcional.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Paranoide — Módulo 4.10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diferencia traço de padrão patológico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938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874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hostil de comentários neutros, procura de "segundas intenções"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79806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743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Checagem repetida de lealdade, questionamento de motivos alheios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66674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 de manter vínculos por desconfiança recorrente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480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44805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Tensão constante, hipervigilância corporal ao ambiente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Paranoide — Módulo 4.10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 diferencial rápido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 Esquizotípica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pensamento mágico e excentricidade — paranoide tem desconfiança específica, sem isso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TEPT com hipervigilância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3064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gatilho traumático identificável e é mais recente/circunscrito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4" name="Text 12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Transtorno delirante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4568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Paranoide mantém teste de realidade preservado; delirante, não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Paranoide — Módulo 4.10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· INSTRUMENTO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instrumentos, três finalidades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PID-5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Personality Inventory for DSM-5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 traços patológicos de forma dimensional — bom pra mapear intensidade.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3064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MCMI-IV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3064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Millon Clinical Multiaxial Inventory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3064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amplo de personalidade, útil pra diferencial entre transtornos.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4568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SCID-5-PD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54568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 Estruturada pra Transtornos de Personalidade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54568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Padrão-ouro pra diagnóstico categorial formal.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Paranoide — Módulo 4.10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mecanismo ao manejo: 4 passos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23644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72364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Psicoeducação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esquema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Nomear o padrão sem confrontar defensivamente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4408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93692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4393692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84448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Aliança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21608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confiança terapêutica passo a passo — é o maior desafio aqui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34456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063740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7063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54496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Reestruturação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viés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91656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Trabalhar a atribuição hostil automática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04504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733788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20" name="Text 18"/>
          <p:cNvSpPr/>
          <p:nvPr/>
        </p:nvSpPr>
        <p:spPr>
          <a:xfrm>
            <a:off x="9733788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24544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Prevenção de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ruptura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61704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Antecipar testes de confiança do paciente ao terapeuta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 dos protocolos anteriores, aqui o ritmo é mais lento — o vínculo terapêutico É parte do tratamento, não só o meio.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Paranoide — Módulo 4.10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1 e 2,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Psicoeducação do esquema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“Parece que seu sistema de alerta social está calibrado pra proteger você de qualquer sinal de traição — mesmo quando o risco real é baixo. Isso tem explicação, e dá pra recalibrar.”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Evite confrontar a crença diretamente logo de início — gera ruptura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 a função protetora do padrão antes de questionar sua proporção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Construção de aliança gradual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Seja consistente e previsível — inconsistência é gatilho direto de desconfiança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 decisões clínicas com transparência, mesmo pequenas (ex: mudança de horário)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espere confiança rápida — é normal levar mais tempo que em outros perfis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Paranoide — Módulo 4.10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3 e 4,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Reestruturação do viés de atribuição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51560" y="2651760"/>
          <a:ext cx="4663440" cy="201168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1554480"/>
              </a:tblGrid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Situação ambígua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Leitura automática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Leitura alternativa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D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Colega não responde mensagem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"Está me ignorando de propósito"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"Pode estar ocupado ou não ter visto ainda"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1051560" y="48920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Trabalhe gerando alternativas plausíveis — não peça pro paciente "confiar mais" de forma abstrata.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Prevenção de ruptura terapêutica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Antecipe que o paciente pode testar a lealdade do terapeuta (ex: perguntas indiretas de checagem)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Trate rupturas quando acontecerem como material clínico, não como fim do vínculo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Rupturas e reparos bem conduzidos ensinam que a confiança pode ser reconstruída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Paranoide — Módulo 4.10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Roberto, 45 anos, chega 10 minutos atrasado à sessão porque o terapeuta remarcou o horário na semana anterior. Diz, com tom hostil: "Imagino que isso significa que você não me leva a sério como paciente." Relata histórico de rompimentos abruptos com colegas de trabalho por suspeitar de "conspirações" sem evidência concreta.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Discussão guiada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viés cognitivo está operando na fala de Roberto sobre o atraso?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você responderia a essa fala sem confrontar nem validar a desconfiança de forma acrítica?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os rompimentos abruptos no trabalho sugerem sobre o padrão relacional de Roberto?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Paranoide — Módulo 4.10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 · ENCAMINHAMENTO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isso não basta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1284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9659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Emergência de sintomas psicóticos (perda de teste de realidade, delírios estruturados)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317296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29260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de violência baseado em crença de perseguição — avaliação de risco formal necessária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413308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3886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Ruptura terapêutica recorrente que impede qualquer progresso, mesmo com manejo cuidadoso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84632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509320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48463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Comorbidade que exige tratamento próprio (ex: depressão associada ao isolamento social)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Paranoide — Módulo 4.10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 desta aula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8869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desconfiança paranoide é um esquema autorreforçado, não uma escolha consciente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Desconfiança generalizada, hipervigilância a intenções ocultas e rancor persistente são os 3 traços centrais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PID-5, MCMI-IV e SCID-5-PD estruturam o diagnóstico com dado, não só impressão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Aqui, construir e manter a aliança terapêutica É o tratamento — não apenas o caminho até ele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8686800" cy="1051560"/>
          </a:xfrm>
          <a:prstGeom prst="roundRect">
            <a:avLst>
              <a:gd name="adj" fmla="val 6957"/>
            </a:avLst>
          </a:prstGeom>
          <a:solidFill>
            <a:srgbClr val="1A335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846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Próximo: exercícios práticos e avaliação do Módulo 4.10 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Paranoide — Módulo 4.10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Transtorno de Personalidade Paranoide — Da Neurociência ao Manejo Clínico</dc:title>
  <dc:subject>PptxGenJS Presentation</dc:subject>
  <dc:creator>Dioclides</dc:creator>
  <cp:lastModifiedBy>Dioclides</cp:lastModifiedBy>
  <cp:revision>1</cp:revision>
  <dcterms:created xsi:type="dcterms:W3CDTF">2026-07-10T01:05:47Z</dcterms:created>
  <dcterms:modified xsi:type="dcterms:W3CDTF">2026-07-10T01:05:47Z</dcterms:modified>
</cp:coreProperties>
</file>