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228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137160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C16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MÓDULO 4.7 · PROTOCOLOS CLÍNICOS DIRETOS AO PONTO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777240" y="1737360"/>
            <a:ext cx="100584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Procrastinação</a:t>
            </a:r>
            <a:endParaRPr lang="en-US" sz="5600" dirty="0"/>
          </a:p>
        </p:txBody>
      </p:sp>
      <p:sp>
        <p:nvSpPr>
          <p:cNvPr id="4" name="Text 2"/>
          <p:cNvSpPr/>
          <p:nvPr/>
        </p:nvSpPr>
        <p:spPr>
          <a:xfrm>
            <a:off x="822960" y="2880360"/>
            <a:ext cx="9601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dirty="0">
                <a:solidFill>
                  <a:srgbClr val="CBD8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neurociência da autorregulação, aplicada à sessão</a:t>
            </a:r>
            <a:endParaRPr lang="en-US" sz="2100" dirty="0"/>
          </a:p>
        </p:txBody>
      </p:sp>
      <p:sp>
        <p:nvSpPr>
          <p:cNvPr id="5" name="Shape 3"/>
          <p:cNvSpPr/>
          <p:nvPr/>
        </p:nvSpPr>
        <p:spPr>
          <a:xfrm>
            <a:off x="822960" y="4160520"/>
            <a:ext cx="384048" cy="384048"/>
          </a:xfrm>
          <a:prstGeom prst="ellipse">
            <a:avLst/>
          </a:prstGeom>
          <a:solidFill>
            <a:srgbClr val="C1652F"/>
          </a:solidFill>
          <a:ln/>
        </p:spPr>
      </p:sp>
      <p:sp>
        <p:nvSpPr>
          <p:cNvPr id="6" name="Text 4"/>
          <p:cNvSpPr/>
          <p:nvPr/>
        </p:nvSpPr>
        <p:spPr>
          <a:xfrm>
            <a:off x="822960" y="41605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502920" y="4617720"/>
            <a:ext cx="1783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EBF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Mecanismo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2606040" y="4160520"/>
            <a:ext cx="384048" cy="384048"/>
          </a:xfrm>
          <a:prstGeom prst="ellipse">
            <a:avLst/>
          </a:prstGeom>
          <a:solidFill>
            <a:srgbClr val="1A3350"/>
          </a:solidFill>
          <a:ln/>
        </p:spPr>
      </p:sp>
      <p:sp>
        <p:nvSpPr>
          <p:cNvPr id="9" name="Text 7"/>
          <p:cNvSpPr/>
          <p:nvPr/>
        </p:nvSpPr>
        <p:spPr>
          <a:xfrm>
            <a:off x="2606040" y="41605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2286000" y="4617720"/>
            <a:ext cx="1783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EBF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Sinais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389120" y="4160520"/>
            <a:ext cx="384048" cy="384048"/>
          </a:xfrm>
          <a:prstGeom prst="ellipse">
            <a:avLst/>
          </a:prstGeom>
          <a:solidFill>
            <a:srgbClr val="1A3350"/>
          </a:solidFill>
          <a:ln/>
        </p:spPr>
      </p:sp>
      <p:sp>
        <p:nvSpPr>
          <p:cNvPr id="12" name="Text 10"/>
          <p:cNvSpPr/>
          <p:nvPr/>
        </p:nvSpPr>
        <p:spPr>
          <a:xfrm>
            <a:off x="4389120" y="41605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4069080" y="4617720"/>
            <a:ext cx="1783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EBF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Instrumento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6172200" y="4160520"/>
            <a:ext cx="384048" cy="384048"/>
          </a:xfrm>
          <a:prstGeom prst="ellipse">
            <a:avLst/>
          </a:prstGeom>
          <a:solidFill>
            <a:srgbClr val="1A3350"/>
          </a:solidFill>
          <a:ln/>
        </p:spPr>
      </p:sp>
      <p:sp>
        <p:nvSpPr>
          <p:cNvPr id="15" name="Text 13"/>
          <p:cNvSpPr/>
          <p:nvPr/>
        </p:nvSpPr>
        <p:spPr>
          <a:xfrm>
            <a:off x="6172200" y="41605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5852160" y="4617720"/>
            <a:ext cx="1783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EBF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Protocolo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7955280" y="4160520"/>
            <a:ext cx="384048" cy="384048"/>
          </a:xfrm>
          <a:prstGeom prst="ellipse">
            <a:avLst/>
          </a:prstGeom>
          <a:solidFill>
            <a:srgbClr val="1A3350"/>
          </a:solidFill>
          <a:ln/>
        </p:spPr>
      </p:sp>
      <p:sp>
        <p:nvSpPr>
          <p:cNvPr id="18" name="Text 16"/>
          <p:cNvSpPr/>
          <p:nvPr/>
        </p:nvSpPr>
        <p:spPr>
          <a:xfrm>
            <a:off x="7955280" y="41605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7635240" y="4617720"/>
            <a:ext cx="1783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EBF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Encaminhamento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822960" y="603504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E93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Formação em Neurociência Aplicada à Psicoterapia — by Dioclides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1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50292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A855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ROTEIRO DESTA AULA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777240" y="777240"/>
            <a:ext cx="10058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228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mesma anatomia de 5 passos, em todo protocolo do curso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822960" y="1920240"/>
            <a:ext cx="1903781" cy="3383280"/>
          </a:xfrm>
          <a:prstGeom prst="roundRect">
            <a:avLst>
              <a:gd name="adj" fmla="val 480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454810" y="2240280"/>
            <a:ext cx="640080" cy="640080"/>
          </a:xfrm>
          <a:prstGeom prst="ellipse">
            <a:avLst/>
          </a:prstGeom>
          <a:solidFill>
            <a:srgbClr val="C1652F"/>
          </a:solidFill>
          <a:ln/>
        </p:spPr>
      </p:sp>
      <p:sp>
        <p:nvSpPr>
          <p:cNvPr id="6" name="Text 4"/>
          <p:cNvSpPr/>
          <p:nvPr/>
        </p:nvSpPr>
        <p:spPr>
          <a:xfrm>
            <a:off x="1454810" y="224028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960120" y="3063240"/>
            <a:ext cx="1629461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228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Mecanismo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1005840" y="3611880"/>
            <a:ext cx="1538021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conflito entre função executiva e desconforto imediato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2982773" y="1920240"/>
            <a:ext cx="1903781" cy="3383280"/>
          </a:xfrm>
          <a:prstGeom prst="roundRect">
            <a:avLst>
              <a:gd name="adj" fmla="val 480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614623" y="2240280"/>
            <a:ext cx="640080" cy="640080"/>
          </a:xfrm>
          <a:prstGeom prst="ellipse">
            <a:avLst/>
          </a:prstGeom>
          <a:solidFill>
            <a:srgbClr val="12283D"/>
          </a:solidFill>
          <a:ln/>
        </p:spPr>
      </p:sp>
      <p:sp>
        <p:nvSpPr>
          <p:cNvPr id="11" name="Text 9"/>
          <p:cNvSpPr/>
          <p:nvPr/>
        </p:nvSpPr>
        <p:spPr>
          <a:xfrm>
            <a:off x="3614623" y="224028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3119933" y="3063240"/>
            <a:ext cx="1629461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228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Sinais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3165653" y="3611880"/>
            <a:ext cx="1538021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que avisa que virou padrão, não só um dia ruim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5142586" y="1920240"/>
            <a:ext cx="1903781" cy="3383280"/>
          </a:xfrm>
          <a:prstGeom prst="roundRect">
            <a:avLst>
              <a:gd name="adj" fmla="val 480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5774436" y="2240280"/>
            <a:ext cx="640080" cy="640080"/>
          </a:xfrm>
          <a:prstGeom prst="ellipse">
            <a:avLst/>
          </a:prstGeom>
          <a:solidFill>
            <a:srgbClr val="12283D"/>
          </a:solidFill>
          <a:ln/>
        </p:spPr>
      </p:sp>
      <p:sp>
        <p:nvSpPr>
          <p:cNvPr id="16" name="Text 14"/>
          <p:cNvSpPr/>
          <p:nvPr/>
        </p:nvSpPr>
        <p:spPr>
          <a:xfrm>
            <a:off x="5774436" y="224028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5279746" y="3063240"/>
            <a:ext cx="1629461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228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Instrumento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5325466" y="3611880"/>
            <a:ext cx="1538021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Escalas de procrastinação e rastreio de TDAH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7302398" y="1920240"/>
            <a:ext cx="1903781" cy="3383280"/>
          </a:xfrm>
          <a:prstGeom prst="roundRect">
            <a:avLst>
              <a:gd name="adj" fmla="val 480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7934249" y="2240280"/>
            <a:ext cx="640080" cy="640080"/>
          </a:xfrm>
          <a:prstGeom prst="ellipse">
            <a:avLst/>
          </a:prstGeom>
          <a:solidFill>
            <a:srgbClr val="12283D"/>
          </a:solidFill>
          <a:ln/>
        </p:spPr>
      </p:sp>
      <p:sp>
        <p:nvSpPr>
          <p:cNvPr id="21" name="Text 19"/>
          <p:cNvSpPr/>
          <p:nvPr/>
        </p:nvSpPr>
        <p:spPr>
          <a:xfrm>
            <a:off x="7934249" y="224028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2200" dirty="0"/>
          </a:p>
        </p:txBody>
      </p:sp>
      <p:sp>
        <p:nvSpPr>
          <p:cNvPr id="22" name="Text 20"/>
          <p:cNvSpPr/>
          <p:nvPr/>
        </p:nvSpPr>
        <p:spPr>
          <a:xfrm>
            <a:off x="7439558" y="3063240"/>
            <a:ext cx="1629461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228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Protocolo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7485278" y="3611880"/>
            <a:ext cx="1538021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passos, prontos pra sessão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9462211" y="1920240"/>
            <a:ext cx="1903781" cy="3383280"/>
          </a:xfrm>
          <a:prstGeom prst="roundRect">
            <a:avLst>
              <a:gd name="adj" fmla="val 480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10094062" y="2240280"/>
            <a:ext cx="640080" cy="640080"/>
          </a:xfrm>
          <a:prstGeom prst="ellipse">
            <a:avLst/>
          </a:prstGeom>
          <a:solidFill>
            <a:srgbClr val="12283D"/>
          </a:solidFill>
          <a:ln/>
        </p:spPr>
      </p:sp>
      <p:sp>
        <p:nvSpPr>
          <p:cNvPr id="26" name="Text 24"/>
          <p:cNvSpPr/>
          <p:nvPr/>
        </p:nvSpPr>
        <p:spPr>
          <a:xfrm>
            <a:off x="10094062" y="224028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2200" dirty="0"/>
          </a:p>
        </p:txBody>
      </p:sp>
      <p:sp>
        <p:nvSpPr>
          <p:cNvPr id="27" name="Text 25"/>
          <p:cNvSpPr/>
          <p:nvPr/>
        </p:nvSpPr>
        <p:spPr>
          <a:xfrm>
            <a:off x="9599371" y="3063240"/>
            <a:ext cx="1629461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228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Encaminhamento</a:t>
            </a:r>
            <a:endParaRPr lang="en-US" sz="1500" dirty="0"/>
          </a:p>
        </p:txBody>
      </p:sp>
      <p:sp>
        <p:nvSpPr>
          <p:cNvPr id="28" name="Text 26"/>
          <p:cNvSpPr/>
          <p:nvPr/>
        </p:nvSpPr>
        <p:spPr>
          <a:xfrm>
            <a:off x="9645091" y="3611880"/>
            <a:ext cx="1538021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Quando isso não basta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Procrastinação — Módulo 4.7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11274552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5F1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82296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A855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ANTES DE COMEÇAR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822960" y="1371600"/>
            <a:ext cx="987552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3400" b="1" dirty="0">
                <a:solidFill>
                  <a:srgbClr val="1228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Procrastinar não é preguiça. É o cérebro escolhendo alívio imediato em vez de uma recompensa maior, porém distante.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822960" y="3931920"/>
            <a:ext cx="79552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Essa distinção tira o paciente do "eu sou desorganizado" e coloca o problema onde ele realmente está: um conflito entre dois sistemas cerebrais.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Procrastinação — Módulo 4.7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1274552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5F1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45720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A855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PASSO 1 · MECANISMO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777240" y="731520"/>
            <a:ext cx="10058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228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conflito por trás da procrastinação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822960" y="1691640"/>
            <a:ext cx="5120640" cy="4023360"/>
          </a:xfrm>
          <a:prstGeom prst="ellipse">
            <a:avLst/>
          </a:prstGeom>
          <a:solidFill>
            <a:srgbClr val="EFE8D9"/>
          </a:solidFill>
          <a:ln w="25400">
            <a:solidFill>
              <a:srgbClr val="12283D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744675" y="2496312"/>
            <a:ext cx="457200" cy="457200"/>
          </a:xfrm>
          <a:prstGeom prst="ellipse">
            <a:avLst/>
          </a:prstGeom>
          <a:solidFill>
            <a:srgbClr val="12283D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051914" y="4266590"/>
            <a:ext cx="365760" cy="365760"/>
          </a:xfrm>
          <a:prstGeom prst="ellipse">
            <a:avLst/>
          </a:prstGeom>
          <a:solidFill>
            <a:srgbClr val="C1652F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792931" y="4266590"/>
            <a:ext cx="329184" cy="329184"/>
          </a:xfrm>
          <a:prstGeom prst="ellipse">
            <a:avLst/>
          </a:prstGeom>
          <a:solidFill>
            <a:srgbClr val="63768A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895344" y="2737714"/>
            <a:ext cx="292608" cy="292608"/>
          </a:xfrm>
          <a:prstGeom prst="ellipse">
            <a:avLst/>
          </a:prstGeom>
          <a:solidFill>
            <a:srgbClr val="D99A73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400800" y="1947672"/>
            <a:ext cx="201168" cy="201168"/>
          </a:xfrm>
          <a:prstGeom prst="ellipse">
            <a:avLst/>
          </a:prstGeom>
          <a:solidFill>
            <a:srgbClr val="12283D"/>
          </a:solidFill>
          <a:ln/>
        </p:spPr>
      </p:sp>
      <p:sp>
        <p:nvSpPr>
          <p:cNvPr id="10" name="Text 8"/>
          <p:cNvSpPr/>
          <p:nvPr/>
        </p:nvSpPr>
        <p:spPr>
          <a:xfrm>
            <a:off x="6720840" y="187452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228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Córtex pré-frontal (função executiva, planejamento)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6400800" y="2450592"/>
            <a:ext cx="201168" cy="201168"/>
          </a:xfrm>
          <a:prstGeom prst="ellipse">
            <a:avLst/>
          </a:prstGeom>
          <a:solidFill>
            <a:srgbClr val="C1652F"/>
          </a:solidFill>
          <a:ln/>
        </p:spPr>
      </p:sp>
      <p:sp>
        <p:nvSpPr>
          <p:cNvPr id="12" name="Text 10"/>
          <p:cNvSpPr/>
          <p:nvPr/>
        </p:nvSpPr>
        <p:spPr>
          <a:xfrm>
            <a:off x="6720840" y="237744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228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Amígdala (desconforto antecipatório da tarefa)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6400800" y="2953512"/>
            <a:ext cx="201168" cy="201168"/>
          </a:xfrm>
          <a:prstGeom prst="ellipse">
            <a:avLst/>
          </a:prstGeom>
          <a:solidFill>
            <a:srgbClr val="63768A"/>
          </a:solidFill>
          <a:ln/>
        </p:spPr>
      </p:sp>
      <p:sp>
        <p:nvSpPr>
          <p:cNvPr id="14" name="Text 12"/>
          <p:cNvSpPr/>
          <p:nvPr/>
        </p:nvSpPr>
        <p:spPr>
          <a:xfrm>
            <a:off x="6720840" y="288036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228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Sistema de recompensa (prefere alívio imediato)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6400800" y="3456432"/>
            <a:ext cx="201168" cy="201168"/>
          </a:xfrm>
          <a:prstGeom prst="ellipse">
            <a:avLst/>
          </a:prstGeom>
          <a:solidFill>
            <a:srgbClr val="D99A73"/>
          </a:solidFill>
          <a:ln/>
        </p:spPr>
      </p:sp>
      <p:sp>
        <p:nvSpPr>
          <p:cNvPr id="16" name="Text 14"/>
          <p:cNvSpPr/>
          <p:nvPr/>
        </p:nvSpPr>
        <p:spPr>
          <a:xfrm>
            <a:off x="6720840" y="338328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228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Córtex cingulado anterior (monitora o conflito entre os dois)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6400800" y="4160520"/>
            <a:ext cx="512064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amígdala gera desconforto só de pensar na tarefa — e o cérebro busca alívio imediato.</a:t>
            </a:r>
            <a:endParaRPr lang="en-US" sz="12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"Desconto temporal": o cérebro valoriza mais uma recompensa pequena agora do que uma recompensa maior no futuro.</a:t>
            </a:r>
            <a:endParaRPr lang="en-US" sz="12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córtex cingulado anterior registra esse conflito — é a sensação de "eu sei que devia estar fazendo isso".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Procrastinação — Módulo 4.7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11274552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5F1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45720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A855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PASSO 1 · MECANISMO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777240" y="731520"/>
            <a:ext cx="10058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228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Do desconforto ao ciclo de evitação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822960" y="1965960"/>
            <a:ext cx="2258568" cy="1920240"/>
          </a:xfrm>
          <a:prstGeom prst="roundRect">
            <a:avLst>
              <a:gd name="adj" fmla="val 3810"/>
            </a:avLst>
          </a:prstGeom>
          <a:solidFill>
            <a:srgbClr val="12283D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987552" y="2148840"/>
            <a:ext cx="192938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Tarefa desconfortável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987552" y="2651760"/>
            <a:ext cx="1929384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4E9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Amígdala gera ansiedade antecipatória só de pensar nela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3081528" y="1965960"/>
            <a:ext cx="50292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1228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600" dirty="0"/>
          </a:p>
        </p:txBody>
      </p:sp>
      <p:sp>
        <p:nvSpPr>
          <p:cNvPr id="8" name="Shape 6"/>
          <p:cNvSpPr/>
          <p:nvPr/>
        </p:nvSpPr>
        <p:spPr>
          <a:xfrm>
            <a:off x="3584448" y="1965960"/>
            <a:ext cx="2258568" cy="1920240"/>
          </a:xfrm>
          <a:prstGeom prst="roundRect">
            <a:avLst>
              <a:gd name="adj" fmla="val 3810"/>
            </a:avLst>
          </a:prstGeom>
          <a:solidFill>
            <a:srgbClr val="12283D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3749040" y="2148840"/>
            <a:ext cx="192938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Busca de alívio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3749040" y="2651760"/>
            <a:ext cx="1929384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4E9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Cérebro procura uma distração que traga alívio imediato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5843016" y="1965960"/>
            <a:ext cx="50292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1228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600" dirty="0"/>
          </a:p>
        </p:txBody>
      </p:sp>
      <p:sp>
        <p:nvSpPr>
          <p:cNvPr id="12" name="Shape 10"/>
          <p:cNvSpPr/>
          <p:nvPr/>
        </p:nvSpPr>
        <p:spPr>
          <a:xfrm>
            <a:off x="6345936" y="1965960"/>
            <a:ext cx="2258568" cy="1920240"/>
          </a:xfrm>
          <a:prstGeom prst="roundRect">
            <a:avLst>
              <a:gd name="adj" fmla="val 3810"/>
            </a:avLst>
          </a:prstGeom>
          <a:solidFill>
            <a:srgbClr val="12283D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6510528" y="2148840"/>
            <a:ext cx="192938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Reforço da evitação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6510528" y="2651760"/>
            <a:ext cx="1929384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4E9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alívio da distração reforça repetir o padrão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8604504" y="1965960"/>
            <a:ext cx="50292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1228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600" dirty="0"/>
          </a:p>
        </p:txBody>
      </p:sp>
      <p:sp>
        <p:nvSpPr>
          <p:cNvPr id="16" name="Shape 14"/>
          <p:cNvSpPr/>
          <p:nvPr/>
        </p:nvSpPr>
        <p:spPr>
          <a:xfrm>
            <a:off x="9107424" y="1965960"/>
            <a:ext cx="2258568" cy="1920240"/>
          </a:xfrm>
          <a:prstGeom prst="roundRect">
            <a:avLst>
              <a:gd name="adj" fmla="val 3810"/>
            </a:avLst>
          </a:prstGeom>
          <a:solidFill>
            <a:srgbClr val="C1652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9272016" y="2148840"/>
            <a:ext cx="192938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Função executiva enfraquece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9272016" y="2651760"/>
            <a:ext cx="1929384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4E9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cada repetição, fica mais difícil tolerar o desconforto da próxima vez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822960" y="4480560"/>
            <a:ext cx="9875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i="1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 um ciclo, não um traço de personalidade — e ciclos podem ser quebrados com o protocolo certo.</a:t>
            </a:r>
            <a:endParaRPr lang="en-US" sz="1350" dirty="0"/>
          </a:p>
        </p:txBody>
      </p:sp>
      <p:sp>
        <p:nvSpPr>
          <p:cNvPr id="20" name="Text 18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Procrastinação — Módulo 4.7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11274552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5F1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45720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A855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PASSO 1 · MECANISMO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777240" y="731520"/>
            <a:ext cx="10058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228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 funções da procrastinação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2116836" y="1920240"/>
            <a:ext cx="822960" cy="822960"/>
          </a:xfrm>
          <a:prstGeom prst="ellipse">
            <a:avLst/>
          </a:prstGeom>
          <a:solidFill>
            <a:srgbClr val="C1652F"/>
          </a:solidFill>
          <a:ln/>
        </p:spPr>
      </p:sp>
      <p:sp>
        <p:nvSpPr>
          <p:cNvPr id="5" name="Text 3"/>
          <p:cNvSpPr/>
          <p:nvPr/>
        </p:nvSpPr>
        <p:spPr>
          <a:xfrm>
            <a:off x="928116" y="2926080"/>
            <a:ext cx="3200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228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Evitação do desconforto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1110996" y="3474720"/>
            <a:ext cx="28346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Foge da ansiedade antecipatória gerada pela tarefa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5682996" y="1920240"/>
            <a:ext cx="822960" cy="822960"/>
          </a:xfrm>
          <a:prstGeom prst="ellipse">
            <a:avLst/>
          </a:prstGeom>
          <a:solidFill>
            <a:srgbClr val="12283D"/>
          </a:solidFill>
          <a:ln/>
        </p:spPr>
      </p:sp>
      <p:sp>
        <p:nvSpPr>
          <p:cNvPr id="8" name="Text 6"/>
          <p:cNvSpPr/>
          <p:nvPr/>
        </p:nvSpPr>
        <p:spPr>
          <a:xfrm>
            <a:off x="4494276" y="2926080"/>
            <a:ext cx="3200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228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Busca de estimulação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4677156" y="3474720"/>
            <a:ext cx="28346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Só começa sob pressão do prazo, busca a adrenalina do limite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9249156" y="1920240"/>
            <a:ext cx="822960" cy="822960"/>
          </a:xfrm>
          <a:prstGeom prst="ellipse">
            <a:avLst/>
          </a:prstGeom>
          <a:solidFill>
            <a:srgbClr val="63768A"/>
          </a:solidFill>
          <a:ln/>
        </p:spPr>
      </p:sp>
      <p:sp>
        <p:nvSpPr>
          <p:cNvPr id="11" name="Text 9"/>
          <p:cNvSpPr/>
          <p:nvPr/>
        </p:nvSpPr>
        <p:spPr>
          <a:xfrm>
            <a:off x="8060436" y="2926080"/>
            <a:ext cx="3200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228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Indecisão / perfeccionismo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8243316" y="3474720"/>
            <a:ext cx="28346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Trava por medo de errar — "não começa até estar perfeito"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822960" y="5212080"/>
            <a:ext cx="9601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Identificar a função predominante muda qual técnica do protocolo vai funcionar melhor.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Procrastinação — Módulo 4.7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11274552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5F1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45720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A855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PASSO 2 · SINAIS DE ALERTA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777240" y="731520"/>
            <a:ext cx="10058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228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avisa que virou padrão, não só um dia ruim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822960" y="1929384"/>
            <a:ext cx="201168" cy="201168"/>
          </a:xfrm>
          <a:prstGeom prst="ellipse">
            <a:avLst/>
          </a:prstGeom>
          <a:solidFill>
            <a:srgbClr val="C1652F"/>
          </a:solidFill>
          <a:ln/>
        </p:spPr>
      </p:sp>
      <p:sp>
        <p:nvSpPr>
          <p:cNvPr id="5" name="Text 3"/>
          <p:cNvSpPr/>
          <p:nvPr/>
        </p:nvSpPr>
        <p:spPr>
          <a:xfrm>
            <a:off x="1188720" y="1874520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228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Cognitivo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3657600" y="1874520"/>
            <a:ext cx="7589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Racionalização ("trabalho melhor sob pressão"), pensamento perfeccionista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822960" y="2798064"/>
            <a:ext cx="201168" cy="201168"/>
          </a:xfrm>
          <a:prstGeom prst="ellipse">
            <a:avLst/>
          </a:prstGeom>
          <a:solidFill>
            <a:srgbClr val="C1652F"/>
          </a:solidFill>
          <a:ln/>
        </p:spPr>
      </p:sp>
      <p:sp>
        <p:nvSpPr>
          <p:cNvPr id="8" name="Text 6"/>
          <p:cNvSpPr/>
          <p:nvPr/>
        </p:nvSpPr>
        <p:spPr>
          <a:xfrm>
            <a:off x="1188720" y="2743200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228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Físico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3657600" y="2743200"/>
            <a:ext cx="7589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Tensão ao pensar na tarefa, fadiga mental desproporcional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822960" y="3666744"/>
            <a:ext cx="201168" cy="201168"/>
          </a:xfrm>
          <a:prstGeom prst="ellipse">
            <a:avLst/>
          </a:prstGeom>
          <a:solidFill>
            <a:srgbClr val="C1652F"/>
          </a:solidFill>
          <a:ln/>
        </p:spPr>
      </p:sp>
      <p:sp>
        <p:nvSpPr>
          <p:cNvPr id="11" name="Text 9"/>
          <p:cNvSpPr/>
          <p:nvPr/>
        </p:nvSpPr>
        <p:spPr>
          <a:xfrm>
            <a:off x="1188720" y="3611880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228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Comportamental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3657600" y="3611880"/>
            <a:ext cx="7589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Troca de tarefa importante por tarefas triviais, adiamento repetido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>
            <a:off x="822960" y="4535424"/>
            <a:ext cx="201168" cy="201168"/>
          </a:xfrm>
          <a:prstGeom prst="ellipse">
            <a:avLst/>
          </a:prstGeom>
          <a:solidFill>
            <a:srgbClr val="C1652F"/>
          </a:solidFill>
          <a:ln/>
        </p:spPr>
      </p:sp>
      <p:sp>
        <p:nvSpPr>
          <p:cNvPr id="14" name="Text 12"/>
          <p:cNvSpPr/>
          <p:nvPr/>
        </p:nvSpPr>
        <p:spPr>
          <a:xfrm>
            <a:off x="1188720" y="4480560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228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Relacional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3657600" y="4480560"/>
            <a:ext cx="7589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Conflitos por prazos perdidos, promessas não cumpridas</a:t>
            </a:r>
            <a:endParaRPr lang="en-US" sz="1350" dirty="0"/>
          </a:p>
        </p:txBody>
      </p:sp>
      <p:sp>
        <p:nvSpPr>
          <p:cNvPr id="16" name="Text 14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Procrastinação — Módulo 4.7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11274552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5F1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45720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A855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PASSO 2 · SINAIS DE ALERTA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777240" y="731520"/>
            <a:ext cx="10058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228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Diagnóstico diferencial rápido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822960" y="1920240"/>
            <a:ext cx="3240024" cy="3291840"/>
          </a:xfrm>
          <a:prstGeom prst="roundRect">
            <a:avLst>
              <a:gd name="adj" fmla="val 225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22960" y="1920240"/>
            <a:ext cx="3240024" cy="640080"/>
          </a:xfrm>
          <a:prstGeom prst="rect">
            <a:avLst/>
          </a:prstGeom>
          <a:solidFill>
            <a:srgbClr val="12283D"/>
          </a:solidFill>
          <a:ln/>
        </p:spPr>
      </p:sp>
      <p:sp>
        <p:nvSpPr>
          <p:cNvPr id="6" name="Text 4"/>
          <p:cNvSpPr/>
          <p:nvPr/>
        </p:nvSpPr>
        <p:spPr>
          <a:xfrm>
            <a:off x="822960" y="1920240"/>
            <a:ext cx="324002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Procrastinação situacional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1051560" y="2743200"/>
            <a:ext cx="2782824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Ocasional, ligada a uma tarefa específica desagradável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4474464" y="1920240"/>
            <a:ext cx="3240024" cy="3291840"/>
          </a:xfrm>
          <a:prstGeom prst="roundRect">
            <a:avLst>
              <a:gd name="adj" fmla="val 225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474464" y="1920240"/>
            <a:ext cx="3240024" cy="640080"/>
          </a:xfrm>
          <a:prstGeom prst="rect">
            <a:avLst/>
          </a:prstGeom>
          <a:solidFill>
            <a:srgbClr val="12283D"/>
          </a:solidFill>
          <a:ln/>
        </p:spPr>
      </p:sp>
      <p:sp>
        <p:nvSpPr>
          <p:cNvPr id="10" name="Text 8"/>
          <p:cNvSpPr/>
          <p:nvPr/>
        </p:nvSpPr>
        <p:spPr>
          <a:xfrm>
            <a:off x="4474464" y="1920240"/>
            <a:ext cx="324002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Procrastinação crônica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4703064" y="2743200"/>
            <a:ext cx="2782824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Padrão generalizado, afeta múltiplas áreas da vida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8125968" y="1920240"/>
            <a:ext cx="3240024" cy="3291840"/>
          </a:xfrm>
          <a:prstGeom prst="roundRect">
            <a:avLst>
              <a:gd name="adj" fmla="val 225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8125968" y="1920240"/>
            <a:ext cx="3240024" cy="640080"/>
          </a:xfrm>
          <a:prstGeom prst="rect">
            <a:avLst/>
          </a:prstGeom>
          <a:solidFill>
            <a:srgbClr val="12283D"/>
          </a:solidFill>
          <a:ln/>
        </p:spPr>
      </p:sp>
      <p:sp>
        <p:nvSpPr>
          <p:cNvPr id="14" name="Text 12"/>
          <p:cNvSpPr/>
          <p:nvPr/>
        </p:nvSpPr>
        <p:spPr>
          <a:xfrm>
            <a:off x="8125968" y="1920240"/>
            <a:ext cx="324002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TDAH não diagnosticado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8354568" y="2743200"/>
            <a:ext cx="2782824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Dificuldade de função executiva mais ampla e persistente, desde a infância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Procrastinação — Módulo 4.7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11274552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5F1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45720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A855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PASSO 3 · INSTRUMENTO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777240" y="731520"/>
            <a:ext cx="10058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228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Três instrumentos, três finalidades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822960" y="1920240"/>
            <a:ext cx="3240024" cy="3566160"/>
          </a:xfrm>
          <a:prstGeom prst="roundRect">
            <a:avLst>
              <a:gd name="adj" fmla="val 225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1051560" y="2103120"/>
            <a:ext cx="278282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C165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GPS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1051560" y="2606040"/>
            <a:ext cx="278282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1228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General Procrastination Scale (Lay)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1051560" y="3108960"/>
            <a:ext cx="2782824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Escala validada de procrastinação geral — traço, não situacional.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474464" y="1920240"/>
            <a:ext cx="3240024" cy="3566160"/>
          </a:xfrm>
          <a:prstGeom prst="roundRect">
            <a:avLst>
              <a:gd name="adj" fmla="val 225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4703064" y="2103120"/>
            <a:ext cx="278282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C165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EAO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4703064" y="2606040"/>
            <a:ext cx="278282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1228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Escala de Adiamento Acadêmico/Ocupacional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4703064" y="3108960"/>
            <a:ext cx="2782824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Mede procrastinação em contexto específico de estudo ou trabalho.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8125968" y="1920240"/>
            <a:ext cx="3240024" cy="3566160"/>
          </a:xfrm>
          <a:prstGeom prst="roundRect">
            <a:avLst>
              <a:gd name="adj" fmla="val 225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8354568" y="2103120"/>
            <a:ext cx="278282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C165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ASRS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8354568" y="2606040"/>
            <a:ext cx="278282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1228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Adult ADHD Self-Report Scale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8354568" y="3108960"/>
            <a:ext cx="2782824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Rastreio breve de TDAH adulto — essencial pro diagnóstico diferencial.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Procrastinação — Módulo 4.7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11274552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5F1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45720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A855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PASSO 4 · PROTOCOLO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777240" y="731520"/>
            <a:ext cx="10058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228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Do mecanismo à intervenção: 4 passos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1723644" y="2286000"/>
            <a:ext cx="731520" cy="731520"/>
          </a:xfrm>
          <a:prstGeom prst="ellipse">
            <a:avLst/>
          </a:prstGeom>
          <a:solidFill>
            <a:srgbClr val="C1652F"/>
          </a:solidFill>
          <a:ln/>
        </p:spPr>
      </p:sp>
      <p:sp>
        <p:nvSpPr>
          <p:cNvPr id="5" name="Text 3"/>
          <p:cNvSpPr/>
          <p:nvPr/>
        </p:nvSpPr>
        <p:spPr>
          <a:xfrm>
            <a:off x="1723644" y="228600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914400" y="3246120"/>
            <a:ext cx="235000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228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Psicoeducação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1228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 mecanismo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51560" y="4114800"/>
            <a:ext cx="207568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Nomear a evitação de desconforto, não é falta de caráter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3264408" y="2286000"/>
            <a:ext cx="320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B7C2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200" dirty="0"/>
          </a:p>
        </p:txBody>
      </p:sp>
      <p:sp>
        <p:nvSpPr>
          <p:cNvPr id="9" name="Shape 7"/>
          <p:cNvSpPr/>
          <p:nvPr/>
        </p:nvSpPr>
        <p:spPr>
          <a:xfrm>
            <a:off x="4393692" y="2286000"/>
            <a:ext cx="731520" cy="731520"/>
          </a:xfrm>
          <a:prstGeom prst="ellipse">
            <a:avLst/>
          </a:prstGeom>
          <a:solidFill>
            <a:srgbClr val="C1652F"/>
          </a:solidFill>
          <a:ln/>
        </p:spPr>
      </p:sp>
      <p:sp>
        <p:nvSpPr>
          <p:cNvPr id="10" name="Text 8"/>
          <p:cNvSpPr/>
          <p:nvPr/>
        </p:nvSpPr>
        <p:spPr>
          <a:xfrm>
            <a:off x="4393692" y="228600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3584448" y="3246120"/>
            <a:ext cx="235000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228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Quebra de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1228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tarefas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3721608" y="4114800"/>
            <a:ext cx="207568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Dividir tarefas grandes, reduzir a carga de decisão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5934456" y="2286000"/>
            <a:ext cx="320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B7C2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200" dirty="0"/>
          </a:p>
        </p:txBody>
      </p:sp>
      <p:sp>
        <p:nvSpPr>
          <p:cNvPr id="14" name="Shape 12"/>
          <p:cNvSpPr/>
          <p:nvPr/>
        </p:nvSpPr>
        <p:spPr>
          <a:xfrm>
            <a:off x="7063740" y="2286000"/>
            <a:ext cx="731520" cy="731520"/>
          </a:xfrm>
          <a:prstGeom prst="ellipse">
            <a:avLst/>
          </a:prstGeom>
          <a:solidFill>
            <a:srgbClr val="C1652F"/>
          </a:solidFill>
          <a:ln/>
        </p:spPr>
      </p:sp>
      <p:sp>
        <p:nvSpPr>
          <p:cNvPr id="15" name="Text 13"/>
          <p:cNvSpPr/>
          <p:nvPr/>
        </p:nvSpPr>
        <p:spPr>
          <a:xfrm>
            <a:off x="7063740" y="228600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6254496" y="3246120"/>
            <a:ext cx="235000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228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Técnicas de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1228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ativação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6391656" y="4114800"/>
            <a:ext cx="207568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Regra dos 5 minutos, remoção de fricção pra começar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8604504" y="2286000"/>
            <a:ext cx="320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B7C2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200" dirty="0"/>
          </a:p>
        </p:txBody>
      </p:sp>
      <p:sp>
        <p:nvSpPr>
          <p:cNvPr id="19" name="Shape 17"/>
          <p:cNvSpPr/>
          <p:nvPr/>
        </p:nvSpPr>
        <p:spPr>
          <a:xfrm>
            <a:off x="9733788" y="2286000"/>
            <a:ext cx="731520" cy="731520"/>
          </a:xfrm>
          <a:prstGeom prst="ellipse">
            <a:avLst/>
          </a:prstGeom>
          <a:solidFill>
            <a:srgbClr val="C1652F"/>
          </a:solidFill>
          <a:ln/>
        </p:spPr>
      </p:sp>
      <p:sp>
        <p:nvSpPr>
          <p:cNvPr id="20" name="Text 18"/>
          <p:cNvSpPr/>
          <p:nvPr/>
        </p:nvSpPr>
        <p:spPr>
          <a:xfrm>
            <a:off x="9733788" y="228600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8924544" y="3246120"/>
            <a:ext cx="235000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228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Tolerância ao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1228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desconforto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9061704" y="4114800"/>
            <a:ext cx="207568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Agir mesmo com desconforto presente, prevenção de recaída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822960" y="5349240"/>
            <a:ext cx="9601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Nas próximas 2 telas, cada passo ganha um exemplo pronto pra levar pra sessão.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Procrastinação — Módulo 4.7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11274552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5F1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45720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A855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PASSO 4 · PROTOCOLO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777240" y="731520"/>
            <a:ext cx="10058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228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Passos 1 e 2, na prática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822960" y="1828800"/>
            <a:ext cx="5120640" cy="4023360"/>
          </a:xfrm>
          <a:prstGeom prst="roundRect">
            <a:avLst>
              <a:gd name="adj" fmla="val 181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051560" y="2057400"/>
            <a:ext cx="457200" cy="457200"/>
          </a:xfrm>
          <a:prstGeom prst="ellipse">
            <a:avLst/>
          </a:prstGeom>
          <a:solidFill>
            <a:srgbClr val="C1652F"/>
          </a:solidFill>
          <a:ln/>
        </p:spPr>
      </p:sp>
      <p:sp>
        <p:nvSpPr>
          <p:cNvPr id="6" name="Text 4"/>
          <p:cNvSpPr/>
          <p:nvPr/>
        </p:nvSpPr>
        <p:spPr>
          <a:xfrm>
            <a:off x="1051560" y="20574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645920" y="2084832"/>
            <a:ext cx="4114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228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Psicoeducação do mecanismo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051560" y="2697480"/>
            <a:ext cx="46634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“Seu cérebro está processando essa tarefa como uma ameaça — por isso busca alívio imediato em outra coisa. Isso não é falta de disciplina.”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051560" y="4023360"/>
            <a:ext cx="466344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Reduz a culpa que costuma alimentar o próprio ciclo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Prepara o terreno pra quebra de tarefas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6263640" y="1828800"/>
            <a:ext cx="5120640" cy="4023360"/>
          </a:xfrm>
          <a:prstGeom prst="roundRect">
            <a:avLst>
              <a:gd name="adj" fmla="val 181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6492240" y="2057400"/>
            <a:ext cx="457200" cy="457200"/>
          </a:xfrm>
          <a:prstGeom prst="ellipse">
            <a:avLst/>
          </a:prstGeom>
          <a:solidFill>
            <a:srgbClr val="C1652F"/>
          </a:solidFill>
          <a:ln/>
        </p:spPr>
      </p:sp>
      <p:sp>
        <p:nvSpPr>
          <p:cNvPr id="12" name="Text 10"/>
          <p:cNvSpPr/>
          <p:nvPr/>
        </p:nvSpPr>
        <p:spPr>
          <a:xfrm>
            <a:off x="6492240" y="20574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7086600" y="2084832"/>
            <a:ext cx="4114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228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Quebra de tarefas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6492240" y="2697480"/>
            <a:ext cx="466344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Divida a tarefa grande em passos pequenos e concretos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passo deve ser específico o suficiente pra não exigir decisão extra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primeiro passo deve ser propositalmente muito fácil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Procrastinação — Módulo 4.7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11274552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5F1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45720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A855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PASSO 4 · PROTOCOLO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777240" y="731520"/>
            <a:ext cx="10058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228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Passos 3 e 4, na prática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822960" y="1828800"/>
            <a:ext cx="5120640" cy="4023360"/>
          </a:xfrm>
          <a:prstGeom prst="roundRect">
            <a:avLst>
              <a:gd name="adj" fmla="val 181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051560" y="2057400"/>
            <a:ext cx="457200" cy="457200"/>
          </a:xfrm>
          <a:prstGeom prst="ellipse">
            <a:avLst/>
          </a:prstGeom>
          <a:solidFill>
            <a:srgbClr val="C1652F"/>
          </a:solidFill>
          <a:ln/>
        </p:spPr>
      </p:sp>
      <p:sp>
        <p:nvSpPr>
          <p:cNvPr id="6" name="Text 4"/>
          <p:cNvSpPr/>
          <p:nvPr/>
        </p:nvSpPr>
        <p:spPr>
          <a:xfrm>
            <a:off x="1051560" y="20574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645920" y="2084832"/>
            <a:ext cx="4114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228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Técnicas de ativação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051560" y="2697480"/>
            <a:ext cx="466344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Regra dos 5 minutos: comprometer-se a começar por só 5 minutos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Remover fricção: deixar o material da tarefa já visível/acessível antes de começar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Reduzir distrações do ambiente antes de iniciar, não durante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6263640" y="1828800"/>
            <a:ext cx="5120640" cy="4023360"/>
          </a:xfrm>
          <a:prstGeom prst="roundRect">
            <a:avLst>
              <a:gd name="adj" fmla="val 181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6492240" y="2057400"/>
            <a:ext cx="457200" cy="457200"/>
          </a:xfrm>
          <a:prstGeom prst="ellipse">
            <a:avLst/>
          </a:prstGeom>
          <a:solidFill>
            <a:srgbClr val="C1652F"/>
          </a:solidFill>
          <a:ln/>
        </p:spPr>
      </p:sp>
      <p:sp>
        <p:nvSpPr>
          <p:cNvPr id="11" name="Text 9"/>
          <p:cNvSpPr/>
          <p:nvPr/>
        </p:nvSpPr>
        <p:spPr>
          <a:xfrm>
            <a:off x="6492240" y="20574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7086600" y="2084832"/>
            <a:ext cx="4114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228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Tolerância ao desconforto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6492240" y="2697480"/>
            <a:ext cx="466344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Praticar agir mesmo com o desconforto presente, sem esperar ele passar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Mapear os gatilhos de evitação mais comuns do paciente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Revisar o plano periodicamente — recaída é esperada, não é fracasso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Procrastinação — Módulo 4.7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11274552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5F1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45720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A855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APLICAÇÃO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777240" y="731520"/>
            <a:ext cx="10058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228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Estudo de caso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822960" y="1783080"/>
            <a:ext cx="10515600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1097280" y="1965960"/>
            <a:ext cx="99669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Bruno, 30 anos, redator freelancer, relata que sempre entrega os projetos "em cima da hora", mesmo tendo semanas de prazo. Diz que "só consegue trabalhar sob pressão" e passa a maior parte do tempo disponível em tarefas triviais. Isso já causou perda de 2 clientes importantes. Relata esse padrão desde a adolescência, em praticamente todas as áreas da vida, incluindo estudos.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822960" y="388620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228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Discussão guiada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822960" y="4297680"/>
            <a:ext cx="100584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 função de procrastinação está mais evidente na vinheta?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padrão "desde a adolescência, em praticamente todas as áreas" levanta que hipótese diagnóstica diferencial importante?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Sugira uma técnica de quebra de tarefas (passo 2) pro próximo projeto de Bruno.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Procrastinação — Módulo 4.7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11274552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5F1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45720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A855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PASSO 5 · ENCAMINHAMENTO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777240" y="731520"/>
            <a:ext cx="10058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228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Quando isso não basta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822960" y="1965960"/>
            <a:ext cx="10515600" cy="777240"/>
          </a:xfrm>
          <a:prstGeom prst="roundRect">
            <a:avLst>
              <a:gd name="adj" fmla="val 705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051560" y="2212848"/>
            <a:ext cx="274320" cy="274320"/>
          </a:xfrm>
          <a:prstGeom prst="ellipse">
            <a:avLst/>
          </a:prstGeom>
          <a:solidFill>
            <a:srgbClr val="C1652F"/>
          </a:solidFill>
          <a:ln/>
        </p:spPr>
      </p:sp>
      <p:sp>
        <p:nvSpPr>
          <p:cNvPr id="6" name="Text 4"/>
          <p:cNvSpPr/>
          <p:nvPr/>
        </p:nvSpPr>
        <p:spPr>
          <a:xfrm>
            <a:off x="1508760" y="1965960"/>
            <a:ext cx="9601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Suspeita de TDAH não diagnosticado — encaminhar pra avaliação neuropsicológica (conecta com o Bloco 2 da formação)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822960" y="2926080"/>
            <a:ext cx="10515600" cy="777240"/>
          </a:xfrm>
          <a:prstGeom prst="roundRect">
            <a:avLst>
              <a:gd name="adj" fmla="val 705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1051560" y="3172968"/>
            <a:ext cx="274320" cy="274320"/>
          </a:xfrm>
          <a:prstGeom prst="ellipse">
            <a:avLst/>
          </a:prstGeom>
          <a:solidFill>
            <a:srgbClr val="C1652F"/>
          </a:solidFill>
          <a:ln/>
        </p:spPr>
      </p:sp>
      <p:sp>
        <p:nvSpPr>
          <p:cNvPr id="9" name="Text 7"/>
          <p:cNvSpPr/>
          <p:nvPr/>
        </p:nvSpPr>
        <p:spPr>
          <a:xfrm>
            <a:off x="1508760" y="2926080"/>
            <a:ext cx="9601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Comorbidade significativa com depressão ou ansiedade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822960" y="3886200"/>
            <a:ext cx="10515600" cy="777240"/>
          </a:xfrm>
          <a:prstGeom prst="roundRect">
            <a:avLst>
              <a:gd name="adj" fmla="val 705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1051560" y="4133088"/>
            <a:ext cx="274320" cy="274320"/>
          </a:xfrm>
          <a:prstGeom prst="ellipse">
            <a:avLst/>
          </a:prstGeom>
          <a:solidFill>
            <a:srgbClr val="C1652F"/>
          </a:solidFill>
          <a:ln/>
        </p:spPr>
      </p:sp>
      <p:sp>
        <p:nvSpPr>
          <p:cNvPr id="12" name="Text 10"/>
          <p:cNvSpPr/>
          <p:nvPr/>
        </p:nvSpPr>
        <p:spPr>
          <a:xfrm>
            <a:off x="1508760" y="3886200"/>
            <a:ext cx="9601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Procrastinação causando prejuízo funcional grave (perda de emprego, risco acadêmico real)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822960" y="4846320"/>
            <a:ext cx="10515600" cy="777240"/>
          </a:xfrm>
          <a:prstGeom prst="roundRect">
            <a:avLst>
              <a:gd name="adj" fmla="val 705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1051560" y="5093208"/>
            <a:ext cx="274320" cy="274320"/>
          </a:xfrm>
          <a:prstGeom prst="ellipse">
            <a:avLst/>
          </a:prstGeom>
          <a:solidFill>
            <a:srgbClr val="C1652F"/>
          </a:solidFill>
          <a:ln/>
        </p:spPr>
      </p:sp>
      <p:sp>
        <p:nvSpPr>
          <p:cNvPr id="15" name="Text 13"/>
          <p:cNvSpPr/>
          <p:nvPr/>
        </p:nvSpPr>
        <p:spPr>
          <a:xfrm>
            <a:off x="1508760" y="4846320"/>
            <a:ext cx="9601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Padrão pervasivo desde a infância/adolescência, em múltiplas áreas da vida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Procrastinação — Módulo 4.7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11274552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1228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82296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C16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RECAPITULANDO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777240" y="1188720"/>
            <a:ext cx="9144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leva desta aula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822960" y="2194560"/>
            <a:ext cx="886968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700" dirty="0">
                <a:solidFill>
                  <a:srgbClr val="E4E9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Procrastinar é o cérebro escolhendo alívio imediato — não é falta de caráter</a:t>
            </a:r>
            <a:endParaRPr lang="en-US" sz="17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700" dirty="0">
                <a:solidFill>
                  <a:srgbClr val="E4E9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 3 funções (evitação, estimulação, indecisão) direcionam qual técnica usar</a:t>
            </a:r>
            <a:endParaRPr lang="en-US" sz="17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700" dirty="0">
                <a:solidFill>
                  <a:srgbClr val="E4E9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GPS, EAO e ASRS cobrem traço geral, contexto específico e rastreio de TDAH</a:t>
            </a:r>
            <a:endParaRPr lang="en-US" sz="17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700" dirty="0">
                <a:solidFill>
                  <a:srgbClr val="E4E9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protocolo de 4 passos vai de psicoeducação a tolerância ao desconforto</a:t>
            </a:r>
            <a:endParaRPr lang="en-US" sz="1700" dirty="0"/>
          </a:p>
        </p:txBody>
      </p:sp>
      <p:sp>
        <p:nvSpPr>
          <p:cNvPr id="5" name="Shape 3"/>
          <p:cNvSpPr/>
          <p:nvPr/>
        </p:nvSpPr>
        <p:spPr>
          <a:xfrm>
            <a:off x="822960" y="4846320"/>
            <a:ext cx="8686800" cy="1051560"/>
          </a:xfrm>
          <a:prstGeom prst="roundRect">
            <a:avLst>
              <a:gd name="adj" fmla="val 6957"/>
            </a:avLst>
          </a:prstGeom>
          <a:solidFill>
            <a:srgbClr val="1A3350"/>
          </a:solidFill>
          <a:ln/>
        </p:spPr>
      </p:sp>
      <p:sp>
        <p:nvSpPr>
          <p:cNvPr id="6" name="Text 4"/>
          <p:cNvSpPr/>
          <p:nvPr/>
        </p:nvSpPr>
        <p:spPr>
          <a:xfrm>
            <a:off x="1097280" y="4846320"/>
            <a:ext cx="82296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D99A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Próximo: exercícios práticos e avaliação do Módulo 4.7 →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FA0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Procrastinação — Módulo 4.7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1274552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FA0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Procrastinação e Autorregulação — Da Neurociência ao Protocolo Clínico</dc:title>
  <dc:subject>PptxGenJS Presentation</dc:subject>
  <dc:creator>Dioclides</dc:creator>
  <cp:lastModifiedBy>Dioclides</cp:lastModifiedBy>
  <cp:revision>1</cp:revision>
  <dcterms:created xsi:type="dcterms:W3CDTF">2026-07-10T00:10:12Z</dcterms:created>
  <dcterms:modified xsi:type="dcterms:W3CDTF">2026-07-10T00:10:12Z</dcterms:modified>
</cp:coreProperties>
</file>