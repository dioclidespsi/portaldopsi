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2.3 · BLOCO 2 · AVALIAÇÃO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Avaliação Neuropsicológica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B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Atenção, memória e funções executivas: qual teste usar, e quando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908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Funções executivas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clínica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em Neurociência Aplicada à Psicoterapia — by Dioclides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DESTA AULA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anatomia de 5 passos, em todo protocolo do curso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4810" y="2240280"/>
            <a:ext cx="640080" cy="64008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45481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Atenção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 Making Test e Teste de Atenção Concentrada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82773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4623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1" name="Text 9"/>
          <p:cNvSpPr/>
          <p:nvPr/>
        </p:nvSpPr>
        <p:spPr>
          <a:xfrm>
            <a:off x="3614623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19933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Memória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65653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RAVLT e Figura Complexa de Rey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42586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4436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6" name="Text 14"/>
          <p:cNvSpPr/>
          <p:nvPr/>
        </p:nvSpPr>
        <p:spPr>
          <a:xfrm>
            <a:off x="577443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79746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Funções executivas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25466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WCST, Stroop e Torre de Londres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02398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34249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1" name="Text 19"/>
          <p:cNvSpPr/>
          <p:nvPr/>
        </p:nvSpPr>
        <p:spPr>
          <a:xfrm>
            <a:off x="7934249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39558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Aplicação e correção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85278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Padronização e uso de normas populacionais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62211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94062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6" name="Text 24"/>
          <p:cNvSpPr/>
          <p:nvPr/>
        </p:nvSpPr>
        <p:spPr>
          <a:xfrm>
            <a:off x="1009406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599371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Leitura clínica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45091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Interpretar o resultado no contexto, nunca isolado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Neuropsicológica — Módulo 2.3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Aplicar teste neuropsicológico não é passar o paciente por uma bateria genérica — é escolher o instrumento certo pra responder a uma pergunta clínica específica que a entrevista já levantou.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teste aplicado sem essa pergunta prévia (Módulo 2.1) tende a gerar dados difíceis de interpretar, mesmo quando tecnicamente bem aplicado.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Neuropsicológica — Módulo 2.3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funções-âncora e seus testes de referência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4023360"/>
          </a:xfrm>
          <a:prstGeom prst="ellipse">
            <a:avLst/>
          </a:prstGeom>
          <a:solidFill>
            <a:srgbClr val="EFE8D9"/>
          </a:solidFill>
          <a:ln w="25400">
            <a:solidFill>
              <a:srgbClr val="1228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47088" y="2576779"/>
            <a:ext cx="457200" cy="457200"/>
          </a:xfrm>
          <a:prstGeom prst="ellipse">
            <a:avLst/>
          </a:prstGeom>
          <a:solidFill>
            <a:srgbClr val="1228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9501" y="4186123"/>
            <a:ext cx="365760" cy="365760"/>
          </a:xfrm>
          <a:prstGeom prst="ellipse">
            <a:avLst/>
          </a:prstGeom>
          <a:solidFill>
            <a:srgbClr val="C165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95344" y="4105656"/>
            <a:ext cx="329184" cy="329184"/>
          </a:xfrm>
          <a:prstGeom prst="ellipse">
            <a:avLst/>
          </a:prstGeom>
          <a:solidFill>
            <a:srgbClr val="6376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92931" y="2657246"/>
            <a:ext cx="329184" cy="329184"/>
          </a:xfrm>
          <a:prstGeom prst="ellipse">
            <a:avLst/>
          </a:prstGeom>
          <a:solidFill>
            <a:srgbClr val="D99A7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947672"/>
            <a:ext cx="201168" cy="201168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 sustentada (Trail Making A, Teste de Atenção Concentrada)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450592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 verbal (RAVLT — aprendizagem e evocação)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953512"/>
            <a:ext cx="201168" cy="201168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Flexibilidade cognitiva (Wisconsin Card Sorting Test)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3456432"/>
            <a:ext cx="201168" cy="201168"/>
          </a:xfrm>
          <a:prstGeom prst="ellipse">
            <a:avLst/>
          </a:prstGeom>
          <a:solidFill>
            <a:srgbClr val="D99A73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inibitório (Stroop, Trail Making B)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1605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 sustentada é avaliada por tarefas de busca visual cronometradas, sensíveis a lentificação e desatenção.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 verbal é avaliada por listas de palavras com múltiplas tentativas de aprendizagem e evocação tardia.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Flexibilidade cognitiva e controle inibitório, ambos ligados ao córtex pré-frontal, são frequentemente os mais sensíveis a disfunção executiva sutil.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Neuropsicológica — Módulo 2.3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queixa cognitiva ao instrumento certo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Queixa relatada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7552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"Esqueço tudo", "não consigo focar", "me perco em decisões"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81528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84448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Hipótese de domínio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queixa aponta pra atenção, memória ou função executiva?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43016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45936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0528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Seleção do instrumento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0528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do teste específico que melhor testa essa hipótese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04504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107424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C1652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72016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Interpretação contextual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72016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lido junto com a anamnese, nunca isoladamente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Queixas de memória, por exemplo, frequentemente refletem problema de atenção primário — só o teste certo diferencia isso com precisão.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Neuropsicológica — Módulo 2.3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domínios e seus testes de referência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16836" y="1920240"/>
            <a:ext cx="822960" cy="82296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5" name="Text 3"/>
          <p:cNvSpPr/>
          <p:nvPr/>
        </p:nvSpPr>
        <p:spPr>
          <a:xfrm>
            <a:off x="92811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Atenção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099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 Making A, Teste de Atenção Concentrada (AC)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82996" y="1920240"/>
            <a:ext cx="822960" cy="82296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449427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Memória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7715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RAVLT, Figura Complexa de Rey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249156" y="1920240"/>
            <a:ext cx="822960" cy="822960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1" name="Text 9"/>
          <p:cNvSpPr/>
          <p:nvPr/>
        </p:nvSpPr>
        <p:spPr>
          <a:xfrm>
            <a:off x="806043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Funções executivas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4331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WCST, Stroop, Torre de Londres, Trail Making 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Muitos desses testes, na prática, avaliam mais de um domínio simultaneamente — a interpretação exige entender exatamente o que cada parte da tarefa mede.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Neuropsicológica — Módulo 2.3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Sinais que orientam qual domínio investigar primeiro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938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874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 de manter foco, distração fácil, erros por desatenção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79806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743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Esquecimento de compromissos, dificuldade de reter informação nova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66674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Funções executivas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611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 de planejar, de mudar de estratégia, impulsividade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53542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480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Combinado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44805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Queixas amplas e difusas geralmente exigem bateria com mais de um teste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Neuropsicológica — Módulo 2.3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Comprometimento real versus efeito situacional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Comprometimento neuropsicológico real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consistente, replicável, presente em múltiplos contextos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Pseudodemência depressiva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3064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Desempenho cognitivo reduzido por depressão grave, reversível com tratamento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4" name="Text 12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TDAH (Módulo 4.22)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4568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de atenção específico, pervasivo desde a infância, não situacional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Neuropsicológica — Módulo 2.3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· INSTRUMENTO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testes centrais, em detalhe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Trail Making Test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Partes A e B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mede atenção/velocidade; B acrescenta alternância, medindo flexibilidade.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3064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RAVLT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03064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Rey Auditory Verbal Learning Test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3064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palavras com tentativas repetidas, mede curva de aprendizagem e evocação tardia.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4568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WCST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54568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Wisconsin Card Sorting Test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54568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 flexibilidade cognitiva pela capacidade de mudar de regra sem instrução explícita.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Neuropsicológica — Módulo 2.3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seleção à interpretação: 4 passos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23644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723644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Selecionar 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certo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base na hipótese de domínio levantada na entrevista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4408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93692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4393692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84448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Padronizar 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21608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Seguir rigorosamente o manual — desvios comprometem a validade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34456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063740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7063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54496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Corrigir com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 adequada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91656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tabelas normativas compatíveis com idade e escolaridade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04504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733788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20" name="Text 18"/>
          <p:cNvSpPr/>
          <p:nvPr/>
        </p:nvSpPr>
        <p:spPr>
          <a:xfrm>
            <a:off x="9733788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24544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Interpretar em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61704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Cruzar resultado com anamnese e exame do estado mental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resultado numérico isolado, sem esse contexto completo, tem valor clínico limitado — o laudo neuropsicológico é sempre uma síntese, não uma pontuação solta.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Neuropsicológica — Módulo 2.3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1 e 2,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Selecionar o teste certo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Queixa de esquecimento: priorize RAVLT e Figura Complexa de Rey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Queixa de desorganização/impulsividade: priorize WCST, Stroop e Torre de Londres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Padronizar a aplicação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“Vamos fazer uma tarefa que vai te ajudar a entender melhor como sua atenção e memória estão funcionando agora.”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 exatamente as instruções do manual, sem improvisar instruções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o ambiente (ruído, interrupções) que pode afetar o desempenho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Neuropsicológica — Módulo 2.3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3 e 4,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Corrigir com norma adequada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sempre a tabela normativa compatível com idade e escolaridade do paciente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Escolaridade, em particular, afeta fortemente o desempenho em vários desses testes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Interpretar em contexto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Cruze o resultado numérico com a queixa original e o exame do estado mental (Módulo 2.1)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único teste abaixo da média não confirma, sozinho, um diagnóstico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Neuropsicológica — Módulo 2.3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paciente de 45 anos relata "esquecer tudo" nos últimos 3 meses, coincidindo com um quadro de humor deprimido significativo, insônia e perda de interesse generalizada. Ela nunca teve queixas cognitivas antes desse período.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Discussão guiada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hipótese diagnóstica alternativa (não neuropsicológica) deveria ser investigada antes de aplicar uma bateria extensa?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testes você aplicaria, e por quê, se ainda assim decidisse avaliar formalmente?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interpretação do resultado mudaria dependendo se a queixa fosse presente desde a infância, em vez de recente?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Neuropsicológica — Módulo 2.3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 · ENCAMINHAMENTO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isso não basta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1284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9659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de comprometimento consistente com causa neurológica (não apenas psiquiátrica): encaminhar pra avaliação médica/neurológica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317296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29260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Suspeita de pseudodemência depressiva: tratar o quadro depressivo antes de reavaliar cognitivamente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413308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3886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pervasivo desde a infância: considerar avaliação formal de TDAH (Módulo 4.22) ou TEA (Módulo 4.27)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84632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509320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48463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inconsistente com o relato funcional do dia a dia: investigar fatores situacionais antes de fechar conclusão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Neuropsicológica — Módulo 2.3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 desta aula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8869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teste responde a uma pergunta clínica específica — a escolha do instrumento parte da hipótese levantada na entrevista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Atenção, memória e funções executivas são os 3 domínios centrais, cada um com testes de referência próprios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Padronização de aplicação e uso de norma adequada são essenciais pra validade do resultado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resultado numérico só ganha significado clínico quando interpretado junto com a anamnese e o exame do estado mental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8686800" cy="1051560"/>
          </a:xfrm>
          <a:prstGeom prst="roundRect">
            <a:avLst>
              <a:gd name="adj" fmla="val 6957"/>
            </a:avLst>
          </a:prstGeom>
          <a:solidFill>
            <a:srgbClr val="1A335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846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Próximo: exercícios práticos e avaliação do Módulo 2.3 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Neuropsicológica — Módulo 2.3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Avaliação Neuropsicológica: Atenção, Memória e Funções Executivas — Testes Reais para Cada Domínio Cognitivo</dc:title>
  <dc:subject>PptxGenJS Presentation</dc:subject>
  <dc:creator>Dioclides</dc:creator>
  <cp:lastModifiedBy>Dioclides</cp:lastModifiedBy>
  <cp:revision>1</cp:revision>
  <dcterms:created xsi:type="dcterms:W3CDTF">2026-07-10T03:09:42Z</dcterms:created>
  <dcterms:modified xsi:type="dcterms:W3CDTF">2026-07-10T03:09:42Z</dcterms:modified>
</cp:coreProperties>
</file>