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83D"/>
        </a:solidFill>
      </p:bgPr>
    </p:bg>
    <p:spTree>
      <p:nvGrpSpPr>
        <p:cNvPr id="1" name=""/>
        <p:cNvGrpSpPr/>
        <p:nvPr/>
      </p:nvGrpSpPr>
      <p:grpSpPr>
        <a:xfrm>
          <a:off x="0" y="0"/>
          <a:ext cx="0" cy="0"/>
          <a:chOff x="0" y="0"/>
          <a:chExt cx="0" cy="0"/>
        </a:xfrm>
      </p:grpSpPr>
      <p:sp>
        <p:nvSpPr>
          <p:cNvPr id="2" name="Text 0"/>
          <p:cNvSpPr/>
          <p:nvPr/>
        </p:nvSpPr>
        <p:spPr>
          <a:xfrm>
            <a:off x="822960" y="1371600"/>
            <a:ext cx="9144000" cy="274320"/>
          </a:xfrm>
          <a:prstGeom prst="rect">
            <a:avLst/>
          </a:prstGeom>
          <a:noFill/>
          <a:ln/>
        </p:spPr>
        <p:txBody>
          <a:bodyPr wrap="square" lIns="0" tIns="0" rIns="0" bIns="0" rtlCol="0" anchor="ctr"/>
          <a:lstStyle/>
          <a:p>
            <a:pPr indent="0" marL="0">
              <a:buNone/>
            </a:pPr>
            <a:r>
              <a:rPr lang="en-US" sz="1100" b="1" spc="200" kern="0" dirty="0">
                <a:solidFill>
                  <a:srgbClr val="C1652F"/>
                </a:solidFill>
                <a:latin typeface="Calibri" pitchFamily="34" charset="0"/>
                <a:ea typeface="Calibri" pitchFamily="34" charset="-122"/>
                <a:cs typeface="Calibri" pitchFamily="34" charset="-120"/>
              </a:rPr>
              <a:t>MÓDULO 4.27 · PROTOCOLOS CLÍNICOS</a:t>
            </a:r>
            <a:endParaRPr lang="en-US" sz="1100" dirty="0"/>
          </a:p>
        </p:txBody>
      </p:sp>
      <p:sp>
        <p:nvSpPr>
          <p:cNvPr id="3" name="Text 1"/>
          <p:cNvSpPr/>
          <p:nvPr/>
        </p:nvSpPr>
        <p:spPr>
          <a:xfrm>
            <a:off x="777240" y="1737360"/>
            <a:ext cx="10058400" cy="1280160"/>
          </a:xfrm>
          <a:prstGeom prst="rect">
            <a:avLst/>
          </a:prstGeom>
          <a:noFill/>
          <a:ln/>
        </p:spPr>
        <p:txBody>
          <a:bodyPr wrap="square" lIns="0" tIns="0" rIns="0" bIns="0" rtlCol="0" anchor="ctr"/>
          <a:lstStyle/>
          <a:p>
            <a:pPr indent="0" marL="0">
              <a:buNone/>
            </a:pPr>
            <a:r>
              <a:rPr lang="en-US" sz="5600" b="1" dirty="0">
                <a:solidFill>
                  <a:srgbClr val="FFFFFF"/>
                </a:solidFill>
                <a:latin typeface="Cambria" pitchFamily="34" charset="0"/>
                <a:ea typeface="Cambria" pitchFamily="34" charset="-122"/>
                <a:cs typeface="Cambria" pitchFamily="34" charset="-120"/>
              </a:rPr>
              <a:t>TEA em Adultos</a:t>
            </a:r>
            <a:endParaRPr lang="en-US" sz="5600" dirty="0"/>
          </a:p>
        </p:txBody>
      </p:sp>
      <p:sp>
        <p:nvSpPr>
          <p:cNvPr id="4" name="Text 2"/>
          <p:cNvSpPr/>
          <p:nvPr/>
        </p:nvSpPr>
        <p:spPr>
          <a:xfrm>
            <a:off x="822960" y="2880360"/>
            <a:ext cx="9601200" cy="640080"/>
          </a:xfrm>
          <a:prstGeom prst="rect">
            <a:avLst/>
          </a:prstGeom>
          <a:noFill/>
          <a:ln/>
        </p:spPr>
        <p:txBody>
          <a:bodyPr wrap="square" lIns="0" tIns="0" rIns="0" bIns="0" rtlCol="0" anchor="ctr"/>
          <a:lstStyle/>
          <a:p>
            <a:pPr indent="0" marL="0">
              <a:buNone/>
            </a:pPr>
            <a:r>
              <a:rPr lang="en-US" sz="2100" dirty="0">
                <a:solidFill>
                  <a:srgbClr val="CBD8E5"/>
                </a:solidFill>
                <a:latin typeface="Calibri" pitchFamily="34" charset="0"/>
                <a:ea typeface="Calibri" pitchFamily="34" charset="-122"/>
                <a:cs typeface="Calibri" pitchFamily="34" charset="-120"/>
              </a:rPr>
              <a:t>Uma diferença de processamento, não um déficit a corrigir</a:t>
            </a:r>
            <a:endParaRPr lang="en-US" sz="2100" dirty="0"/>
          </a:p>
        </p:txBody>
      </p:sp>
      <p:sp>
        <p:nvSpPr>
          <p:cNvPr id="5" name="Shape 3"/>
          <p:cNvSpPr/>
          <p:nvPr/>
        </p:nvSpPr>
        <p:spPr>
          <a:xfrm>
            <a:off x="822960" y="4160520"/>
            <a:ext cx="384048" cy="384048"/>
          </a:xfrm>
          <a:prstGeom prst="ellipse">
            <a:avLst/>
          </a:prstGeom>
          <a:solidFill>
            <a:srgbClr val="C1652F"/>
          </a:solidFill>
          <a:ln/>
        </p:spPr>
      </p:sp>
      <p:sp>
        <p:nvSpPr>
          <p:cNvPr id="6" name="Text 4"/>
          <p:cNvSpPr/>
          <p:nvPr/>
        </p:nvSpPr>
        <p:spPr>
          <a:xfrm>
            <a:off x="822960" y="41605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502920" y="4617720"/>
            <a:ext cx="1783080" cy="365760"/>
          </a:xfrm>
          <a:prstGeom prst="rect">
            <a:avLst/>
          </a:prstGeom>
          <a:noFill/>
          <a:ln/>
        </p:spPr>
        <p:txBody>
          <a:bodyPr wrap="square" lIns="0" tIns="0" rIns="0" bIns="0" rtlCol="0" anchor="ctr"/>
          <a:lstStyle/>
          <a:p>
            <a:pPr algn="ctr" indent="0" marL="0">
              <a:buNone/>
            </a:pPr>
            <a:r>
              <a:rPr lang="en-US" sz="1000" dirty="0">
                <a:solidFill>
                  <a:srgbClr val="AEBFD1"/>
                </a:solidFill>
                <a:latin typeface="Calibri" pitchFamily="34" charset="0"/>
                <a:ea typeface="Calibri" pitchFamily="34" charset="-122"/>
                <a:cs typeface="Calibri" pitchFamily="34" charset="-120"/>
              </a:rPr>
              <a:t>Mecanismo</a:t>
            </a:r>
            <a:endParaRPr lang="en-US" sz="1000" dirty="0"/>
          </a:p>
        </p:txBody>
      </p:sp>
      <p:sp>
        <p:nvSpPr>
          <p:cNvPr id="8" name="Shape 6"/>
          <p:cNvSpPr/>
          <p:nvPr/>
        </p:nvSpPr>
        <p:spPr>
          <a:xfrm>
            <a:off x="2606040" y="4160520"/>
            <a:ext cx="384048" cy="384048"/>
          </a:xfrm>
          <a:prstGeom prst="ellipse">
            <a:avLst/>
          </a:prstGeom>
          <a:solidFill>
            <a:srgbClr val="1A3350"/>
          </a:solidFill>
          <a:ln/>
        </p:spPr>
      </p:sp>
      <p:sp>
        <p:nvSpPr>
          <p:cNvPr id="9" name="Text 7"/>
          <p:cNvSpPr/>
          <p:nvPr/>
        </p:nvSpPr>
        <p:spPr>
          <a:xfrm>
            <a:off x="2606040" y="41605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0" name="Text 8"/>
          <p:cNvSpPr/>
          <p:nvPr/>
        </p:nvSpPr>
        <p:spPr>
          <a:xfrm>
            <a:off x="2286000" y="4617720"/>
            <a:ext cx="1783080" cy="365760"/>
          </a:xfrm>
          <a:prstGeom prst="rect">
            <a:avLst/>
          </a:prstGeom>
          <a:noFill/>
          <a:ln/>
        </p:spPr>
        <p:txBody>
          <a:bodyPr wrap="square" lIns="0" tIns="0" rIns="0" bIns="0" rtlCol="0" anchor="ctr"/>
          <a:lstStyle/>
          <a:p>
            <a:pPr algn="ctr" indent="0" marL="0">
              <a:buNone/>
            </a:pPr>
            <a:r>
              <a:rPr lang="en-US" sz="1000" dirty="0">
                <a:solidFill>
                  <a:srgbClr val="AEBFD1"/>
                </a:solidFill>
                <a:latin typeface="Calibri" pitchFamily="34" charset="0"/>
                <a:ea typeface="Calibri" pitchFamily="34" charset="-122"/>
                <a:cs typeface="Calibri" pitchFamily="34" charset="-120"/>
              </a:rPr>
              <a:t>Sinais</a:t>
            </a:r>
            <a:endParaRPr lang="en-US" sz="1000" dirty="0"/>
          </a:p>
        </p:txBody>
      </p:sp>
      <p:sp>
        <p:nvSpPr>
          <p:cNvPr id="11" name="Shape 9"/>
          <p:cNvSpPr/>
          <p:nvPr/>
        </p:nvSpPr>
        <p:spPr>
          <a:xfrm>
            <a:off x="4389120" y="4160520"/>
            <a:ext cx="384048" cy="384048"/>
          </a:xfrm>
          <a:prstGeom prst="ellipse">
            <a:avLst/>
          </a:prstGeom>
          <a:solidFill>
            <a:srgbClr val="1A3350"/>
          </a:solidFill>
          <a:ln/>
        </p:spPr>
      </p:sp>
      <p:sp>
        <p:nvSpPr>
          <p:cNvPr id="12" name="Text 10"/>
          <p:cNvSpPr/>
          <p:nvPr/>
        </p:nvSpPr>
        <p:spPr>
          <a:xfrm>
            <a:off x="4389120" y="41605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3" name="Text 11"/>
          <p:cNvSpPr/>
          <p:nvPr/>
        </p:nvSpPr>
        <p:spPr>
          <a:xfrm>
            <a:off x="4069080" y="4617720"/>
            <a:ext cx="1783080" cy="365760"/>
          </a:xfrm>
          <a:prstGeom prst="rect">
            <a:avLst/>
          </a:prstGeom>
          <a:noFill/>
          <a:ln/>
        </p:spPr>
        <p:txBody>
          <a:bodyPr wrap="square" lIns="0" tIns="0" rIns="0" bIns="0" rtlCol="0" anchor="ctr"/>
          <a:lstStyle/>
          <a:p>
            <a:pPr algn="ctr" indent="0" marL="0">
              <a:buNone/>
            </a:pPr>
            <a:r>
              <a:rPr lang="en-US" sz="1000" dirty="0">
                <a:solidFill>
                  <a:srgbClr val="AEBFD1"/>
                </a:solidFill>
                <a:latin typeface="Calibri" pitchFamily="34" charset="0"/>
                <a:ea typeface="Calibri" pitchFamily="34" charset="-122"/>
                <a:cs typeface="Calibri" pitchFamily="34" charset="-120"/>
              </a:rPr>
              <a:t>Instrumento</a:t>
            </a:r>
            <a:endParaRPr lang="en-US" sz="1000" dirty="0"/>
          </a:p>
        </p:txBody>
      </p:sp>
      <p:sp>
        <p:nvSpPr>
          <p:cNvPr id="14" name="Shape 12"/>
          <p:cNvSpPr/>
          <p:nvPr/>
        </p:nvSpPr>
        <p:spPr>
          <a:xfrm>
            <a:off x="6172200" y="4160520"/>
            <a:ext cx="384048" cy="384048"/>
          </a:xfrm>
          <a:prstGeom prst="ellipse">
            <a:avLst/>
          </a:prstGeom>
          <a:solidFill>
            <a:srgbClr val="1A3350"/>
          </a:solidFill>
          <a:ln/>
        </p:spPr>
      </p:sp>
      <p:sp>
        <p:nvSpPr>
          <p:cNvPr id="15" name="Text 13"/>
          <p:cNvSpPr/>
          <p:nvPr/>
        </p:nvSpPr>
        <p:spPr>
          <a:xfrm>
            <a:off x="6172200" y="41605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6" name="Text 14"/>
          <p:cNvSpPr/>
          <p:nvPr/>
        </p:nvSpPr>
        <p:spPr>
          <a:xfrm>
            <a:off x="5852160" y="4617720"/>
            <a:ext cx="1783080" cy="365760"/>
          </a:xfrm>
          <a:prstGeom prst="rect">
            <a:avLst/>
          </a:prstGeom>
          <a:noFill/>
          <a:ln/>
        </p:spPr>
        <p:txBody>
          <a:bodyPr wrap="square" lIns="0" tIns="0" rIns="0" bIns="0" rtlCol="0" anchor="ctr"/>
          <a:lstStyle/>
          <a:p>
            <a:pPr algn="ctr" indent="0" marL="0">
              <a:buNone/>
            </a:pPr>
            <a:r>
              <a:rPr lang="en-US" sz="1000" dirty="0">
                <a:solidFill>
                  <a:srgbClr val="AEBFD1"/>
                </a:solidFill>
                <a:latin typeface="Calibri" pitchFamily="34" charset="0"/>
                <a:ea typeface="Calibri" pitchFamily="34" charset="-122"/>
                <a:cs typeface="Calibri" pitchFamily="34" charset="-120"/>
              </a:rPr>
              <a:t>Manejo</a:t>
            </a:r>
            <a:endParaRPr lang="en-US" sz="1000" dirty="0"/>
          </a:p>
        </p:txBody>
      </p:sp>
      <p:sp>
        <p:nvSpPr>
          <p:cNvPr id="17" name="Shape 15"/>
          <p:cNvSpPr/>
          <p:nvPr/>
        </p:nvSpPr>
        <p:spPr>
          <a:xfrm>
            <a:off x="7955280" y="4160520"/>
            <a:ext cx="384048" cy="384048"/>
          </a:xfrm>
          <a:prstGeom prst="ellipse">
            <a:avLst/>
          </a:prstGeom>
          <a:solidFill>
            <a:srgbClr val="1A3350"/>
          </a:solidFill>
          <a:ln/>
        </p:spPr>
      </p:sp>
      <p:sp>
        <p:nvSpPr>
          <p:cNvPr id="18" name="Text 16"/>
          <p:cNvSpPr/>
          <p:nvPr/>
        </p:nvSpPr>
        <p:spPr>
          <a:xfrm>
            <a:off x="7955280" y="41605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19" name="Text 17"/>
          <p:cNvSpPr/>
          <p:nvPr/>
        </p:nvSpPr>
        <p:spPr>
          <a:xfrm>
            <a:off x="7635240" y="4617720"/>
            <a:ext cx="1783080" cy="365760"/>
          </a:xfrm>
          <a:prstGeom prst="rect">
            <a:avLst/>
          </a:prstGeom>
          <a:noFill/>
          <a:ln/>
        </p:spPr>
        <p:txBody>
          <a:bodyPr wrap="square" lIns="0" tIns="0" rIns="0" bIns="0" rtlCol="0" anchor="ctr"/>
          <a:lstStyle/>
          <a:p>
            <a:pPr algn="ctr" indent="0" marL="0">
              <a:buNone/>
            </a:pPr>
            <a:r>
              <a:rPr lang="en-US" sz="1000" dirty="0">
                <a:solidFill>
                  <a:srgbClr val="AEBFD1"/>
                </a:solidFill>
                <a:latin typeface="Calibri" pitchFamily="34" charset="0"/>
                <a:ea typeface="Calibri" pitchFamily="34" charset="-122"/>
                <a:cs typeface="Calibri" pitchFamily="34" charset="-120"/>
              </a:rPr>
              <a:t>Encaminhamento</a:t>
            </a:r>
            <a:endParaRPr lang="en-US" sz="1000" dirty="0"/>
          </a:p>
        </p:txBody>
      </p:sp>
      <p:sp>
        <p:nvSpPr>
          <p:cNvPr id="20" name="Text 18"/>
          <p:cNvSpPr/>
          <p:nvPr/>
        </p:nvSpPr>
        <p:spPr>
          <a:xfrm>
            <a:off x="822960" y="6035040"/>
            <a:ext cx="9144000" cy="320040"/>
          </a:xfrm>
          <a:prstGeom prst="rect">
            <a:avLst/>
          </a:prstGeom>
          <a:noFill/>
          <a:ln/>
        </p:spPr>
        <p:txBody>
          <a:bodyPr wrap="square" lIns="0" tIns="0" rIns="0" bIns="0" rtlCol="0" anchor="ctr"/>
          <a:lstStyle/>
          <a:p>
            <a:pPr indent="0" marL="0">
              <a:buNone/>
            </a:pPr>
            <a:r>
              <a:rPr lang="en-US" sz="1100" dirty="0">
                <a:solidFill>
                  <a:srgbClr val="7E93A8"/>
                </a:solidFill>
                <a:latin typeface="Calibri" pitchFamily="34" charset="0"/>
                <a:ea typeface="Calibri" pitchFamily="34" charset="-122"/>
                <a:cs typeface="Calibri" pitchFamily="34" charset="-120"/>
              </a:rPr>
              <a:t>Formação em Neurociência Aplicada à Psicoterapia — by Dioclides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50292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ROTEIRO DESTA AULA</a:t>
            </a:r>
            <a:endParaRPr lang="en-US" sz="1100" dirty="0"/>
          </a:p>
        </p:txBody>
      </p:sp>
      <p:sp>
        <p:nvSpPr>
          <p:cNvPr id="3" name="Text 1"/>
          <p:cNvSpPr/>
          <p:nvPr/>
        </p:nvSpPr>
        <p:spPr>
          <a:xfrm>
            <a:off x="777240" y="777240"/>
            <a:ext cx="10058400" cy="685800"/>
          </a:xfrm>
          <a:prstGeom prst="rect">
            <a:avLst/>
          </a:prstGeom>
          <a:noFill/>
          <a:ln/>
        </p:spPr>
        <p:txBody>
          <a:bodyPr wrap="square" lIns="0" tIns="0" rIns="0" bIns="0" rtlCol="0" anchor="ctr"/>
          <a:lstStyle/>
          <a:p>
            <a:pPr indent="0" marL="0">
              <a:buNone/>
            </a:pPr>
            <a:r>
              <a:rPr lang="en-US" sz="2800" b="1" dirty="0">
                <a:solidFill>
                  <a:srgbClr val="12283D"/>
                </a:solidFill>
                <a:latin typeface="Cambria" pitchFamily="34" charset="0"/>
                <a:ea typeface="Cambria" pitchFamily="34" charset="-122"/>
                <a:cs typeface="Cambria" pitchFamily="34" charset="-120"/>
              </a:rPr>
              <a:t>A mesma anatomia de 5 passos, em todo protocolo do curso</a:t>
            </a:r>
            <a:endParaRPr lang="en-US" sz="2800" dirty="0"/>
          </a:p>
        </p:txBody>
      </p:sp>
      <p:sp>
        <p:nvSpPr>
          <p:cNvPr id="4" name="Shape 2"/>
          <p:cNvSpPr/>
          <p:nvPr/>
        </p:nvSpPr>
        <p:spPr>
          <a:xfrm>
            <a:off x="822960" y="1920240"/>
            <a:ext cx="1903781" cy="3383280"/>
          </a:xfrm>
          <a:prstGeom prst="roundRect">
            <a:avLst>
              <a:gd name="adj" fmla="val 4803"/>
            </a:avLst>
          </a:prstGeom>
          <a:solidFill>
            <a:srgbClr val="FFFFFF"/>
          </a:solidFill>
          <a:ln/>
          <a:effectLst>
            <a:outerShdw sx="100000" sy="100000" kx="0" ky="0" algn="bl" rotWithShape="0" blurRad="101600" dist="38100" dir="2700000">
              <a:srgbClr val="000000">
                <a:alpha val="12000"/>
              </a:srgbClr>
            </a:outerShdw>
          </a:effectLst>
        </p:spPr>
      </p:sp>
      <p:sp>
        <p:nvSpPr>
          <p:cNvPr id="5" name="Shape 3"/>
          <p:cNvSpPr/>
          <p:nvPr/>
        </p:nvSpPr>
        <p:spPr>
          <a:xfrm>
            <a:off x="1454810" y="2240280"/>
            <a:ext cx="640080" cy="640080"/>
          </a:xfrm>
          <a:prstGeom prst="ellipse">
            <a:avLst/>
          </a:prstGeom>
          <a:solidFill>
            <a:srgbClr val="C1652F"/>
          </a:solidFill>
          <a:ln/>
        </p:spPr>
      </p:sp>
      <p:sp>
        <p:nvSpPr>
          <p:cNvPr id="6" name="Text 4"/>
          <p:cNvSpPr/>
          <p:nvPr/>
        </p:nvSpPr>
        <p:spPr>
          <a:xfrm>
            <a:off x="1454810" y="22402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7" name="Text 5"/>
          <p:cNvSpPr/>
          <p:nvPr/>
        </p:nvSpPr>
        <p:spPr>
          <a:xfrm>
            <a:off x="960120" y="3063240"/>
            <a:ext cx="1629461" cy="548640"/>
          </a:xfrm>
          <a:prstGeom prst="rect">
            <a:avLst/>
          </a:prstGeom>
          <a:noFill/>
          <a:ln/>
        </p:spPr>
        <p:txBody>
          <a:bodyPr wrap="square" lIns="0" tIns="0" rIns="0" bIns="0" rtlCol="0" anchor="ctr"/>
          <a:lstStyle/>
          <a:p>
            <a:pPr algn="ctr" indent="0" marL="0">
              <a:buNone/>
            </a:pPr>
            <a:r>
              <a:rPr lang="en-US" sz="1500" b="1" dirty="0">
                <a:solidFill>
                  <a:srgbClr val="12283D"/>
                </a:solidFill>
                <a:latin typeface="Cambria" pitchFamily="34" charset="0"/>
                <a:ea typeface="Cambria" pitchFamily="34" charset="-122"/>
                <a:cs typeface="Cambria" pitchFamily="34" charset="-120"/>
              </a:rPr>
              <a:t>Mecanismo</a:t>
            </a:r>
            <a:endParaRPr lang="en-US" sz="1500" dirty="0"/>
          </a:p>
        </p:txBody>
      </p:sp>
      <p:sp>
        <p:nvSpPr>
          <p:cNvPr id="8" name="Text 6"/>
          <p:cNvSpPr/>
          <p:nvPr/>
        </p:nvSpPr>
        <p:spPr>
          <a:xfrm>
            <a:off x="1005840" y="3611880"/>
            <a:ext cx="1538021" cy="1463040"/>
          </a:xfrm>
          <a:prstGeom prst="rect">
            <a:avLst/>
          </a:prstGeom>
          <a:noFill/>
          <a:ln/>
        </p:spPr>
        <p:txBody>
          <a:bodyPr wrap="square" lIns="0" tIns="0" rIns="0" bIns="0" rtlCol="0" anchor="ctr"/>
          <a:lstStyle/>
          <a:p>
            <a:pPr algn="ctr" indent="0" marL="0">
              <a:buNone/>
            </a:pPr>
            <a:r>
              <a:rPr lang="en-US" sz="1100" dirty="0">
                <a:solidFill>
                  <a:srgbClr val="6B6153"/>
                </a:solidFill>
                <a:latin typeface="Calibri" pitchFamily="34" charset="0"/>
                <a:ea typeface="Calibri" pitchFamily="34" charset="-122"/>
                <a:cs typeface="Calibri" pitchFamily="34" charset="-120"/>
              </a:rPr>
              <a:t>Como o cérebro autista processa o mundo de forma diferente</a:t>
            </a:r>
            <a:endParaRPr lang="en-US" sz="1100" dirty="0"/>
          </a:p>
        </p:txBody>
      </p:sp>
      <p:sp>
        <p:nvSpPr>
          <p:cNvPr id="9" name="Shape 7"/>
          <p:cNvSpPr/>
          <p:nvPr/>
        </p:nvSpPr>
        <p:spPr>
          <a:xfrm>
            <a:off x="2982773" y="1920240"/>
            <a:ext cx="1903781" cy="3383280"/>
          </a:xfrm>
          <a:prstGeom prst="roundRect">
            <a:avLst>
              <a:gd name="adj" fmla="val 4803"/>
            </a:avLst>
          </a:prstGeom>
          <a:solidFill>
            <a:srgbClr val="FFFFFF"/>
          </a:solidFill>
          <a:ln/>
          <a:effectLst>
            <a:outerShdw sx="100000" sy="100000" kx="0" ky="0" algn="bl" rotWithShape="0" blurRad="101600" dist="38100" dir="2700000">
              <a:srgbClr val="000000">
                <a:alpha val="12000"/>
              </a:srgbClr>
            </a:outerShdw>
          </a:effectLst>
        </p:spPr>
      </p:sp>
      <p:sp>
        <p:nvSpPr>
          <p:cNvPr id="10" name="Shape 8"/>
          <p:cNvSpPr/>
          <p:nvPr/>
        </p:nvSpPr>
        <p:spPr>
          <a:xfrm>
            <a:off x="3614623" y="2240280"/>
            <a:ext cx="640080" cy="640080"/>
          </a:xfrm>
          <a:prstGeom prst="ellipse">
            <a:avLst/>
          </a:prstGeom>
          <a:solidFill>
            <a:srgbClr val="12283D"/>
          </a:solidFill>
          <a:ln/>
        </p:spPr>
      </p:sp>
      <p:sp>
        <p:nvSpPr>
          <p:cNvPr id="11" name="Text 9"/>
          <p:cNvSpPr/>
          <p:nvPr/>
        </p:nvSpPr>
        <p:spPr>
          <a:xfrm>
            <a:off x="3614623" y="22402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Text 10"/>
          <p:cNvSpPr/>
          <p:nvPr/>
        </p:nvSpPr>
        <p:spPr>
          <a:xfrm>
            <a:off x="3119933" y="3063240"/>
            <a:ext cx="1629461" cy="548640"/>
          </a:xfrm>
          <a:prstGeom prst="rect">
            <a:avLst/>
          </a:prstGeom>
          <a:noFill/>
          <a:ln/>
        </p:spPr>
        <p:txBody>
          <a:bodyPr wrap="square" lIns="0" tIns="0" rIns="0" bIns="0" rtlCol="0" anchor="ctr"/>
          <a:lstStyle/>
          <a:p>
            <a:pPr algn="ctr" indent="0" marL="0">
              <a:buNone/>
            </a:pPr>
            <a:r>
              <a:rPr lang="en-US" sz="1500" b="1" dirty="0">
                <a:solidFill>
                  <a:srgbClr val="12283D"/>
                </a:solidFill>
                <a:latin typeface="Cambria" pitchFamily="34" charset="0"/>
                <a:ea typeface="Cambria" pitchFamily="34" charset="-122"/>
                <a:cs typeface="Cambria" pitchFamily="34" charset="-120"/>
              </a:rPr>
              <a:t>Sinais</a:t>
            </a:r>
            <a:endParaRPr lang="en-US" sz="1500" dirty="0"/>
          </a:p>
        </p:txBody>
      </p:sp>
      <p:sp>
        <p:nvSpPr>
          <p:cNvPr id="13" name="Text 11"/>
          <p:cNvSpPr/>
          <p:nvPr/>
        </p:nvSpPr>
        <p:spPr>
          <a:xfrm>
            <a:off x="3165653" y="3611880"/>
            <a:ext cx="1538021" cy="1463040"/>
          </a:xfrm>
          <a:prstGeom prst="rect">
            <a:avLst/>
          </a:prstGeom>
          <a:noFill/>
          <a:ln/>
        </p:spPr>
        <p:txBody>
          <a:bodyPr wrap="square" lIns="0" tIns="0" rIns="0" bIns="0" rtlCol="0" anchor="ctr"/>
          <a:lstStyle/>
          <a:p>
            <a:pPr algn="ctr" indent="0" marL="0">
              <a:buNone/>
            </a:pPr>
            <a:r>
              <a:rPr lang="en-US" sz="1100" dirty="0">
                <a:solidFill>
                  <a:srgbClr val="6B6153"/>
                </a:solidFill>
                <a:latin typeface="Calibri" pitchFamily="34" charset="0"/>
                <a:ea typeface="Calibri" pitchFamily="34" charset="-122"/>
                <a:cs typeface="Calibri" pitchFamily="34" charset="-120"/>
              </a:rPr>
              <a:t>Por que o diagnóstico em adultos costuma vir tarde</a:t>
            </a:r>
            <a:endParaRPr lang="en-US" sz="1100" dirty="0"/>
          </a:p>
        </p:txBody>
      </p:sp>
      <p:sp>
        <p:nvSpPr>
          <p:cNvPr id="14" name="Shape 12"/>
          <p:cNvSpPr/>
          <p:nvPr/>
        </p:nvSpPr>
        <p:spPr>
          <a:xfrm>
            <a:off x="5142586" y="1920240"/>
            <a:ext cx="1903781" cy="3383280"/>
          </a:xfrm>
          <a:prstGeom prst="roundRect">
            <a:avLst>
              <a:gd name="adj" fmla="val 4803"/>
            </a:avLst>
          </a:prstGeom>
          <a:solidFill>
            <a:srgbClr val="FFFFFF"/>
          </a:solidFill>
          <a:ln/>
          <a:effectLst>
            <a:outerShdw sx="100000" sy="100000" kx="0" ky="0" algn="bl" rotWithShape="0" blurRad="101600" dist="38100" dir="2700000">
              <a:srgbClr val="000000">
                <a:alpha val="12000"/>
              </a:srgbClr>
            </a:outerShdw>
          </a:effectLst>
        </p:spPr>
      </p:sp>
      <p:sp>
        <p:nvSpPr>
          <p:cNvPr id="15" name="Shape 13"/>
          <p:cNvSpPr/>
          <p:nvPr/>
        </p:nvSpPr>
        <p:spPr>
          <a:xfrm>
            <a:off x="5774436" y="2240280"/>
            <a:ext cx="640080" cy="640080"/>
          </a:xfrm>
          <a:prstGeom prst="ellipse">
            <a:avLst/>
          </a:prstGeom>
          <a:solidFill>
            <a:srgbClr val="12283D"/>
          </a:solidFill>
          <a:ln/>
        </p:spPr>
      </p:sp>
      <p:sp>
        <p:nvSpPr>
          <p:cNvPr id="16" name="Text 14"/>
          <p:cNvSpPr/>
          <p:nvPr/>
        </p:nvSpPr>
        <p:spPr>
          <a:xfrm>
            <a:off x="5774436" y="22402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7" name="Text 15"/>
          <p:cNvSpPr/>
          <p:nvPr/>
        </p:nvSpPr>
        <p:spPr>
          <a:xfrm>
            <a:off x="5279746" y="3063240"/>
            <a:ext cx="1629461" cy="548640"/>
          </a:xfrm>
          <a:prstGeom prst="rect">
            <a:avLst/>
          </a:prstGeom>
          <a:noFill/>
          <a:ln/>
        </p:spPr>
        <p:txBody>
          <a:bodyPr wrap="square" lIns="0" tIns="0" rIns="0" bIns="0" rtlCol="0" anchor="ctr"/>
          <a:lstStyle/>
          <a:p>
            <a:pPr algn="ctr" indent="0" marL="0">
              <a:buNone/>
            </a:pPr>
            <a:r>
              <a:rPr lang="en-US" sz="1500" b="1" dirty="0">
                <a:solidFill>
                  <a:srgbClr val="12283D"/>
                </a:solidFill>
                <a:latin typeface="Cambria" pitchFamily="34" charset="0"/>
                <a:ea typeface="Cambria" pitchFamily="34" charset="-122"/>
                <a:cs typeface="Cambria" pitchFamily="34" charset="-120"/>
              </a:rPr>
              <a:t>Instrumento</a:t>
            </a:r>
            <a:endParaRPr lang="en-US" sz="1500" dirty="0"/>
          </a:p>
        </p:txBody>
      </p:sp>
      <p:sp>
        <p:nvSpPr>
          <p:cNvPr id="18" name="Text 16"/>
          <p:cNvSpPr/>
          <p:nvPr/>
        </p:nvSpPr>
        <p:spPr>
          <a:xfrm>
            <a:off x="5325466" y="3611880"/>
            <a:ext cx="1538021" cy="1463040"/>
          </a:xfrm>
          <a:prstGeom prst="rect">
            <a:avLst/>
          </a:prstGeom>
          <a:noFill/>
          <a:ln/>
        </p:spPr>
        <p:txBody>
          <a:bodyPr wrap="square" lIns="0" tIns="0" rIns="0" bIns="0" rtlCol="0" anchor="ctr"/>
          <a:lstStyle/>
          <a:p>
            <a:pPr algn="ctr" indent="0" marL="0">
              <a:buNone/>
            </a:pPr>
            <a:r>
              <a:rPr lang="en-US" sz="1100" dirty="0">
                <a:solidFill>
                  <a:srgbClr val="6B6153"/>
                </a:solidFill>
                <a:latin typeface="Calibri" pitchFamily="34" charset="0"/>
                <a:ea typeface="Calibri" pitchFamily="34" charset="-122"/>
                <a:cs typeface="Calibri" pitchFamily="34" charset="-120"/>
              </a:rPr>
              <a:t>AQ, RAADS-R e avaliação neuropsicológica</a:t>
            </a:r>
            <a:endParaRPr lang="en-US" sz="1100" dirty="0"/>
          </a:p>
        </p:txBody>
      </p:sp>
      <p:sp>
        <p:nvSpPr>
          <p:cNvPr id="19" name="Shape 17"/>
          <p:cNvSpPr/>
          <p:nvPr/>
        </p:nvSpPr>
        <p:spPr>
          <a:xfrm>
            <a:off x="7302398" y="1920240"/>
            <a:ext cx="1903781" cy="3383280"/>
          </a:xfrm>
          <a:prstGeom prst="roundRect">
            <a:avLst>
              <a:gd name="adj" fmla="val 4803"/>
            </a:avLst>
          </a:prstGeom>
          <a:solidFill>
            <a:srgbClr val="FFFFFF"/>
          </a:solidFill>
          <a:ln/>
          <a:effectLst>
            <a:outerShdw sx="100000" sy="100000" kx="0" ky="0" algn="bl" rotWithShape="0" blurRad="101600" dist="38100" dir="2700000">
              <a:srgbClr val="000000">
                <a:alpha val="12000"/>
              </a:srgbClr>
            </a:outerShdw>
          </a:effectLst>
        </p:spPr>
      </p:sp>
      <p:sp>
        <p:nvSpPr>
          <p:cNvPr id="20" name="Shape 18"/>
          <p:cNvSpPr/>
          <p:nvPr/>
        </p:nvSpPr>
        <p:spPr>
          <a:xfrm>
            <a:off x="7934249" y="2240280"/>
            <a:ext cx="640080" cy="640080"/>
          </a:xfrm>
          <a:prstGeom prst="ellipse">
            <a:avLst/>
          </a:prstGeom>
          <a:solidFill>
            <a:srgbClr val="12283D"/>
          </a:solidFill>
          <a:ln/>
        </p:spPr>
      </p:sp>
      <p:sp>
        <p:nvSpPr>
          <p:cNvPr id="21" name="Text 19"/>
          <p:cNvSpPr/>
          <p:nvPr/>
        </p:nvSpPr>
        <p:spPr>
          <a:xfrm>
            <a:off x="7934249" y="22402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2" name="Text 20"/>
          <p:cNvSpPr/>
          <p:nvPr/>
        </p:nvSpPr>
        <p:spPr>
          <a:xfrm>
            <a:off x="7439558" y="3063240"/>
            <a:ext cx="1629461" cy="548640"/>
          </a:xfrm>
          <a:prstGeom prst="rect">
            <a:avLst/>
          </a:prstGeom>
          <a:noFill/>
          <a:ln/>
        </p:spPr>
        <p:txBody>
          <a:bodyPr wrap="square" lIns="0" tIns="0" rIns="0" bIns="0" rtlCol="0" anchor="ctr"/>
          <a:lstStyle/>
          <a:p>
            <a:pPr algn="ctr" indent="0" marL="0">
              <a:buNone/>
            </a:pPr>
            <a:r>
              <a:rPr lang="en-US" sz="1500" b="1" dirty="0">
                <a:solidFill>
                  <a:srgbClr val="12283D"/>
                </a:solidFill>
                <a:latin typeface="Cambria" pitchFamily="34" charset="0"/>
                <a:ea typeface="Cambria" pitchFamily="34" charset="-122"/>
                <a:cs typeface="Cambria" pitchFamily="34" charset="-120"/>
              </a:rPr>
              <a:t>Manejo</a:t>
            </a:r>
            <a:endParaRPr lang="en-US" sz="1500" dirty="0"/>
          </a:p>
        </p:txBody>
      </p:sp>
      <p:sp>
        <p:nvSpPr>
          <p:cNvPr id="23" name="Text 21"/>
          <p:cNvSpPr/>
          <p:nvPr/>
        </p:nvSpPr>
        <p:spPr>
          <a:xfrm>
            <a:off x="7485278" y="3611880"/>
            <a:ext cx="1538021" cy="1463040"/>
          </a:xfrm>
          <a:prstGeom prst="rect">
            <a:avLst/>
          </a:prstGeom>
          <a:noFill/>
          <a:ln/>
        </p:spPr>
        <p:txBody>
          <a:bodyPr wrap="square" lIns="0" tIns="0" rIns="0" bIns="0" rtlCol="0" anchor="ctr"/>
          <a:lstStyle/>
          <a:p>
            <a:pPr algn="ctr" indent="0" marL="0">
              <a:buNone/>
            </a:pPr>
            <a:r>
              <a:rPr lang="en-US" sz="1100" dirty="0">
                <a:solidFill>
                  <a:srgbClr val="6B6153"/>
                </a:solidFill>
                <a:latin typeface="Calibri" pitchFamily="34" charset="0"/>
                <a:ea typeface="Calibri" pitchFamily="34" charset="-122"/>
                <a:cs typeface="Calibri" pitchFamily="34" charset="-120"/>
              </a:rPr>
              <a:t>4 passos, numa abordagem afirmativa de neurodiversidade</a:t>
            </a:r>
            <a:endParaRPr lang="en-US" sz="1100" dirty="0"/>
          </a:p>
        </p:txBody>
      </p:sp>
      <p:sp>
        <p:nvSpPr>
          <p:cNvPr id="24" name="Shape 22"/>
          <p:cNvSpPr/>
          <p:nvPr/>
        </p:nvSpPr>
        <p:spPr>
          <a:xfrm>
            <a:off x="9462211" y="1920240"/>
            <a:ext cx="1903781" cy="3383280"/>
          </a:xfrm>
          <a:prstGeom prst="roundRect">
            <a:avLst>
              <a:gd name="adj" fmla="val 4803"/>
            </a:avLst>
          </a:prstGeom>
          <a:solidFill>
            <a:srgbClr val="FFFFFF"/>
          </a:solidFill>
          <a:ln/>
          <a:effectLst>
            <a:outerShdw sx="100000" sy="100000" kx="0" ky="0" algn="bl" rotWithShape="0" blurRad="101600" dist="38100" dir="2700000">
              <a:srgbClr val="000000">
                <a:alpha val="12000"/>
              </a:srgbClr>
            </a:outerShdw>
          </a:effectLst>
        </p:spPr>
      </p:sp>
      <p:sp>
        <p:nvSpPr>
          <p:cNvPr id="25" name="Shape 23"/>
          <p:cNvSpPr/>
          <p:nvPr/>
        </p:nvSpPr>
        <p:spPr>
          <a:xfrm>
            <a:off x="10094062" y="2240280"/>
            <a:ext cx="640080" cy="640080"/>
          </a:xfrm>
          <a:prstGeom prst="ellipse">
            <a:avLst/>
          </a:prstGeom>
          <a:solidFill>
            <a:srgbClr val="12283D"/>
          </a:solidFill>
          <a:ln/>
        </p:spPr>
      </p:sp>
      <p:sp>
        <p:nvSpPr>
          <p:cNvPr id="26" name="Text 24"/>
          <p:cNvSpPr/>
          <p:nvPr/>
        </p:nvSpPr>
        <p:spPr>
          <a:xfrm>
            <a:off x="10094062" y="22402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27" name="Text 25"/>
          <p:cNvSpPr/>
          <p:nvPr/>
        </p:nvSpPr>
        <p:spPr>
          <a:xfrm>
            <a:off x="9599371" y="3063240"/>
            <a:ext cx="1629461" cy="548640"/>
          </a:xfrm>
          <a:prstGeom prst="rect">
            <a:avLst/>
          </a:prstGeom>
          <a:noFill/>
          <a:ln/>
        </p:spPr>
        <p:txBody>
          <a:bodyPr wrap="square" lIns="0" tIns="0" rIns="0" bIns="0" rtlCol="0" anchor="ctr"/>
          <a:lstStyle/>
          <a:p>
            <a:pPr algn="ctr" indent="0" marL="0">
              <a:buNone/>
            </a:pPr>
            <a:r>
              <a:rPr lang="en-US" sz="1500" b="1" dirty="0">
                <a:solidFill>
                  <a:srgbClr val="12283D"/>
                </a:solidFill>
                <a:latin typeface="Cambria" pitchFamily="34" charset="0"/>
                <a:ea typeface="Cambria" pitchFamily="34" charset="-122"/>
                <a:cs typeface="Cambria" pitchFamily="34" charset="-120"/>
              </a:rPr>
              <a:t>Encaminhamento</a:t>
            </a:r>
            <a:endParaRPr lang="en-US" sz="1500" dirty="0"/>
          </a:p>
        </p:txBody>
      </p:sp>
      <p:sp>
        <p:nvSpPr>
          <p:cNvPr id="28" name="Text 26"/>
          <p:cNvSpPr/>
          <p:nvPr/>
        </p:nvSpPr>
        <p:spPr>
          <a:xfrm>
            <a:off x="9645091" y="3611880"/>
            <a:ext cx="1538021" cy="1463040"/>
          </a:xfrm>
          <a:prstGeom prst="rect">
            <a:avLst/>
          </a:prstGeom>
          <a:noFill/>
          <a:ln/>
        </p:spPr>
        <p:txBody>
          <a:bodyPr wrap="square" lIns="0" tIns="0" rIns="0" bIns="0" rtlCol="0" anchor="ctr"/>
          <a:lstStyle/>
          <a:p>
            <a:pPr algn="ctr" indent="0" marL="0">
              <a:buNone/>
            </a:pPr>
            <a:r>
              <a:rPr lang="en-US" sz="1100" dirty="0">
                <a:solidFill>
                  <a:srgbClr val="6B6153"/>
                </a:solidFill>
                <a:latin typeface="Calibri" pitchFamily="34" charset="0"/>
                <a:ea typeface="Calibri" pitchFamily="34" charset="-122"/>
                <a:cs typeface="Calibri" pitchFamily="34" charset="-120"/>
              </a:rPr>
              <a:t>Comorbidades e a importância da confirmação formal</a:t>
            </a:r>
            <a:endParaRPr lang="en-US" sz="1100" dirty="0"/>
          </a:p>
        </p:txBody>
      </p:sp>
      <p:sp>
        <p:nvSpPr>
          <p:cNvPr id="29" name="Text 27"/>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TEA em Adultos — Módulo 4.27</a:t>
            </a:r>
            <a:endParaRPr lang="en-US" sz="900" dirty="0"/>
          </a:p>
        </p:txBody>
      </p:sp>
      <p:sp>
        <p:nvSpPr>
          <p:cNvPr id="30" name="Text 28"/>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82296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ANTES DE COMEÇAR</a:t>
            </a:r>
            <a:endParaRPr lang="en-US" sz="1100" dirty="0"/>
          </a:p>
        </p:txBody>
      </p:sp>
      <p:sp>
        <p:nvSpPr>
          <p:cNvPr id="3" name="Text 1"/>
          <p:cNvSpPr/>
          <p:nvPr/>
        </p:nvSpPr>
        <p:spPr>
          <a:xfrm>
            <a:off x="822960" y="1371600"/>
            <a:ext cx="9875520" cy="2377440"/>
          </a:xfrm>
          <a:prstGeom prst="rect">
            <a:avLst/>
          </a:prstGeom>
          <a:noFill/>
          <a:ln/>
        </p:spPr>
        <p:txBody>
          <a:bodyPr wrap="square" lIns="0" tIns="0" rIns="0" bIns="0" rtlCol="0" anchor="ctr"/>
          <a:lstStyle/>
          <a:p>
            <a:pPr indent="0" marL="0">
              <a:lnSpc>
                <a:spcPct val="115000"/>
              </a:lnSpc>
              <a:buNone/>
            </a:pPr>
            <a:r>
              <a:rPr lang="en-US" sz="3400" b="1" dirty="0">
                <a:solidFill>
                  <a:srgbClr val="12283D"/>
                </a:solidFill>
                <a:latin typeface="Cambria" pitchFamily="34" charset="0"/>
                <a:ea typeface="Cambria" pitchFamily="34" charset="-122"/>
                <a:cs typeface="Cambria" pitchFamily="34" charset="-120"/>
              </a:rPr>
              <a:t>Muitos adultos autistas, especialmente mulheres, passam décadas mascarando suas diferenças com tanta eficiência que só descobrem o motivo do próprio esgotamento crônico depois dos 30 anos.</a:t>
            </a:r>
            <a:endParaRPr lang="en-US" sz="3400" dirty="0"/>
          </a:p>
        </p:txBody>
      </p:sp>
      <p:sp>
        <p:nvSpPr>
          <p:cNvPr id="4" name="Text 2"/>
          <p:cNvSpPr/>
          <p:nvPr/>
        </p:nvSpPr>
        <p:spPr>
          <a:xfrm>
            <a:off x="822960" y="3931920"/>
            <a:ext cx="7955280" cy="1371600"/>
          </a:xfrm>
          <a:prstGeom prst="rect">
            <a:avLst/>
          </a:prstGeom>
          <a:noFill/>
          <a:ln/>
        </p:spPr>
        <p:txBody>
          <a:bodyPr wrap="square" lIns="0" tIns="0" rIns="0" bIns="0" rtlCol="0" anchor="ctr"/>
          <a:lstStyle/>
          <a:p>
            <a:pPr indent="0" marL="0">
              <a:buNone/>
            </a:pPr>
            <a:r>
              <a:rPr lang="en-US" sz="1500" dirty="0">
                <a:solidFill>
                  <a:srgbClr val="6B6153"/>
                </a:solidFill>
                <a:latin typeface="Calibri" pitchFamily="34" charset="0"/>
                <a:ea typeface="Calibri" pitchFamily="34" charset="-122"/>
                <a:cs typeface="Calibri" pitchFamily="34" charset="-120"/>
              </a:rPr>
              <a:t>Este módulo adota a perspectiva afirmativa de neurodiversidade: o objetivo não é fazer a pessoa autista parecer neurotípica, é reduzir sofrimento e construir acomodações reais.</a:t>
            </a:r>
            <a:endParaRPr lang="en-US" sz="1500" dirty="0"/>
          </a:p>
        </p:txBody>
      </p:sp>
      <p:sp>
        <p:nvSpPr>
          <p:cNvPr id="5" name="Text 3"/>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TEA em Adultos — Módulo 4.27</a:t>
            </a:r>
            <a:endParaRPr lang="en-US" sz="900" dirty="0"/>
          </a:p>
        </p:txBody>
      </p:sp>
      <p:sp>
        <p:nvSpPr>
          <p:cNvPr id="6" name="Text 4"/>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45720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PASSO 1 · MECANISMO</a:t>
            </a:r>
            <a:endParaRPr lang="en-US" sz="1100" dirty="0"/>
          </a:p>
        </p:txBody>
      </p:sp>
      <p:sp>
        <p:nvSpPr>
          <p:cNvPr id="3" name="Text 1"/>
          <p:cNvSpPr/>
          <p:nvPr/>
        </p:nvSpPr>
        <p:spPr>
          <a:xfrm>
            <a:off x="777240" y="731520"/>
            <a:ext cx="10058400" cy="685800"/>
          </a:xfrm>
          <a:prstGeom prst="rect">
            <a:avLst/>
          </a:prstGeom>
          <a:noFill/>
          <a:ln/>
        </p:spPr>
        <p:txBody>
          <a:bodyPr wrap="square" lIns="0" tIns="0" rIns="0" bIns="0" rtlCol="0" anchor="ctr"/>
          <a:lstStyle/>
          <a:p>
            <a:pPr indent="0" marL="0">
              <a:buNone/>
            </a:pPr>
            <a:r>
              <a:rPr lang="en-US" sz="2800" b="1" dirty="0">
                <a:solidFill>
                  <a:srgbClr val="12283D"/>
                </a:solidFill>
                <a:latin typeface="Cambria" pitchFamily="34" charset="0"/>
                <a:ea typeface="Cambria" pitchFamily="34" charset="-122"/>
                <a:cs typeface="Cambria" pitchFamily="34" charset="-120"/>
              </a:rPr>
              <a:t>Como o cérebro autista processa o mundo de forma diferente</a:t>
            </a:r>
            <a:endParaRPr lang="en-US" sz="2800" dirty="0"/>
          </a:p>
        </p:txBody>
      </p:sp>
      <p:sp>
        <p:nvSpPr>
          <p:cNvPr id="4" name="Shape 2"/>
          <p:cNvSpPr/>
          <p:nvPr/>
        </p:nvSpPr>
        <p:spPr>
          <a:xfrm>
            <a:off x="822960" y="1691640"/>
            <a:ext cx="5120640" cy="4023360"/>
          </a:xfrm>
          <a:prstGeom prst="ellipse">
            <a:avLst/>
          </a:prstGeom>
          <a:solidFill>
            <a:srgbClr val="EFE8D9"/>
          </a:solidFill>
          <a:ln w="25400">
            <a:solidFill>
              <a:srgbClr val="12283D"/>
            </a:solidFill>
            <a:prstDash val="solid"/>
          </a:ln>
        </p:spPr>
      </p:sp>
      <p:sp>
        <p:nvSpPr>
          <p:cNvPr id="5" name="Shape 3"/>
          <p:cNvSpPr/>
          <p:nvPr/>
        </p:nvSpPr>
        <p:spPr>
          <a:xfrm>
            <a:off x="1847088" y="2576779"/>
            <a:ext cx="457200" cy="457200"/>
          </a:xfrm>
          <a:prstGeom prst="ellipse">
            <a:avLst/>
          </a:prstGeom>
          <a:solidFill>
            <a:srgbClr val="12283D"/>
          </a:solidFill>
          <a:ln w="19050">
            <a:solidFill>
              <a:srgbClr val="FFFFFF"/>
            </a:solidFill>
            <a:prstDash val="solid"/>
          </a:ln>
        </p:spPr>
      </p:sp>
      <p:sp>
        <p:nvSpPr>
          <p:cNvPr id="6" name="Shape 4"/>
          <p:cNvSpPr/>
          <p:nvPr/>
        </p:nvSpPr>
        <p:spPr>
          <a:xfrm>
            <a:off x="1949501" y="4186123"/>
            <a:ext cx="365760" cy="365760"/>
          </a:xfrm>
          <a:prstGeom prst="ellipse">
            <a:avLst/>
          </a:prstGeom>
          <a:solidFill>
            <a:srgbClr val="C1652F"/>
          </a:solidFill>
          <a:ln w="19050">
            <a:solidFill>
              <a:srgbClr val="FFFFFF"/>
            </a:solidFill>
            <a:prstDash val="solid"/>
          </a:ln>
        </p:spPr>
      </p:sp>
      <p:sp>
        <p:nvSpPr>
          <p:cNvPr id="7" name="Shape 5"/>
          <p:cNvSpPr/>
          <p:nvPr/>
        </p:nvSpPr>
        <p:spPr>
          <a:xfrm>
            <a:off x="3895344" y="4105656"/>
            <a:ext cx="329184" cy="329184"/>
          </a:xfrm>
          <a:prstGeom prst="ellipse">
            <a:avLst/>
          </a:prstGeom>
          <a:solidFill>
            <a:srgbClr val="63768A"/>
          </a:solidFill>
          <a:ln w="19050">
            <a:solidFill>
              <a:srgbClr val="FFFFFF"/>
            </a:solidFill>
            <a:prstDash val="solid"/>
          </a:ln>
        </p:spPr>
      </p:sp>
      <p:sp>
        <p:nvSpPr>
          <p:cNvPr id="8" name="Shape 6"/>
          <p:cNvSpPr/>
          <p:nvPr/>
        </p:nvSpPr>
        <p:spPr>
          <a:xfrm>
            <a:off x="3792931" y="2657246"/>
            <a:ext cx="329184" cy="329184"/>
          </a:xfrm>
          <a:prstGeom prst="ellipse">
            <a:avLst/>
          </a:prstGeom>
          <a:solidFill>
            <a:srgbClr val="D99A73"/>
          </a:solidFill>
          <a:ln w="19050">
            <a:solidFill>
              <a:srgbClr val="FFFFFF"/>
            </a:solidFill>
            <a:prstDash val="solid"/>
          </a:ln>
        </p:spPr>
      </p:sp>
      <p:sp>
        <p:nvSpPr>
          <p:cNvPr id="9" name="Shape 7"/>
          <p:cNvSpPr/>
          <p:nvPr/>
        </p:nvSpPr>
        <p:spPr>
          <a:xfrm>
            <a:off x="6400800" y="1947672"/>
            <a:ext cx="201168" cy="201168"/>
          </a:xfrm>
          <a:prstGeom prst="ellipse">
            <a:avLst/>
          </a:prstGeom>
          <a:solidFill>
            <a:srgbClr val="12283D"/>
          </a:solidFill>
          <a:ln/>
        </p:spPr>
      </p:sp>
      <p:sp>
        <p:nvSpPr>
          <p:cNvPr id="10" name="Text 8"/>
          <p:cNvSpPr/>
          <p:nvPr/>
        </p:nvSpPr>
        <p:spPr>
          <a:xfrm>
            <a:off x="6720840" y="1874520"/>
            <a:ext cx="3200400" cy="320040"/>
          </a:xfrm>
          <a:prstGeom prst="rect">
            <a:avLst/>
          </a:prstGeom>
          <a:noFill/>
          <a:ln/>
        </p:spPr>
        <p:txBody>
          <a:bodyPr wrap="square" lIns="0" tIns="0" rIns="0" bIns="0" rtlCol="0" anchor="ctr"/>
          <a:lstStyle/>
          <a:p>
            <a:pPr indent="0" marL="0">
              <a:buNone/>
            </a:pPr>
            <a:r>
              <a:rPr lang="en-US" sz="1300" b="1" dirty="0">
                <a:solidFill>
                  <a:srgbClr val="12283D"/>
                </a:solidFill>
                <a:latin typeface="Calibri" pitchFamily="34" charset="0"/>
                <a:ea typeface="Calibri" pitchFamily="34" charset="-122"/>
                <a:cs typeface="Calibri" pitchFamily="34" charset="-120"/>
              </a:rPr>
              <a:t>Conectividade neural (menor conectividade de longo alcance, maior local)</a:t>
            </a:r>
            <a:endParaRPr lang="en-US" sz="1300" dirty="0"/>
          </a:p>
        </p:txBody>
      </p:sp>
      <p:sp>
        <p:nvSpPr>
          <p:cNvPr id="11" name="Shape 9"/>
          <p:cNvSpPr/>
          <p:nvPr/>
        </p:nvSpPr>
        <p:spPr>
          <a:xfrm>
            <a:off x="6400800" y="2450592"/>
            <a:ext cx="201168" cy="201168"/>
          </a:xfrm>
          <a:prstGeom prst="ellipse">
            <a:avLst/>
          </a:prstGeom>
          <a:solidFill>
            <a:srgbClr val="C1652F"/>
          </a:solidFill>
          <a:ln/>
        </p:spPr>
      </p:sp>
      <p:sp>
        <p:nvSpPr>
          <p:cNvPr id="12" name="Text 10"/>
          <p:cNvSpPr/>
          <p:nvPr/>
        </p:nvSpPr>
        <p:spPr>
          <a:xfrm>
            <a:off x="6720840" y="2377440"/>
            <a:ext cx="3200400" cy="320040"/>
          </a:xfrm>
          <a:prstGeom prst="rect">
            <a:avLst/>
          </a:prstGeom>
          <a:noFill/>
          <a:ln/>
        </p:spPr>
        <p:txBody>
          <a:bodyPr wrap="square" lIns="0" tIns="0" rIns="0" bIns="0" rtlCol="0" anchor="ctr"/>
          <a:lstStyle/>
          <a:p>
            <a:pPr indent="0" marL="0">
              <a:buNone/>
            </a:pPr>
            <a:r>
              <a:rPr lang="en-US" sz="1300" b="1" dirty="0">
                <a:solidFill>
                  <a:srgbClr val="12283D"/>
                </a:solidFill>
                <a:latin typeface="Calibri" pitchFamily="34" charset="0"/>
                <a:ea typeface="Calibri" pitchFamily="34" charset="-122"/>
                <a:cs typeface="Calibri" pitchFamily="34" charset="-120"/>
              </a:rPr>
              <a:t>Processamento sensorial (hiper ou hipossensibilidade a estímulos)</a:t>
            </a:r>
            <a:endParaRPr lang="en-US" sz="1300" dirty="0"/>
          </a:p>
        </p:txBody>
      </p:sp>
      <p:sp>
        <p:nvSpPr>
          <p:cNvPr id="13" name="Shape 11"/>
          <p:cNvSpPr/>
          <p:nvPr/>
        </p:nvSpPr>
        <p:spPr>
          <a:xfrm>
            <a:off x="6400800" y="2953512"/>
            <a:ext cx="201168" cy="201168"/>
          </a:xfrm>
          <a:prstGeom prst="ellipse">
            <a:avLst/>
          </a:prstGeom>
          <a:solidFill>
            <a:srgbClr val="63768A"/>
          </a:solidFill>
          <a:ln/>
        </p:spPr>
      </p:sp>
      <p:sp>
        <p:nvSpPr>
          <p:cNvPr id="14" name="Text 12"/>
          <p:cNvSpPr/>
          <p:nvPr/>
        </p:nvSpPr>
        <p:spPr>
          <a:xfrm>
            <a:off x="6720840" y="2880360"/>
            <a:ext cx="3200400" cy="320040"/>
          </a:xfrm>
          <a:prstGeom prst="rect">
            <a:avLst/>
          </a:prstGeom>
          <a:noFill/>
          <a:ln/>
        </p:spPr>
        <p:txBody>
          <a:bodyPr wrap="square" lIns="0" tIns="0" rIns="0" bIns="0" rtlCol="0" anchor="ctr"/>
          <a:lstStyle/>
          <a:p>
            <a:pPr indent="0" marL="0">
              <a:buNone/>
            </a:pPr>
            <a:r>
              <a:rPr lang="en-US" sz="1300" b="1" dirty="0">
                <a:solidFill>
                  <a:srgbClr val="12283D"/>
                </a:solidFill>
                <a:latin typeface="Calibri" pitchFamily="34" charset="0"/>
                <a:ea typeface="Calibri" pitchFamily="34" charset="-122"/>
                <a:cs typeface="Calibri" pitchFamily="34" charset="-120"/>
              </a:rPr>
              <a:t>Processamento social (estilo comunicativo diferente, não deficitário)</a:t>
            </a:r>
            <a:endParaRPr lang="en-US" sz="1300" dirty="0"/>
          </a:p>
        </p:txBody>
      </p:sp>
      <p:sp>
        <p:nvSpPr>
          <p:cNvPr id="15" name="Shape 13"/>
          <p:cNvSpPr/>
          <p:nvPr/>
        </p:nvSpPr>
        <p:spPr>
          <a:xfrm>
            <a:off x="6400800" y="3456432"/>
            <a:ext cx="201168" cy="201168"/>
          </a:xfrm>
          <a:prstGeom prst="ellipse">
            <a:avLst/>
          </a:prstGeom>
          <a:solidFill>
            <a:srgbClr val="D99A73"/>
          </a:solidFill>
          <a:ln/>
        </p:spPr>
      </p:sp>
      <p:sp>
        <p:nvSpPr>
          <p:cNvPr id="16" name="Text 14"/>
          <p:cNvSpPr/>
          <p:nvPr/>
        </p:nvSpPr>
        <p:spPr>
          <a:xfrm>
            <a:off x="6720840" y="3383280"/>
            <a:ext cx="3200400" cy="320040"/>
          </a:xfrm>
          <a:prstGeom prst="rect">
            <a:avLst/>
          </a:prstGeom>
          <a:noFill/>
          <a:ln/>
        </p:spPr>
        <p:txBody>
          <a:bodyPr wrap="square" lIns="0" tIns="0" rIns="0" bIns="0" rtlCol="0" anchor="ctr"/>
          <a:lstStyle/>
          <a:p>
            <a:pPr indent="0" marL="0">
              <a:buNone/>
            </a:pPr>
            <a:r>
              <a:rPr lang="en-US" sz="1300" b="1" dirty="0">
                <a:solidFill>
                  <a:srgbClr val="12283D"/>
                </a:solidFill>
                <a:latin typeface="Calibri" pitchFamily="34" charset="0"/>
                <a:ea typeface="Calibri" pitchFamily="34" charset="-122"/>
                <a:cs typeface="Calibri" pitchFamily="34" charset="-120"/>
              </a:rPr>
              <a:t>Predição sensorial (menor filtragem automática do que é "esperado")</a:t>
            </a:r>
            <a:endParaRPr lang="en-US" sz="1300" dirty="0"/>
          </a:p>
        </p:txBody>
      </p:sp>
      <p:sp>
        <p:nvSpPr>
          <p:cNvPr id="17" name="Text 15"/>
          <p:cNvSpPr/>
          <p:nvPr/>
        </p:nvSpPr>
        <p:spPr>
          <a:xfrm>
            <a:off x="6400800" y="4160520"/>
            <a:ext cx="5120640" cy="201168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6B6153"/>
                </a:solidFill>
                <a:latin typeface="Calibri" pitchFamily="34" charset="0"/>
                <a:ea typeface="Calibri" pitchFamily="34" charset="-122"/>
                <a:cs typeface="Calibri" pitchFamily="34" charset="-120"/>
              </a:rPr>
              <a:t>A conectividade neural atípica combina menor conectividade de longo alcance entre regiões distantes com maior conectividade local — um padrão de organização diferente, não uma falha.</a:t>
            </a:r>
            <a:endParaRPr lang="en-US" sz="1250" dirty="0"/>
          </a:p>
          <a:p>
            <a:pPr marL="342900" indent="-342900">
              <a:spcAft>
                <a:spcPts val="1000"/>
              </a:spcAft>
              <a:buSzPct val="100000"/>
              <a:buChar char="•"/>
            </a:pPr>
            <a:r>
              <a:rPr lang="en-US" sz="1250" dirty="0">
                <a:solidFill>
                  <a:srgbClr val="6B6153"/>
                </a:solidFill>
                <a:latin typeface="Calibri" pitchFamily="34" charset="0"/>
                <a:ea typeface="Calibri" pitchFamily="34" charset="-122"/>
                <a:cs typeface="Calibri" pitchFamily="34" charset="-120"/>
              </a:rPr>
              <a:t>O processamento sensorial frequentemente envolve hiper ou hipossensibilidade a som, luz, textura ou toque, explicando parte do esgotamento em ambientes muito estimulantes.</a:t>
            </a:r>
            <a:endParaRPr lang="en-US" sz="1250" dirty="0"/>
          </a:p>
          <a:p>
            <a:pPr marL="342900" indent="-342900">
              <a:spcAft>
                <a:spcPts val="1000"/>
              </a:spcAft>
              <a:buSzPct val="100000"/>
              <a:buChar char="•"/>
            </a:pPr>
            <a:r>
              <a:rPr lang="en-US" sz="1250" dirty="0">
                <a:solidFill>
                  <a:srgbClr val="6B6153"/>
                </a:solidFill>
                <a:latin typeface="Calibri" pitchFamily="34" charset="0"/>
                <a:ea typeface="Calibri" pitchFamily="34" charset="-122"/>
                <a:cs typeface="Calibri" pitchFamily="34" charset="-120"/>
              </a:rPr>
              <a:t>A dificuldade de filtrar automaticamente estímulos "esperados" contribui pra fadiga sensorial e social cumulativa ao longo do dia.</a:t>
            </a:r>
            <a:endParaRPr lang="en-US" sz="1250" dirty="0"/>
          </a:p>
        </p:txBody>
      </p:sp>
      <p:sp>
        <p:nvSpPr>
          <p:cNvPr id="18" name="Text 16"/>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TEA em Adultos — Módulo 4.27</a:t>
            </a:r>
            <a:endParaRPr lang="en-US" sz="900" dirty="0"/>
          </a:p>
        </p:txBody>
      </p:sp>
      <p:sp>
        <p:nvSpPr>
          <p:cNvPr id="19" name="Text 17"/>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45720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PASSO 1 · MECANISMO</a:t>
            </a:r>
            <a:endParaRPr lang="en-US" sz="1100" dirty="0"/>
          </a:p>
        </p:txBody>
      </p:sp>
      <p:sp>
        <p:nvSpPr>
          <p:cNvPr id="3" name="Text 1"/>
          <p:cNvSpPr/>
          <p:nvPr/>
        </p:nvSpPr>
        <p:spPr>
          <a:xfrm>
            <a:off x="777240" y="731520"/>
            <a:ext cx="10058400" cy="685800"/>
          </a:xfrm>
          <a:prstGeom prst="rect">
            <a:avLst/>
          </a:prstGeom>
          <a:noFill/>
          <a:ln/>
        </p:spPr>
        <p:txBody>
          <a:bodyPr wrap="square" lIns="0" tIns="0" rIns="0" bIns="0" rtlCol="0" anchor="ctr"/>
          <a:lstStyle/>
          <a:p>
            <a:pPr indent="0" marL="0">
              <a:buNone/>
            </a:pPr>
            <a:r>
              <a:rPr lang="en-US" sz="2800" b="1" dirty="0">
                <a:solidFill>
                  <a:srgbClr val="12283D"/>
                </a:solidFill>
                <a:latin typeface="Cambria" pitchFamily="34" charset="0"/>
                <a:ea typeface="Cambria" pitchFamily="34" charset="-122"/>
                <a:cs typeface="Cambria" pitchFamily="34" charset="-120"/>
              </a:rPr>
              <a:t>Do mascaramento precoce ao diagnóstico tardio</a:t>
            </a:r>
            <a:endParaRPr lang="en-US" sz="2800" dirty="0"/>
          </a:p>
        </p:txBody>
      </p:sp>
      <p:sp>
        <p:nvSpPr>
          <p:cNvPr id="4" name="Shape 2"/>
          <p:cNvSpPr/>
          <p:nvPr/>
        </p:nvSpPr>
        <p:spPr>
          <a:xfrm>
            <a:off x="822960" y="1965960"/>
            <a:ext cx="2258568" cy="1920240"/>
          </a:xfrm>
          <a:prstGeom prst="roundRect">
            <a:avLst>
              <a:gd name="adj" fmla="val 3810"/>
            </a:avLst>
          </a:prstGeom>
          <a:solidFill>
            <a:srgbClr val="12283D"/>
          </a:solidFill>
          <a:ln/>
          <a:effectLst>
            <a:outerShdw sx="100000" sy="100000" kx="0" ky="0" algn="bl" rotWithShape="0" blurRad="101600" dist="38100" dir="2700000">
              <a:srgbClr val="000000">
                <a:alpha val="12000"/>
              </a:srgbClr>
            </a:outerShdw>
          </a:effectLst>
        </p:spPr>
      </p:sp>
      <p:sp>
        <p:nvSpPr>
          <p:cNvPr id="5" name="Text 3"/>
          <p:cNvSpPr/>
          <p:nvPr/>
        </p:nvSpPr>
        <p:spPr>
          <a:xfrm>
            <a:off x="987552" y="2148840"/>
            <a:ext cx="1929384"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Diferenças desde a infância</a:t>
            </a:r>
            <a:endParaRPr lang="en-US" sz="1500" dirty="0"/>
          </a:p>
        </p:txBody>
      </p:sp>
      <p:sp>
        <p:nvSpPr>
          <p:cNvPr id="6" name="Text 4"/>
          <p:cNvSpPr/>
          <p:nvPr/>
        </p:nvSpPr>
        <p:spPr>
          <a:xfrm>
            <a:off x="987552" y="2651760"/>
            <a:ext cx="1929384" cy="1097280"/>
          </a:xfrm>
          <a:prstGeom prst="rect">
            <a:avLst/>
          </a:prstGeom>
          <a:noFill/>
          <a:ln/>
        </p:spPr>
        <p:txBody>
          <a:bodyPr wrap="square" lIns="0" tIns="0" rIns="0" bIns="0" rtlCol="0" anchor="ctr"/>
          <a:lstStyle/>
          <a:p>
            <a:pPr indent="0" marL="0">
              <a:buNone/>
            </a:pPr>
            <a:r>
              <a:rPr lang="en-US" sz="1100" dirty="0">
                <a:solidFill>
                  <a:srgbClr val="E4E9EF"/>
                </a:solidFill>
                <a:latin typeface="Calibri" pitchFamily="34" charset="0"/>
                <a:ea typeface="Calibri" pitchFamily="34" charset="-122"/>
                <a:cs typeface="Calibri" pitchFamily="34" charset="-120"/>
              </a:rPr>
              <a:t>Presentes cedo, mas frequentemente não reconhecidas, sobretudo em meninas</a:t>
            </a:r>
            <a:endParaRPr lang="en-US" sz="1100" dirty="0"/>
          </a:p>
        </p:txBody>
      </p:sp>
      <p:sp>
        <p:nvSpPr>
          <p:cNvPr id="7" name="Text 5"/>
          <p:cNvSpPr/>
          <p:nvPr/>
        </p:nvSpPr>
        <p:spPr>
          <a:xfrm>
            <a:off x="3081528" y="1965960"/>
            <a:ext cx="502920" cy="1920240"/>
          </a:xfrm>
          <a:prstGeom prst="rect">
            <a:avLst/>
          </a:prstGeom>
          <a:noFill/>
          <a:ln/>
        </p:spPr>
        <p:txBody>
          <a:bodyPr wrap="square" lIns="0" tIns="0" rIns="0" bIns="0" rtlCol="0" anchor="ctr"/>
          <a:lstStyle/>
          <a:p>
            <a:pPr algn="ctr" indent="0" marL="0">
              <a:buNone/>
            </a:pPr>
            <a:r>
              <a:rPr lang="en-US" sz="2600" dirty="0">
                <a:solidFill>
                  <a:srgbClr val="12283D"/>
                </a:solidFill>
                <a:latin typeface="Calibri" pitchFamily="34" charset="0"/>
                <a:ea typeface="Calibri" pitchFamily="34" charset="-122"/>
                <a:cs typeface="Calibri" pitchFamily="34" charset="-120"/>
              </a:rPr>
              <a:t>→</a:t>
            </a:r>
            <a:endParaRPr lang="en-US" sz="2600" dirty="0"/>
          </a:p>
        </p:txBody>
      </p:sp>
      <p:sp>
        <p:nvSpPr>
          <p:cNvPr id="8" name="Shape 6"/>
          <p:cNvSpPr/>
          <p:nvPr/>
        </p:nvSpPr>
        <p:spPr>
          <a:xfrm>
            <a:off x="3584448" y="1965960"/>
            <a:ext cx="2258568" cy="1920240"/>
          </a:xfrm>
          <a:prstGeom prst="roundRect">
            <a:avLst>
              <a:gd name="adj" fmla="val 3810"/>
            </a:avLst>
          </a:prstGeom>
          <a:solidFill>
            <a:srgbClr val="12283D"/>
          </a:solidFill>
          <a:ln/>
          <a:effectLst>
            <a:outerShdw sx="100000" sy="100000" kx="0" ky="0" algn="bl" rotWithShape="0" blurRad="101600" dist="38100" dir="2700000">
              <a:srgbClr val="000000">
                <a:alpha val="12000"/>
              </a:srgbClr>
            </a:outerShdw>
          </a:effectLst>
        </p:spPr>
      </p:sp>
      <p:sp>
        <p:nvSpPr>
          <p:cNvPr id="9" name="Text 7"/>
          <p:cNvSpPr/>
          <p:nvPr/>
        </p:nvSpPr>
        <p:spPr>
          <a:xfrm>
            <a:off x="3749040" y="2148840"/>
            <a:ext cx="1929384"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Desenvolvimento do mascaramento</a:t>
            </a:r>
            <a:endParaRPr lang="en-US" sz="1500" dirty="0"/>
          </a:p>
        </p:txBody>
      </p:sp>
      <p:sp>
        <p:nvSpPr>
          <p:cNvPr id="10" name="Text 8"/>
          <p:cNvSpPr/>
          <p:nvPr/>
        </p:nvSpPr>
        <p:spPr>
          <a:xfrm>
            <a:off x="3749040" y="2651760"/>
            <a:ext cx="1929384" cy="1097280"/>
          </a:xfrm>
          <a:prstGeom prst="rect">
            <a:avLst/>
          </a:prstGeom>
          <a:noFill/>
          <a:ln/>
        </p:spPr>
        <p:txBody>
          <a:bodyPr wrap="square" lIns="0" tIns="0" rIns="0" bIns="0" rtlCol="0" anchor="ctr"/>
          <a:lstStyle/>
          <a:p>
            <a:pPr indent="0" marL="0">
              <a:buNone/>
            </a:pPr>
            <a:r>
              <a:rPr lang="en-US" sz="1100" dirty="0">
                <a:solidFill>
                  <a:srgbClr val="E4E9EF"/>
                </a:solidFill>
                <a:latin typeface="Calibri" pitchFamily="34" charset="0"/>
                <a:ea typeface="Calibri" pitchFamily="34" charset="-122"/>
                <a:cs typeface="Calibri" pitchFamily="34" charset="-120"/>
              </a:rPr>
              <a:t>Estratégias aprendidas pra parecer "encaixar" em expectativas neurotípicas</a:t>
            </a:r>
            <a:endParaRPr lang="en-US" sz="1100" dirty="0"/>
          </a:p>
        </p:txBody>
      </p:sp>
      <p:sp>
        <p:nvSpPr>
          <p:cNvPr id="11" name="Text 9"/>
          <p:cNvSpPr/>
          <p:nvPr/>
        </p:nvSpPr>
        <p:spPr>
          <a:xfrm>
            <a:off x="5843016" y="1965960"/>
            <a:ext cx="502920" cy="1920240"/>
          </a:xfrm>
          <a:prstGeom prst="rect">
            <a:avLst/>
          </a:prstGeom>
          <a:noFill/>
          <a:ln/>
        </p:spPr>
        <p:txBody>
          <a:bodyPr wrap="square" lIns="0" tIns="0" rIns="0" bIns="0" rtlCol="0" anchor="ctr"/>
          <a:lstStyle/>
          <a:p>
            <a:pPr algn="ctr" indent="0" marL="0">
              <a:buNone/>
            </a:pPr>
            <a:r>
              <a:rPr lang="en-US" sz="2600" dirty="0">
                <a:solidFill>
                  <a:srgbClr val="12283D"/>
                </a:solidFill>
                <a:latin typeface="Calibri" pitchFamily="34" charset="0"/>
                <a:ea typeface="Calibri" pitchFamily="34" charset="-122"/>
                <a:cs typeface="Calibri" pitchFamily="34" charset="-120"/>
              </a:rPr>
              <a:t>→</a:t>
            </a:r>
            <a:endParaRPr lang="en-US" sz="2600" dirty="0"/>
          </a:p>
        </p:txBody>
      </p:sp>
      <p:sp>
        <p:nvSpPr>
          <p:cNvPr id="12" name="Shape 10"/>
          <p:cNvSpPr/>
          <p:nvPr/>
        </p:nvSpPr>
        <p:spPr>
          <a:xfrm>
            <a:off x="6345936" y="1965960"/>
            <a:ext cx="2258568" cy="1920240"/>
          </a:xfrm>
          <a:prstGeom prst="roundRect">
            <a:avLst>
              <a:gd name="adj" fmla="val 3810"/>
            </a:avLst>
          </a:prstGeom>
          <a:solidFill>
            <a:srgbClr val="12283D"/>
          </a:solidFill>
          <a:ln/>
          <a:effectLst>
            <a:outerShdw sx="100000" sy="100000" kx="0" ky="0" algn="bl" rotWithShape="0" blurRad="101600" dist="38100" dir="2700000">
              <a:srgbClr val="000000">
                <a:alpha val="12000"/>
              </a:srgbClr>
            </a:outerShdw>
          </a:effectLst>
        </p:spPr>
      </p:sp>
      <p:sp>
        <p:nvSpPr>
          <p:cNvPr id="13" name="Text 11"/>
          <p:cNvSpPr/>
          <p:nvPr/>
        </p:nvSpPr>
        <p:spPr>
          <a:xfrm>
            <a:off x="6510528" y="2148840"/>
            <a:ext cx="1929384"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Esgotamento autista</a:t>
            </a:r>
            <a:endParaRPr lang="en-US" sz="1500" dirty="0"/>
          </a:p>
        </p:txBody>
      </p:sp>
      <p:sp>
        <p:nvSpPr>
          <p:cNvPr id="14" name="Text 12"/>
          <p:cNvSpPr/>
          <p:nvPr/>
        </p:nvSpPr>
        <p:spPr>
          <a:xfrm>
            <a:off x="6510528" y="2651760"/>
            <a:ext cx="1929384" cy="1097280"/>
          </a:xfrm>
          <a:prstGeom prst="rect">
            <a:avLst/>
          </a:prstGeom>
          <a:noFill/>
          <a:ln/>
        </p:spPr>
        <p:txBody>
          <a:bodyPr wrap="square" lIns="0" tIns="0" rIns="0" bIns="0" rtlCol="0" anchor="ctr"/>
          <a:lstStyle/>
          <a:p>
            <a:pPr indent="0" marL="0">
              <a:buNone/>
            </a:pPr>
            <a:r>
              <a:rPr lang="en-US" sz="1100" dirty="0">
                <a:solidFill>
                  <a:srgbClr val="E4E9EF"/>
                </a:solidFill>
                <a:latin typeface="Calibri" pitchFamily="34" charset="0"/>
                <a:ea typeface="Calibri" pitchFamily="34" charset="-122"/>
                <a:cs typeface="Calibri" pitchFamily="34" charset="-120"/>
              </a:rPr>
              <a:t>Exaustão crônica pelo esforço sustentado de manter o mascaramento</a:t>
            </a:r>
            <a:endParaRPr lang="en-US" sz="1100" dirty="0"/>
          </a:p>
        </p:txBody>
      </p:sp>
      <p:sp>
        <p:nvSpPr>
          <p:cNvPr id="15" name="Text 13"/>
          <p:cNvSpPr/>
          <p:nvPr/>
        </p:nvSpPr>
        <p:spPr>
          <a:xfrm>
            <a:off x="8604504" y="1965960"/>
            <a:ext cx="502920" cy="1920240"/>
          </a:xfrm>
          <a:prstGeom prst="rect">
            <a:avLst/>
          </a:prstGeom>
          <a:noFill/>
          <a:ln/>
        </p:spPr>
        <p:txBody>
          <a:bodyPr wrap="square" lIns="0" tIns="0" rIns="0" bIns="0" rtlCol="0" anchor="ctr"/>
          <a:lstStyle/>
          <a:p>
            <a:pPr algn="ctr" indent="0" marL="0">
              <a:buNone/>
            </a:pPr>
            <a:r>
              <a:rPr lang="en-US" sz="2600" dirty="0">
                <a:solidFill>
                  <a:srgbClr val="12283D"/>
                </a:solidFill>
                <a:latin typeface="Calibri" pitchFamily="34" charset="0"/>
                <a:ea typeface="Calibri" pitchFamily="34" charset="-122"/>
                <a:cs typeface="Calibri" pitchFamily="34" charset="-120"/>
              </a:rPr>
              <a:t>→</a:t>
            </a:r>
            <a:endParaRPr lang="en-US" sz="2600" dirty="0"/>
          </a:p>
        </p:txBody>
      </p:sp>
      <p:sp>
        <p:nvSpPr>
          <p:cNvPr id="16" name="Shape 14"/>
          <p:cNvSpPr/>
          <p:nvPr/>
        </p:nvSpPr>
        <p:spPr>
          <a:xfrm>
            <a:off x="9107424" y="1965960"/>
            <a:ext cx="2258568" cy="1920240"/>
          </a:xfrm>
          <a:prstGeom prst="roundRect">
            <a:avLst>
              <a:gd name="adj" fmla="val 3810"/>
            </a:avLst>
          </a:prstGeom>
          <a:solidFill>
            <a:srgbClr val="C1652F"/>
          </a:solidFill>
          <a:ln/>
          <a:effectLst>
            <a:outerShdw sx="100000" sy="100000" kx="0" ky="0" algn="bl" rotWithShape="0" blurRad="101600" dist="38100" dir="2700000">
              <a:srgbClr val="000000">
                <a:alpha val="12000"/>
              </a:srgbClr>
            </a:outerShdw>
          </a:effectLst>
        </p:spPr>
      </p:sp>
      <p:sp>
        <p:nvSpPr>
          <p:cNvPr id="17" name="Text 15"/>
          <p:cNvSpPr/>
          <p:nvPr/>
        </p:nvSpPr>
        <p:spPr>
          <a:xfrm>
            <a:off x="9272016" y="2148840"/>
            <a:ext cx="1929384"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Diagnóstico tardio</a:t>
            </a:r>
            <a:endParaRPr lang="en-US" sz="1500" dirty="0"/>
          </a:p>
        </p:txBody>
      </p:sp>
      <p:sp>
        <p:nvSpPr>
          <p:cNvPr id="18" name="Text 16"/>
          <p:cNvSpPr/>
          <p:nvPr/>
        </p:nvSpPr>
        <p:spPr>
          <a:xfrm>
            <a:off x="9272016" y="2651760"/>
            <a:ext cx="1929384" cy="1097280"/>
          </a:xfrm>
          <a:prstGeom prst="rect">
            <a:avLst/>
          </a:prstGeom>
          <a:noFill/>
          <a:ln/>
        </p:spPr>
        <p:txBody>
          <a:bodyPr wrap="square" lIns="0" tIns="0" rIns="0" bIns="0" rtlCol="0" anchor="ctr"/>
          <a:lstStyle/>
          <a:p>
            <a:pPr indent="0" marL="0">
              <a:buNone/>
            </a:pPr>
            <a:r>
              <a:rPr lang="en-US" sz="1100" dirty="0">
                <a:solidFill>
                  <a:srgbClr val="E4E9EF"/>
                </a:solidFill>
                <a:latin typeface="Calibri" pitchFamily="34" charset="0"/>
                <a:ea typeface="Calibri" pitchFamily="34" charset="-122"/>
                <a:cs typeface="Calibri" pitchFamily="34" charset="-120"/>
              </a:rPr>
              <a:t>Frequentemente após anos de ansiedade/depressão mal compreendidas</a:t>
            </a:r>
            <a:endParaRPr lang="en-US" sz="1100" dirty="0"/>
          </a:p>
        </p:txBody>
      </p:sp>
      <p:sp>
        <p:nvSpPr>
          <p:cNvPr id="19" name="Text 17"/>
          <p:cNvSpPr/>
          <p:nvPr/>
        </p:nvSpPr>
        <p:spPr>
          <a:xfrm>
            <a:off x="822960" y="4480560"/>
            <a:ext cx="9875520" cy="822960"/>
          </a:xfrm>
          <a:prstGeom prst="rect">
            <a:avLst/>
          </a:prstGeom>
          <a:noFill/>
          <a:ln/>
        </p:spPr>
        <p:txBody>
          <a:bodyPr wrap="square" lIns="0" tIns="0" rIns="0" bIns="0" rtlCol="0" anchor="ctr"/>
          <a:lstStyle/>
          <a:p>
            <a:pPr indent="0" marL="0">
              <a:buNone/>
            </a:pPr>
            <a:r>
              <a:rPr lang="en-US" sz="1350" i="1" dirty="0">
                <a:solidFill>
                  <a:srgbClr val="6B6153"/>
                </a:solidFill>
                <a:latin typeface="Calibri" pitchFamily="34" charset="0"/>
                <a:ea typeface="Calibri" pitchFamily="34" charset="-122"/>
                <a:cs typeface="Calibri" pitchFamily="34" charset="-120"/>
              </a:rPr>
              <a:t>O termo "esgotamento autista" (autistic burnout) descreve especificamente essa exaustão acumulada — diferente de burnout ocupacional (Módulo 4.3), embora possam coexistir.</a:t>
            </a:r>
            <a:endParaRPr lang="en-US" sz="1350" dirty="0"/>
          </a:p>
        </p:txBody>
      </p:sp>
      <p:sp>
        <p:nvSpPr>
          <p:cNvPr id="20" name="Text 18"/>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TEA em Adultos — Módulo 4.27</a:t>
            </a:r>
            <a:endParaRPr lang="en-US" sz="900" dirty="0"/>
          </a:p>
        </p:txBody>
      </p:sp>
      <p:sp>
        <p:nvSpPr>
          <p:cNvPr id="21" name="Text 19"/>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45720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PASSO 1 · MECANISMO</a:t>
            </a:r>
            <a:endParaRPr lang="en-US" sz="1100" dirty="0"/>
          </a:p>
        </p:txBody>
      </p:sp>
      <p:sp>
        <p:nvSpPr>
          <p:cNvPr id="3" name="Text 1"/>
          <p:cNvSpPr/>
          <p:nvPr/>
        </p:nvSpPr>
        <p:spPr>
          <a:xfrm>
            <a:off x="777240" y="731520"/>
            <a:ext cx="10058400" cy="685800"/>
          </a:xfrm>
          <a:prstGeom prst="rect">
            <a:avLst/>
          </a:prstGeom>
          <a:noFill/>
          <a:ln/>
        </p:spPr>
        <p:txBody>
          <a:bodyPr wrap="square" lIns="0" tIns="0" rIns="0" bIns="0" rtlCol="0" anchor="ctr"/>
          <a:lstStyle/>
          <a:p>
            <a:pPr indent="0" marL="0">
              <a:buNone/>
            </a:pPr>
            <a:r>
              <a:rPr lang="en-US" sz="2800" b="1" dirty="0">
                <a:solidFill>
                  <a:srgbClr val="12283D"/>
                </a:solidFill>
                <a:latin typeface="Cambria" pitchFamily="34" charset="0"/>
                <a:ea typeface="Cambria" pitchFamily="34" charset="-122"/>
                <a:cs typeface="Cambria" pitchFamily="34" charset="-120"/>
              </a:rPr>
              <a:t>3 traços centrais</a:t>
            </a:r>
            <a:endParaRPr lang="en-US" sz="2800" dirty="0"/>
          </a:p>
        </p:txBody>
      </p:sp>
      <p:sp>
        <p:nvSpPr>
          <p:cNvPr id="4" name="Shape 2"/>
          <p:cNvSpPr/>
          <p:nvPr/>
        </p:nvSpPr>
        <p:spPr>
          <a:xfrm>
            <a:off x="2116836" y="1920240"/>
            <a:ext cx="822960" cy="822960"/>
          </a:xfrm>
          <a:prstGeom prst="ellipse">
            <a:avLst/>
          </a:prstGeom>
          <a:solidFill>
            <a:srgbClr val="12283D"/>
          </a:solidFill>
          <a:ln/>
        </p:spPr>
      </p:sp>
      <p:sp>
        <p:nvSpPr>
          <p:cNvPr id="5" name="Text 3"/>
          <p:cNvSpPr/>
          <p:nvPr/>
        </p:nvSpPr>
        <p:spPr>
          <a:xfrm>
            <a:off x="928116" y="2926080"/>
            <a:ext cx="3200400" cy="502920"/>
          </a:xfrm>
          <a:prstGeom prst="rect">
            <a:avLst/>
          </a:prstGeom>
          <a:noFill/>
          <a:ln/>
        </p:spPr>
        <p:txBody>
          <a:bodyPr wrap="square" lIns="0" tIns="0" rIns="0" bIns="0" rtlCol="0" anchor="ctr"/>
          <a:lstStyle/>
          <a:p>
            <a:pPr algn="ctr" indent="0" marL="0">
              <a:buNone/>
            </a:pPr>
            <a:r>
              <a:rPr lang="en-US" sz="2000" b="1" dirty="0">
                <a:solidFill>
                  <a:srgbClr val="12283D"/>
                </a:solidFill>
                <a:latin typeface="Cambria" pitchFamily="34" charset="0"/>
                <a:ea typeface="Cambria" pitchFamily="34" charset="-122"/>
                <a:cs typeface="Cambria" pitchFamily="34" charset="-120"/>
              </a:rPr>
              <a:t>Comunicação social diferente</a:t>
            </a:r>
            <a:endParaRPr lang="en-US" sz="2000" dirty="0"/>
          </a:p>
        </p:txBody>
      </p:sp>
      <p:sp>
        <p:nvSpPr>
          <p:cNvPr id="6" name="Text 4"/>
          <p:cNvSpPr/>
          <p:nvPr/>
        </p:nvSpPr>
        <p:spPr>
          <a:xfrm>
            <a:off x="1110996" y="3474720"/>
            <a:ext cx="2834640" cy="1463040"/>
          </a:xfrm>
          <a:prstGeom prst="rect">
            <a:avLst/>
          </a:prstGeom>
          <a:noFill/>
          <a:ln/>
        </p:spPr>
        <p:txBody>
          <a:bodyPr wrap="square" lIns="0" tIns="0" rIns="0" bIns="0" rtlCol="0" anchor="ctr"/>
          <a:lstStyle/>
          <a:p>
            <a:pPr algn="ctr" indent="0" marL="0">
              <a:buNone/>
            </a:pPr>
            <a:r>
              <a:rPr lang="en-US" sz="1300" dirty="0">
                <a:solidFill>
                  <a:srgbClr val="6B6153"/>
                </a:solidFill>
                <a:latin typeface="Calibri" pitchFamily="34" charset="0"/>
                <a:ea typeface="Calibri" pitchFamily="34" charset="-122"/>
                <a:cs typeface="Calibri" pitchFamily="34" charset="-120"/>
              </a:rPr>
              <a:t>Estilo comunicativo distinto, não déficit — o "problema da dupla empatia"</a:t>
            </a:r>
            <a:endParaRPr lang="en-US" sz="1300" dirty="0"/>
          </a:p>
        </p:txBody>
      </p:sp>
      <p:sp>
        <p:nvSpPr>
          <p:cNvPr id="7" name="Shape 5"/>
          <p:cNvSpPr/>
          <p:nvPr/>
        </p:nvSpPr>
        <p:spPr>
          <a:xfrm>
            <a:off x="5682996" y="1920240"/>
            <a:ext cx="822960" cy="822960"/>
          </a:xfrm>
          <a:prstGeom prst="ellipse">
            <a:avLst/>
          </a:prstGeom>
          <a:solidFill>
            <a:srgbClr val="C1652F"/>
          </a:solidFill>
          <a:ln/>
        </p:spPr>
      </p:sp>
      <p:sp>
        <p:nvSpPr>
          <p:cNvPr id="8" name="Text 6"/>
          <p:cNvSpPr/>
          <p:nvPr/>
        </p:nvSpPr>
        <p:spPr>
          <a:xfrm>
            <a:off x="4494276" y="2926080"/>
            <a:ext cx="3200400" cy="502920"/>
          </a:xfrm>
          <a:prstGeom prst="rect">
            <a:avLst/>
          </a:prstGeom>
          <a:noFill/>
          <a:ln/>
        </p:spPr>
        <p:txBody>
          <a:bodyPr wrap="square" lIns="0" tIns="0" rIns="0" bIns="0" rtlCol="0" anchor="ctr"/>
          <a:lstStyle/>
          <a:p>
            <a:pPr algn="ctr" indent="0" marL="0">
              <a:buNone/>
            </a:pPr>
            <a:r>
              <a:rPr lang="en-US" sz="2000" b="1" dirty="0">
                <a:solidFill>
                  <a:srgbClr val="12283D"/>
                </a:solidFill>
                <a:latin typeface="Cambria" pitchFamily="34" charset="0"/>
                <a:ea typeface="Cambria" pitchFamily="34" charset="-122"/>
                <a:cs typeface="Cambria" pitchFamily="34" charset="-120"/>
              </a:rPr>
              <a:t>Padrões restritos e repetitivos</a:t>
            </a:r>
            <a:endParaRPr lang="en-US" sz="2000" dirty="0"/>
          </a:p>
        </p:txBody>
      </p:sp>
      <p:sp>
        <p:nvSpPr>
          <p:cNvPr id="9" name="Text 7"/>
          <p:cNvSpPr/>
          <p:nvPr/>
        </p:nvSpPr>
        <p:spPr>
          <a:xfrm>
            <a:off x="4677156" y="3474720"/>
            <a:ext cx="2834640" cy="1463040"/>
          </a:xfrm>
          <a:prstGeom prst="rect">
            <a:avLst/>
          </a:prstGeom>
          <a:noFill/>
          <a:ln/>
        </p:spPr>
        <p:txBody>
          <a:bodyPr wrap="square" lIns="0" tIns="0" rIns="0" bIns="0" rtlCol="0" anchor="ctr"/>
          <a:lstStyle/>
          <a:p>
            <a:pPr algn="ctr" indent="0" marL="0">
              <a:buNone/>
            </a:pPr>
            <a:r>
              <a:rPr lang="en-US" sz="1300" dirty="0">
                <a:solidFill>
                  <a:srgbClr val="6B6153"/>
                </a:solidFill>
                <a:latin typeface="Calibri" pitchFamily="34" charset="0"/>
                <a:ea typeface="Calibri" pitchFamily="34" charset="-122"/>
                <a:cs typeface="Calibri" pitchFamily="34" charset="-120"/>
              </a:rPr>
              <a:t>Interesses intensos, necessidade de rotina e previsibilidade</a:t>
            </a:r>
            <a:endParaRPr lang="en-US" sz="1300" dirty="0"/>
          </a:p>
        </p:txBody>
      </p:sp>
      <p:sp>
        <p:nvSpPr>
          <p:cNvPr id="10" name="Shape 8"/>
          <p:cNvSpPr/>
          <p:nvPr/>
        </p:nvSpPr>
        <p:spPr>
          <a:xfrm>
            <a:off x="9249156" y="1920240"/>
            <a:ext cx="822960" cy="822960"/>
          </a:xfrm>
          <a:prstGeom prst="ellipse">
            <a:avLst/>
          </a:prstGeom>
          <a:solidFill>
            <a:srgbClr val="63768A"/>
          </a:solidFill>
          <a:ln/>
        </p:spPr>
      </p:sp>
      <p:sp>
        <p:nvSpPr>
          <p:cNvPr id="11" name="Text 9"/>
          <p:cNvSpPr/>
          <p:nvPr/>
        </p:nvSpPr>
        <p:spPr>
          <a:xfrm>
            <a:off x="8060436" y="2926080"/>
            <a:ext cx="3200400" cy="502920"/>
          </a:xfrm>
          <a:prstGeom prst="rect">
            <a:avLst/>
          </a:prstGeom>
          <a:noFill/>
          <a:ln/>
        </p:spPr>
        <p:txBody>
          <a:bodyPr wrap="square" lIns="0" tIns="0" rIns="0" bIns="0" rtlCol="0" anchor="ctr"/>
          <a:lstStyle/>
          <a:p>
            <a:pPr algn="ctr" indent="0" marL="0">
              <a:buNone/>
            </a:pPr>
            <a:r>
              <a:rPr lang="en-US" sz="2000" b="1" dirty="0">
                <a:solidFill>
                  <a:srgbClr val="12283D"/>
                </a:solidFill>
                <a:latin typeface="Cambria" pitchFamily="34" charset="0"/>
                <a:ea typeface="Cambria" pitchFamily="34" charset="-122"/>
                <a:cs typeface="Cambria" pitchFamily="34" charset="-120"/>
              </a:rPr>
              <a:t>Processamento sensorial diferente</a:t>
            </a:r>
            <a:endParaRPr lang="en-US" sz="2000" dirty="0"/>
          </a:p>
        </p:txBody>
      </p:sp>
      <p:sp>
        <p:nvSpPr>
          <p:cNvPr id="12" name="Text 10"/>
          <p:cNvSpPr/>
          <p:nvPr/>
        </p:nvSpPr>
        <p:spPr>
          <a:xfrm>
            <a:off x="8243316" y="3474720"/>
            <a:ext cx="2834640" cy="1463040"/>
          </a:xfrm>
          <a:prstGeom prst="rect">
            <a:avLst/>
          </a:prstGeom>
          <a:noFill/>
          <a:ln/>
        </p:spPr>
        <p:txBody>
          <a:bodyPr wrap="square" lIns="0" tIns="0" rIns="0" bIns="0" rtlCol="0" anchor="ctr"/>
          <a:lstStyle/>
          <a:p>
            <a:pPr algn="ctr" indent="0" marL="0">
              <a:buNone/>
            </a:pPr>
            <a:r>
              <a:rPr lang="en-US" sz="1300" dirty="0">
                <a:solidFill>
                  <a:srgbClr val="6B6153"/>
                </a:solidFill>
                <a:latin typeface="Calibri" pitchFamily="34" charset="0"/>
                <a:ea typeface="Calibri" pitchFamily="34" charset="-122"/>
                <a:cs typeface="Calibri" pitchFamily="34" charset="-120"/>
              </a:rPr>
              <a:t>Hiper ou hipossensibilidade a estímulos do ambiente</a:t>
            </a:r>
            <a:endParaRPr lang="en-US" sz="1300" dirty="0"/>
          </a:p>
        </p:txBody>
      </p:sp>
      <p:sp>
        <p:nvSpPr>
          <p:cNvPr id="13" name="Text 11"/>
          <p:cNvSpPr/>
          <p:nvPr/>
        </p:nvSpPr>
        <p:spPr>
          <a:xfrm>
            <a:off x="822960" y="5212080"/>
            <a:ext cx="9601200" cy="548640"/>
          </a:xfrm>
          <a:prstGeom prst="rect">
            <a:avLst/>
          </a:prstGeom>
          <a:noFill/>
          <a:ln/>
        </p:spPr>
        <p:txBody>
          <a:bodyPr wrap="square" lIns="0" tIns="0" rIns="0" bIns="0" rtlCol="0" anchor="ctr"/>
          <a:lstStyle/>
          <a:p>
            <a:pPr algn="ctr" indent="0" marL="0">
              <a:buNone/>
            </a:pPr>
            <a:r>
              <a:rPr lang="en-US" sz="1300" i="1" dirty="0">
                <a:solidFill>
                  <a:srgbClr val="6B6153"/>
                </a:solidFill>
                <a:latin typeface="Calibri" pitchFamily="34" charset="0"/>
                <a:ea typeface="Calibri" pitchFamily="34" charset="-122"/>
                <a:cs typeface="Calibri" pitchFamily="34" charset="-120"/>
              </a:rPr>
              <a:t>O "problema da dupla empatia" propõe que a dificuldade de comunicação é bidirecional — pessoas neurotípicas também têm dificuldade de interpretar pessoas autistas, não é uma falha unilateral.</a:t>
            </a:r>
            <a:endParaRPr lang="en-US" sz="1300" dirty="0"/>
          </a:p>
        </p:txBody>
      </p:sp>
      <p:sp>
        <p:nvSpPr>
          <p:cNvPr id="14" name="Text 12"/>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TEA em Adultos — Módulo 4.27</a:t>
            </a:r>
            <a:endParaRPr lang="en-US" sz="900" dirty="0"/>
          </a:p>
        </p:txBody>
      </p:sp>
      <p:sp>
        <p:nvSpPr>
          <p:cNvPr id="15" name="Text 13"/>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45720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PASSO 2 · SINAIS DE ALERTA</a:t>
            </a:r>
            <a:endParaRPr lang="en-US" sz="1100" dirty="0"/>
          </a:p>
        </p:txBody>
      </p:sp>
      <p:sp>
        <p:nvSpPr>
          <p:cNvPr id="3" name="Text 1"/>
          <p:cNvSpPr/>
          <p:nvPr/>
        </p:nvSpPr>
        <p:spPr>
          <a:xfrm>
            <a:off x="777240" y="731520"/>
            <a:ext cx="10058400" cy="685800"/>
          </a:xfrm>
          <a:prstGeom prst="rect">
            <a:avLst/>
          </a:prstGeom>
          <a:noFill/>
          <a:ln/>
        </p:spPr>
        <p:txBody>
          <a:bodyPr wrap="square" lIns="0" tIns="0" rIns="0" bIns="0" rtlCol="0" anchor="ctr"/>
          <a:lstStyle/>
          <a:p>
            <a:pPr indent="0" marL="0">
              <a:buNone/>
            </a:pPr>
            <a:r>
              <a:rPr lang="en-US" sz="2800" b="1" dirty="0">
                <a:solidFill>
                  <a:srgbClr val="12283D"/>
                </a:solidFill>
                <a:latin typeface="Cambria" pitchFamily="34" charset="0"/>
                <a:ea typeface="Cambria" pitchFamily="34" charset="-122"/>
                <a:cs typeface="Cambria" pitchFamily="34" charset="-120"/>
              </a:rPr>
              <a:t>Como reconhecer o padrão na prática</a:t>
            </a:r>
            <a:endParaRPr lang="en-US" sz="2800" dirty="0"/>
          </a:p>
        </p:txBody>
      </p:sp>
      <p:sp>
        <p:nvSpPr>
          <p:cNvPr id="4" name="Shape 2"/>
          <p:cNvSpPr/>
          <p:nvPr/>
        </p:nvSpPr>
        <p:spPr>
          <a:xfrm>
            <a:off x="822960" y="1929384"/>
            <a:ext cx="201168" cy="201168"/>
          </a:xfrm>
          <a:prstGeom prst="ellipse">
            <a:avLst/>
          </a:prstGeom>
          <a:solidFill>
            <a:srgbClr val="C1652F"/>
          </a:solidFill>
          <a:ln/>
        </p:spPr>
      </p:sp>
      <p:sp>
        <p:nvSpPr>
          <p:cNvPr id="5" name="Text 3"/>
          <p:cNvSpPr/>
          <p:nvPr/>
        </p:nvSpPr>
        <p:spPr>
          <a:xfrm>
            <a:off x="1188720" y="1874520"/>
            <a:ext cx="2377440" cy="411480"/>
          </a:xfrm>
          <a:prstGeom prst="rect">
            <a:avLst/>
          </a:prstGeom>
          <a:noFill/>
          <a:ln/>
        </p:spPr>
        <p:txBody>
          <a:bodyPr wrap="square" lIns="0" tIns="0" rIns="0" bIns="0" rtlCol="0" anchor="ctr"/>
          <a:lstStyle/>
          <a:p>
            <a:pPr indent="0" marL="0">
              <a:buNone/>
            </a:pPr>
            <a:r>
              <a:rPr lang="en-US" sz="1500" b="1" dirty="0">
                <a:solidFill>
                  <a:srgbClr val="12283D"/>
                </a:solidFill>
                <a:latin typeface="Calibri" pitchFamily="34" charset="0"/>
                <a:ea typeface="Calibri" pitchFamily="34" charset="-122"/>
                <a:cs typeface="Calibri" pitchFamily="34" charset="-120"/>
              </a:rPr>
              <a:t>Cognitivo</a:t>
            </a:r>
            <a:endParaRPr lang="en-US" sz="1500" dirty="0"/>
          </a:p>
        </p:txBody>
      </p:sp>
      <p:sp>
        <p:nvSpPr>
          <p:cNvPr id="6" name="Text 4"/>
          <p:cNvSpPr/>
          <p:nvPr/>
        </p:nvSpPr>
        <p:spPr>
          <a:xfrm>
            <a:off x="3657600" y="1874520"/>
            <a:ext cx="7589520" cy="640080"/>
          </a:xfrm>
          <a:prstGeom prst="rect">
            <a:avLst/>
          </a:prstGeom>
          <a:noFill/>
          <a:ln/>
        </p:spPr>
        <p:txBody>
          <a:bodyPr wrap="square" lIns="0" tIns="0" rIns="0" bIns="0" rtlCol="0" anchor="ctr"/>
          <a:lstStyle/>
          <a:p>
            <a:pPr indent="0" marL="0">
              <a:buNone/>
            </a:pPr>
            <a:r>
              <a:rPr lang="en-US" sz="1350" dirty="0">
                <a:solidFill>
                  <a:srgbClr val="6B6153"/>
                </a:solidFill>
                <a:latin typeface="Calibri" pitchFamily="34" charset="0"/>
                <a:ea typeface="Calibri" pitchFamily="34" charset="-122"/>
                <a:cs typeface="Calibri" pitchFamily="34" charset="-120"/>
              </a:rPr>
              <a:t>Pensamento literal, interesses intensos e focados, dificuldade com ambiguidade implícita</a:t>
            </a:r>
            <a:endParaRPr lang="en-US" sz="1350" dirty="0"/>
          </a:p>
        </p:txBody>
      </p:sp>
      <p:sp>
        <p:nvSpPr>
          <p:cNvPr id="7" name="Shape 5"/>
          <p:cNvSpPr/>
          <p:nvPr/>
        </p:nvSpPr>
        <p:spPr>
          <a:xfrm>
            <a:off x="822960" y="2798064"/>
            <a:ext cx="201168" cy="201168"/>
          </a:xfrm>
          <a:prstGeom prst="ellipse">
            <a:avLst/>
          </a:prstGeom>
          <a:solidFill>
            <a:srgbClr val="C1652F"/>
          </a:solidFill>
          <a:ln/>
        </p:spPr>
      </p:sp>
      <p:sp>
        <p:nvSpPr>
          <p:cNvPr id="8" name="Text 6"/>
          <p:cNvSpPr/>
          <p:nvPr/>
        </p:nvSpPr>
        <p:spPr>
          <a:xfrm>
            <a:off x="1188720" y="2743200"/>
            <a:ext cx="2377440" cy="411480"/>
          </a:xfrm>
          <a:prstGeom prst="rect">
            <a:avLst/>
          </a:prstGeom>
          <a:noFill/>
          <a:ln/>
        </p:spPr>
        <p:txBody>
          <a:bodyPr wrap="square" lIns="0" tIns="0" rIns="0" bIns="0" rtlCol="0" anchor="ctr"/>
          <a:lstStyle/>
          <a:p>
            <a:pPr indent="0" marL="0">
              <a:buNone/>
            </a:pPr>
            <a:r>
              <a:rPr lang="en-US" sz="1500" b="1" dirty="0">
                <a:solidFill>
                  <a:srgbClr val="12283D"/>
                </a:solidFill>
                <a:latin typeface="Calibri" pitchFamily="34" charset="0"/>
                <a:ea typeface="Calibri" pitchFamily="34" charset="-122"/>
                <a:cs typeface="Calibri" pitchFamily="34" charset="-120"/>
              </a:rPr>
              <a:t>Comportamental</a:t>
            </a:r>
            <a:endParaRPr lang="en-US" sz="1500" dirty="0"/>
          </a:p>
        </p:txBody>
      </p:sp>
      <p:sp>
        <p:nvSpPr>
          <p:cNvPr id="9" name="Text 7"/>
          <p:cNvSpPr/>
          <p:nvPr/>
        </p:nvSpPr>
        <p:spPr>
          <a:xfrm>
            <a:off x="3657600" y="2743200"/>
            <a:ext cx="7589520" cy="640080"/>
          </a:xfrm>
          <a:prstGeom prst="rect">
            <a:avLst/>
          </a:prstGeom>
          <a:noFill/>
          <a:ln/>
        </p:spPr>
        <p:txBody>
          <a:bodyPr wrap="square" lIns="0" tIns="0" rIns="0" bIns="0" rtlCol="0" anchor="ctr"/>
          <a:lstStyle/>
          <a:p>
            <a:pPr indent="0" marL="0">
              <a:buNone/>
            </a:pPr>
            <a:r>
              <a:rPr lang="en-US" sz="1350" dirty="0">
                <a:solidFill>
                  <a:srgbClr val="6B6153"/>
                </a:solidFill>
                <a:latin typeface="Calibri" pitchFamily="34" charset="0"/>
                <a:ea typeface="Calibri" pitchFamily="34" charset="-122"/>
                <a:cs typeface="Calibri" pitchFamily="34" charset="-120"/>
              </a:rPr>
              <a:t>Necessidade de rotina, comportamentos repetitivos (stimming) de autorregulação</a:t>
            </a:r>
            <a:endParaRPr lang="en-US" sz="1350" dirty="0"/>
          </a:p>
        </p:txBody>
      </p:sp>
      <p:sp>
        <p:nvSpPr>
          <p:cNvPr id="10" name="Shape 8"/>
          <p:cNvSpPr/>
          <p:nvPr/>
        </p:nvSpPr>
        <p:spPr>
          <a:xfrm>
            <a:off x="822960" y="3666744"/>
            <a:ext cx="201168" cy="201168"/>
          </a:xfrm>
          <a:prstGeom prst="ellipse">
            <a:avLst/>
          </a:prstGeom>
          <a:solidFill>
            <a:srgbClr val="C1652F"/>
          </a:solidFill>
          <a:ln/>
        </p:spPr>
      </p:sp>
      <p:sp>
        <p:nvSpPr>
          <p:cNvPr id="11" name="Text 9"/>
          <p:cNvSpPr/>
          <p:nvPr/>
        </p:nvSpPr>
        <p:spPr>
          <a:xfrm>
            <a:off x="1188720" y="3611880"/>
            <a:ext cx="2377440" cy="411480"/>
          </a:xfrm>
          <a:prstGeom prst="rect">
            <a:avLst/>
          </a:prstGeom>
          <a:noFill/>
          <a:ln/>
        </p:spPr>
        <p:txBody>
          <a:bodyPr wrap="square" lIns="0" tIns="0" rIns="0" bIns="0" rtlCol="0" anchor="ctr"/>
          <a:lstStyle/>
          <a:p>
            <a:pPr indent="0" marL="0">
              <a:buNone/>
            </a:pPr>
            <a:r>
              <a:rPr lang="en-US" sz="1500" b="1" dirty="0">
                <a:solidFill>
                  <a:srgbClr val="12283D"/>
                </a:solidFill>
                <a:latin typeface="Calibri" pitchFamily="34" charset="0"/>
                <a:ea typeface="Calibri" pitchFamily="34" charset="-122"/>
                <a:cs typeface="Calibri" pitchFamily="34" charset="-120"/>
              </a:rPr>
              <a:t>Relacional</a:t>
            </a:r>
            <a:endParaRPr lang="en-US" sz="1500" dirty="0"/>
          </a:p>
        </p:txBody>
      </p:sp>
      <p:sp>
        <p:nvSpPr>
          <p:cNvPr id="12" name="Text 10"/>
          <p:cNvSpPr/>
          <p:nvPr/>
        </p:nvSpPr>
        <p:spPr>
          <a:xfrm>
            <a:off x="3657600" y="3611880"/>
            <a:ext cx="7589520" cy="640080"/>
          </a:xfrm>
          <a:prstGeom prst="rect">
            <a:avLst/>
          </a:prstGeom>
          <a:noFill/>
          <a:ln/>
        </p:spPr>
        <p:txBody>
          <a:bodyPr wrap="square" lIns="0" tIns="0" rIns="0" bIns="0" rtlCol="0" anchor="ctr"/>
          <a:lstStyle/>
          <a:p>
            <a:pPr indent="0" marL="0">
              <a:buNone/>
            </a:pPr>
            <a:r>
              <a:rPr lang="en-US" sz="1350" dirty="0">
                <a:solidFill>
                  <a:srgbClr val="6B6153"/>
                </a:solidFill>
                <a:latin typeface="Calibri" pitchFamily="34" charset="0"/>
                <a:ea typeface="Calibri" pitchFamily="34" charset="-122"/>
                <a:cs typeface="Calibri" pitchFamily="34" charset="-120"/>
              </a:rPr>
              <a:t>Dificuldade de leitura de pistas sociais não-verbais, fadiga social após interações</a:t>
            </a:r>
            <a:endParaRPr lang="en-US" sz="1350" dirty="0"/>
          </a:p>
        </p:txBody>
      </p:sp>
      <p:sp>
        <p:nvSpPr>
          <p:cNvPr id="13" name="Shape 11"/>
          <p:cNvSpPr/>
          <p:nvPr/>
        </p:nvSpPr>
        <p:spPr>
          <a:xfrm>
            <a:off x="822960" y="4535424"/>
            <a:ext cx="201168" cy="201168"/>
          </a:xfrm>
          <a:prstGeom prst="ellipse">
            <a:avLst/>
          </a:prstGeom>
          <a:solidFill>
            <a:srgbClr val="C1652F"/>
          </a:solidFill>
          <a:ln/>
        </p:spPr>
      </p:sp>
      <p:sp>
        <p:nvSpPr>
          <p:cNvPr id="14" name="Text 12"/>
          <p:cNvSpPr/>
          <p:nvPr/>
        </p:nvSpPr>
        <p:spPr>
          <a:xfrm>
            <a:off x="1188720" y="4480560"/>
            <a:ext cx="2377440" cy="411480"/>
          </a:xfrm>
          <a:prstGeom prst="rect">
            <a:avLst/>
          </a:prstGeom>
          <a:noFill/>
          <a:ln/>
        </p:spPr>
        <p:txBody>
          <a:bodyPr wrap="square" lIns="0" tIns="0" rIns="0" bIns="0" rtlCol="0" anchor="ctr"/>
          <a:lstStyle/>
          <a:p>
            <a:pPr indent="0" marL="0">
              <a:buNone/>
            </a:pPr>
            <a:r>
              <a:rPr lang="en-US" sz="1500" b="1" dirty="0">
                <a:solidFill>
                  <a:srgbClr val="12283D"/>
                </a:solidFill>
                <a:latin typeface="Calibri" pitchFamily="34" charset="0"/>
                <a:ea typeface="Calibri" pitchFamily="34" charset="-122"/>
                <a:cs typeface="Calibri" pitchFamily="34" charset="-120"/>
              </a:rPr>
              <a:t>Físico</a:t>
            </a:r>
            <a:endParaRPr lang="en-US" sz="1500" dirty="0"/>
          </a:p>
        </p:txBody>
      </p:sp>
      <p:sp>
        <p:nvSpPr>
          <p:cNvPr id="15" name="Text 13"/>
          <p:cNvSpPr/>
          <p:nvPr/>
        </p:nvSpPr>
        <p:spPr>
          <a:xfrm>
            <a:off x="3657600" y="4480560"/>
            <a:ext cx="7589520" cy="640080"/>
          </a:xfrm>
          <a:prstGeom prst="rect">
            <a:avLst/>
          </a:prstGeom>
          <a:noFill/>
          <a:ln/>
        </p:spPr>
        <p:txBody>
          <a:bodyPr wrap="square" lIns="0" tIns="0" rIns="0" bIns="0" rtlCol="0" anchor="ctr"/>
          <a:lstStyle/>
          <a:p>
            <a:pPr indent="0" marL="0">
              <a:buNone/>
            </a:pPr>
            <a:r>
              <a:rPr lang="en-US" sz="1350" dirty="0">
                <a:solidFill>
                  <a:srgbClr val="6B6153"/>
                </a:solidFill>
                <a:latin typeface="Calibri" pitchFamily="34" charset="0"/>
                <a:ea typeface="Calibri" pitchFamily="34" charset="-122"/>
                <a:cs typeface="Calibri" pitchFamily="34" charset="-120"/>
              </a:rPr>
              <a:t>Hiper ou hipossensibilidade sensorial a som, luz, textura ou toque</a:t>
            </a:r>
            <a:endParaRPr lang="en-US" sz="1350" dirty="0"/>
          </a:p>
        </p:txBody>
      </p:sp>
      <p:sp>
        <p:nvSpPr>
          <p:cNvPr id="16" name="Text 14"/>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TEA em Adultos — Módulo 4.27</a:t>
            </a:r>
            <a:endParaRPr lang="en-US" sz="900" dirty="0"/>
          </a:p>
        </p:txBody>
      </p:sp>
      <p:sp>
        <p:nvSpPr>
          <p:cNvPr id="17" name="Text 15"/>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45720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PASSO 2 · SINAIS DE ALERTA</a:t>
            </a:r>
            <a:endParaRPr lang="en-US" sz="1100" dirty="0"/>
          </a:p>
        </p:txBody>
      </p:sp>
      <p:sp>
        <p:nvSpPr>
          <p:cNvPr id="3" name="Text 1"/>
          <p:cNvSpPr/>
          <p:nvPr/>
        </p:nvSpPr>
        <p:spPr>
          <a:xfrm>
            <a:off x="777240" y="731520"/>
            <a:ext cx="10058400" cy="685800"/>
          </a:xfrm>
          <a:prstGeom prst="rect">
            <a:avLst/>
          </a:prstGeom>
          <a:noFill/>
          <a:ln/>
        </p:spPr>
        <p:txBody>
          <a:bodyPr wrap="square" lIns="0" tIns="0" rIns="0" bIns="0" rtlCol="0" anchor="ctr"/>
          <a:lstStyle/>
          <a:p>
            <a:pPr indent="0" marL="0">
              <a:buNone/>
            </a:pPr>
            <a:r>
              <a:rPr lang="en-US" sz="2800" b="1" dirty="0">
                <a:solidFill>
                  <a:srgbClr val="12283D"/>
                </a:solidFill>
                <a:latin typeface="Cambria" pitchFamily="34" charset="0"/>
                <a:ea typeface="Cambria" pitchFamily="34" charset="-122"/>
                <a:cs typeface="Cambria" pitchFamily="34" charset="-120"/>
              </a:rPr>
              <a:t>Diagnóstico diferencial rápido</a:t>
            </a:r>
            <a:endParaRPr lang="en-US" sz="2800" dirty="0"/>
          </a:p>
        </p:txBody>
      </p:sp>
      <p:sp>
        <p:nvSpPr>
          <p:cNvPr id="4" name="Shape 2"/>
          <p:cNvSpPr/>
          <p:nvPr/>
        </p:nvSpPr>
        <p:spPr>
          <a:xfrm>
            <a:off x="822960" y="1920240"/>
            <a:ext cx="3240024" cy="3291840"/>
          </a:xfrm>
          <a:prstGeom prst="roundRect">
            <a:avLst>
              <a:gd name="adj" fmla="val 2258"/>
            </a:avLst>
          </a:prstGeom>
          <a:solidFill>
            <a:srgbClr val="FFFFFF"/>
          </a:solidFill>
          <a:ln/>
          <a:effectLst>
            <a:outerShdw sx="100000" sy="100000" kx="0" ky="0" algn="bl" rotWithShape="0" blurRad="101600" dist="38100" dir="2700000">
              <a:srgbClr val="000000">
                <a:alpha val="12000"/>
              </a:srgbClr>
            </a:outerShdw>
          </a:effectLst>
        </p:spPr>
      </p:sp>
      <p:sp>
        <p:nvSpPr>
          <p:cNvPr id="5" name="Shape 3"/>
          <p:cNvSpPr/>
          <p:nvPr/>
        </p:nvSpPr>
        <p:spPr>
          <a:xfrm>
            <a:off x="822960" y="1920240"/>
            <a:ext cx="3240024" cy="640080"/>
          </a:xfrm>
          <a:prstGeom prst="rect">
            <a:avLst/>
          </a:prstGeom>
          <a:solidFill>
            <a:srgbClr val="12283D"/>
          </a:solidFill>
          <a:ln/>
        </p:spPr>
      </p:sp>
      <p:sp>
        <p:nvSpPr>
          <p:cNvPr id="6" name="Text 4"/>
          <p:cNvSpPr/>
          <p:nvPr/>
        </p:nvSpPr>
        <p:spPr>
          <a:xfrm>
            <a:off x="822960" y="1920240"/>
            <a:ext cx="3240024"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Ansiedade Social</a:t>
            </a:r>
            <a:endParaRPr lang="en-US" sz="1500" dirty="0"/>
          </a:p>
        </p:txBody>
      </p:sp>
      <p:sp>
        <p:nvSpPr>
          <p:cNvPr id="7" name="Text 5"/>
          <p:cNvSpPr/>
          <p:nvPr/>
        </p:nvSpPr>
        <p:spPr>
          <a:xfrm>
            <a:off x="1051560" y="2743200"/>
            <a:ext cx="2782824" cy="2286000"/>
          </a:xfrm>
          <a:prstGeom prst="rect">
            <a:avLst/>
          </a:prstGeom>
          <a:noFill/>
          <a:ln/>
        </p:spPr>
        <p:txBody>
          <a:bodyPr wrap="square" lIns="0" tIns="0" rIns="0" bIns="0" rtlCol="0" anchor="ctr"/>
          <a:lstStyle/>
          <a:p>
            <a:pPr indent="0" marL="0">
              <a:buNone/>
            </a:pPr>
            <a:r>
              <a:rPr lang="en-US" sz="1250" dirty="0">
                <a:solidFill>
                  <a:srgbClr val="6B6153"/>
                </a:solidFill>
                <a:latin typeface="Calibri" pitchFamily="34" charset="0"/>
                <a:ea typeface="Calibri" pitchFamily="34" charset="-122"/>
                <a:cs typeface="Calibri" pitchFamily="34" charset="-120"/>
              </a:rPr>
              <a:t>O esgotamento social no TEA tem origem sensorial/de processamento, não medo de julgamento</a:t>
            </a:r>
            <a:endParaRPr lang="en-US" sz="1250" dirty="0"/>
          </a:p>
        </p:txBody>
      </p:sp>
      <p:sp>
        <p:nvSpPr>
          <p:cNvPr id="8" name="Shape 6"/>
          <p:cNvSpPr/>
          <p:nvPr/>
        </p:nvSpPr>
        <p:spPr>
          <a:xfrm>
            <a:off x="4474464" y="1920240"/>
            <a:ext cx="3240024" cy="3291840"/>
          </a:xfrm>
          <a:prstGeom prst="roundRect">
            <a:avLst>
              <a:gd name="adj" fmla="val 2258"/>
            </a:avLst>
          </a:prstGeom>
          <a:solidFill>
            <a:srgbClr val="FFFFFF"/>
          </a:solidFill>
          <a:ln/>
          <a:effectLst>
            <a:outerShdw sx="100000" sy="100000" kx="0" ky="0" algn="bl" rotWithShape="0" blurRad="101600" dist="38100" dir="2700000">
              <a:srgbClr val="000000">
                <a:alpha val="12000"/>
              </a:srgbClr>
            </a:outerShdw>
          </a:effectLst>
        </p:spPr>
      </p:sp>
      <p:sp>
        <p:nvSpPr>
          <p:cNvPr id="9" name="Shape 7"/>
          <p:cNvSpPr/>
          <p:nvPr/>
        </p:nvSpPr>
        <p:spPr>
          <a:xfrm>
            <a:off x="4474464" y="1920240"/>
            <a:ext cx="3240024" cy="640080"/>
          </a:xfrm>
          <a:prstGeom prst="rect">
            <a:avLst/>
          </a:prstGeom>
          <a:solidFill>
            <a:srgbClr val="12283D"/>
          </a:solidFill>
          <a:ln/>
        </p:spPr>
      </p:sp>
      <p:sp>
        <p:nvSpPr>
          <p:cNvPr id="10" name="Text 8"/>
          <p:cNvSpPr/>
          <p:nvPr/>
        </p:nvSpPr>
        <p:spPr>
          <a:xfrm>
            <a:off x="4474464" y="1920240"/>
            <a:ext cx="3240024"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TOC (Módulo 4.8)</a:t>
            </a:r>
            <a:endParaRPr lang="en-US" sz="1500" dirty="0"/>
          </a:p>
        </p:txBody>
      </p:sp>
      <p:sp>
        <p:nvSpPr>
          <p:cNvPr id="11" name="Text 9"/>
          <p:cNvSpPr/>
          <p:nvPr/>
        </p:nvSpPr>
        <p:spPr>
          <a:xfrm>
            <a:off x="4703064" y="2743200"/>
            <a:ext cx="2782824" cy="2286000"/>
          </a:xfrm>
          <a:prstGeom prst="rect">
            <a:avLst/>
          </a:prstGeom>
          <a:noFill/>
          <a:ln/>
        </p:spPr>
        <p:txBody>
          <a:bodyPr wrap="square" lIns="0" tIns="0" rIns="0" bIns="0" rtlCol="0" anchor="ctr"/>
          <a:lstStyle/>
          <a:p>
            <a:pPr indent="0" marL="0">
              <a:buNone/>
            </a:pPr>
            <a:r>
              <a:rPr lang="en-US" sz="1250" dirty="0">
                <a:solidFill>
                  <a:srgbClr val="6B6153"/>
                </a:solidFill>
                <a:latin typeface="Calibri" pitchFamily="34" charset="0"/>
                <a:ea typeface="Calibri" pitchFamily="34" charset="-122"/>
                <a:cs typeface="Calibri" pitchFamily="34" charset="-120"/>
              </a:rPr>
              <a:t>Rotinas no TEA servem à previsibilidade sensorial, não à redução de ansiedade sobre conteúdo obsessivo</a:t>
            </a:r>
            <a:endParaRPr lang="en-US" sz="1250" dirty="0"/>
          </a:p>
        </p:txBody>
      </p:sp>
      <p:sp>
        <p:nvSpPr>
          <p:cNvPr id="12" name="Shape 10"/>
          <p:cNvSpPr/>
          <p:nvPr/>
        </p:nvSpPr>
        <p:spPr>
          <a:xfrm>
            <a:off x="8125968" y="1920240"/>
            <a:ext cx="3240024" cy="3291840"/>
          </a:xfrm>
          <a:prstGeom prst="roundRect">
            <a:avLst>
              <a:gd name="adj" fmla="val 2258"/>
            </a:avLst>
          </a:prstGeom>
          <a:solidFill>
            <a:srgbClr val="FFFFFF"/>
          </a:solidFill>
          <a:ln/>
          <a:effectLst>
            <a:outerShdw sx="100000" sy="100000" kx="0" ky="0" algn="bl" rotWithShape="0" blurRad="101600" dist="38100" dir="2700000">
              <a:srgbClr val="000000">
                <a:alpha val="12000"/>
              </a:srgbClr>
            </a:outerShdw>
          </a:effectLst>
        </p:spPr>
      </p:sp>
      <p:sp>
        <p:nvSpPr>
          <p:cNvPr id="13" name="Shape 11"/>
          <p:cNvSpPr/>
          <p:nvPr/>
        </p:nvSpPr>
        <p:spPr>
          <a:xfrm>
            <a:off x="8125968" y="1920240"/>
            <a:ext cx="3240024" cy="640080"/>
          </a:xfrm>
          <a:prstGeom prst="rect">
            <a:avLst/>
          </a:prstGeom>
          <a:solidFill>
            <a:srgbClr val="12283D"/>
          </a:solidFill>
          <a:ln/>
        </p:spPr>
      </p:sp>
      <p:sp>
        <p:nvSpPr>
          <p:cNvPr id="14" name="Text 12"/>
          <p:cNvSpPr/>
          <p:nvPr/>
        </p:nvSpPr>
        <p:spPr>
          <a:xfrm>
            <a:off x="8125968" y="1920240"/>
            <a:ext cx="3240024"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TP Esquizoide (Módulo 4.11)</a:t>
            </a:r>
            <a:endParaRPr lang="en-US" sz="1500" dirty="0"/>
          </a:p>
        </p:txBody>
      </p:sp>
      <p:sp>
        <p:nvSpPr>
          <p:cNvPr id="15" name="Text 13"/>
          <p:cNvSpPr/>
          <p:nvPr/>
        </p:nvSpPr>
        <p:spPr>
          <a:xfrm>
            <a:off x="8354568" y="2743200"/>
            <a:ext cx="2782824" cy="2286000"/>
          </a:xfrm>
          <a:prstGeom prst="rect">
            <a:avLst/>
          </a:prstGeom>
          <a:noFill/>
          <a:ln/>
        </p:spPr>
        <p:txBody>
          <a:bodyPr wrap="square" lIns="0" tIns="0" rIns="0" bIns="0" rtlCol="0" anchor="ctr"/>
          <a:lstStyle/>
          <a:p>
            <a:pPr indent="0" marL="0">
              <a:buNone/>
            </a:pPr>
            <a:r>
              <a:rPr lang="en-US" sz="1250" dirty="0">
                <a:solidFill>
                  <a:srgbClr val="6B6153"/>
                </a:solidFill>
                <a:latin typeface="Calibri" pitchFamily="34" charset="0"/>
                <a:ea typeface="Calibri" pitchFamily="34" charset="-122"/>
                <a:cs typeface="Calibri" pitchFamily="34" charset="-120"/>
              </a:rPr>
              <a:t>TEA envolve diferença de processamento social, não desinteresse por vínculo — o desejo de conexão costuma estar presente</a:t>
            </a:r>
            <a:endParaRPr lang="en-US" sz="1250" dirty="0"/>
          </a:p>
        </p:txBody>
      </p:sp>
      <p:sp>
        <p:nvSpPr>
          <p:cNvPr id="16" name="Text 14"/>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TEA em Adultos — Módulo 4.27</a:t>
            </a:r>
            <a:endParaRPr lang="en-US" sz="900" dirty="0"/>
          </a:p>
        </p:txBody>
      </p:sp>
      <p:sp>
        <p:nvSpPr>
          <p:cNvPr id="17" name="Text 15"/>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45720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PASSO 3 · INSTRUMENTO</a:t>
            </a:r>
            <a:endParaRPr lang="en-US" sz="1100" dirty="0"/>
          </a:p>
        </p:txBody>
      </p:sp>
      <p:sp>
        <p:nvSpPr>
          <p:cNvPr id="3" name="Text 1"/>
          <p:cNvSpPr/>
          <p:nvPr/>
        </p:nvSpPr>
        <p:spPr>
          <a:xfrm>
            <a:off x="777240" y="731520"/>
            <a:ext cx="10058400" cy="685800"/>
          </a:xfrm>
          <a:prstGeom prst="rect">
            <a:avLst/>
          </a:prstGeom>
          <a:noFill/>
          <a:ln/>
        </p:spPr>
        <p:txBody>
          <a:bodyPr wrap="square" lIns="0" tIns="0" rIns="0" bIns="0" rtlCol="0" anchor="ctr"/>
          <a:lstStyle/>
          <a:p>
            <a:pPr indent="0" marL="0">
              <a:buNone/>
            </a:pPr>
            <a:r>
              <a:rPr lang="en-US" sz="2800" b="1" dirty="0">
                <a:solidFill>
                  <a:srgbClr val="12283D"/>
                </a:solidFill>
                <a:latin typeface="Cambria" pitchFamily="34" charset="0"/>
                <a:ea typeface="Cambria" pitchFamily="34" charset="-122"/>
                <a:cs typeface="Cambria" pitchFamily="34" charset="-120"/>
              </a:rPr>
              <a:t>Instrumentos e confirmação diagnóstica</a:t>
            </a:r>
            <a:endParaRPr lang="en-US" sz="2800" dirty="0"/>
          </a:p>
        </p:txBody>
      </p:sp>
      <p:sp>
        <p:nvSpPr>
          <p:cNvPr id="4" name="Shape 2"/>
          <p:cNvSpPr/>
          <p:nvPr/>
        </p:nvSpPr>
        <p:spPr>
          <a:xfrm>
            <a:off x="822960" y="1920240"/>
            <a:ext cx="3240024" cy="3566160"/>
          </a:xfrm>
          <a:prstGeom prst="roundRect">
            <a:avLst>
              <a:gd name="adj" fmla="val 2258"/>
            </a:avLst>
          </a:prstGeom>
          <a:solidFill>
            <a:srgbClr val="FFFFFF"/>
          </a:solidFill>
          <a:ln/>
          <a:effectLst>
            <a:outerShdw sx="100000" sy="100000" kx="0" ky="0" algn="bl" rotWithShape="0" blurRad="101600" dist="38100" dir="2700000">
              <a:srgbClr val="000000">
                <a:alpha val="12000"/>
              </a:srgbClr>
            </a:outerShdw>
          </a:effectLst>
        </p:spPr>
      </p:sp>
      <p:sp>
        <p:nvSpPr>
          <p:cNvPr id="5" name="Text 3"/>
          <p:cNvSpPr/>
          <p:nvPr/>
        </p:nvSpPr>
        <p:spPr>
          <a:xfrm>
            <a:off x="1051560" y="2103120"/>
            <a:ext cx="2782824" cy="548640"/>
          </a:xfrm>
          <a:prstGeom prst="rect">
            <a:avLst/>
          </a:prstGeom>
          <a:noFill/>
          <a:ln/>
        </p:spPr>
        <p:txBody>
          <a:bodyPr wrap="square" lIns="0" tIns="0" rIns="0" bIns="0" rtlCol="0" anchor="ctr"/>
          <a:lstStyle/>
          <a:p>
            <a:pPr indent="0" marL="0">
              <a:buNone/>
            </a:pPr>
            <a:r>
              <a:rPr lang="en-US" sz="2200" b="1" dirty="0">
                <a:solidFill>
                  <a:srgbClr val="C1652F"/>
                </a:solidFill>
                <a:latin typeface="Cambria" pitchFamily="34" charset="0"/>
                <a:ea typeface="Cambria" pitchFamily="34" charset="-122"/>
                <a:cs typeface="Cambria" pitchFamily="34" charset="-120"/>
              </a:rPr>
              <a:t>AQ</a:t>
            </a:r>
            <a:endParaRPr lang="en-US" sz="2200" dirty="0"/>
          </a:p>
        </p:txBody>
      </p:sp>
      <p:sp>
        <p:nvSpPr>
          <p:cNvPr id="6" name="Text 4"/>
          <p:cNvSpPr/>
          <p:nvPr/>
        </p:nvSpPr>
        <p:spPr>
          <a:xfrm>
            <a:off x="1051560" y="2606040"/>
            <a:ext cx="2782824" cy="457200"/>
          </a:xfrm>
          <a:prstGeom prst="rect">
            <a:avLst/>
          </a:prstGeom>
          <a:noFill/>
          <a:ln/>
        </p:spPr>
        <p:txBody>
          <a:bodyPr wrap="square" lIns="0" tIns="0" rIns="0" bIns="0" rtlCol="0" anchor="ctr"/>
          <a:lstStyle/>
          <a:p>
            <a:pPr indent="0" marL="0">
              <a:buNone/>
            </a:pPr>
            <a:r>
              <a:rPr lang="en-US" sz="1100" i="1" dirty="0">
                <a:solidFill>
                  <a:srgbClr val="12283D"/>
                </a:solidFill>
                <a:latin typeface="Calibri" pitchFamily="34" charset="0"/>
                <a:ea typeface="Calibri" pitchFamily="34" charset="-122"/>
                <a:cs typeface="Calibri" pitchFamily="34" charset="-120"/>
              </a:rPr>
              <a:t>Autism Spectrum Quotient</a:t>
            </a:r>
            <a:endParaRPr lang="en-US" sz="1100" dirty="0"/>
          </a:p>
        </p:txBody>
      </p:sp>
      <p:sp>
        <p:nvSpPr>
          <p:cNvPr id="7" name="Text 5"/>
          <p:cNvSpPr/>
          <p:nvPr/>
        </p:nvSpPr>
        <p:spPr>
          <a:xfrm>
            <a:off x="1051560" y="3108960"/>
            <a:ext cx="2782824" cy="2286000"/>
          </a:xfrm>
          <a:prstGeom prst="rect">
            <a:avLst/>
          </a:prstGeom>
          <a:noFill/>
          <a:ln/>
        </p:spPr>
        <p:txBody>
          <a:bodyPr wrap="square" lIns="0" tIns="0" rIns="0" bIns="0" rtlCol="0" anchor="ctr"/>
          <a:lstStyle/>
          <a:p>
            <a:pPr indent="0" marL="0">
              <a:buNone/>
            </a:pPr>
            <a:r>
              <a:rPr lang="en-US" sz="1200" dirty="0">
                <a:solidFill>
                  <a:srgbClr val="6B6153"/>
                </a:solidFill>
                <a:latin typeface="Calibri" pitchFamily="34" charset="0"/>
                <a:ea typeface="Calibri" pitchFamily="34" charset="-122"/>
                <a:cs typeface="Calibri" pitchFamily="34" charset="-120"/>
              </a:rPr>
              <a:t>Triagem rápida de traços do espectro autista.</a:t>
            </a:r>
            <a:endParaRPr lang="en-US" sz="1200" dirty="0"/>
          </a:p>
        </p:txBody>
      </p:sp>
      <p:sp>
        <p:nvSpPr>
          <p:cNvPr id="8" name="Shape 6"/>
          <p:cNvSpPr/>
          <p:nvPr/>
        </p:nvSpPr>
        <p:spPr>
          <a:xfrm>
            <a:off x="4474464" y="1920240"/>
            <a:ext cx="3240024" cy="3566160"/>
          </a:xfrm>
          <a:prstGeom prst="roundRect">
            <a:avLst>
              <a:gd name="adj" fmla="val 2258"/>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4703064" y="2103120"/>
            <a:ext cx="2782824" cy="548640"/>
          </a:xfrm>
          <a:prstGeom prst="rect">
            <a:avLst/>
          </a:prstGeom>
          <a:noFill/>
          <a:ln/>
        </p:spPr>
        <p:txBody>
          <a:bodyPr wrap="square" lIns="0" tIns="0" rIns="0" bIns="0" rtlCol="0" anchor="ctr"/>
          <a:lstStyle/>
          <a:p>
            <a:pPr indent="0" marL="0">
              <a:buNone/>
            </a:pPr>
            <a:r>
              <a:rPr lang="en-US" sz="2200" b="1" dirty="0">
                <a:solidFill>
                  <a:srgbClr val="C1652F"/>
                </a:solidFill>
                <a:latin typeface="Cambria" pitchFamily="34" charset="0"/>
                <a:ea typeface="Cambria" pitchFamily="34" charset="-122"/>
                <a:cs typeface="Cambria" pitchFamily="34" charset="-120"/>
              </a:rPr>
              <a:t>RAADS-R</a:t>
            </a:r>
            <a:endParaRPr lang="en-US" sz="2200" dirty="0"/>
          </a:p>
        </p:txBody>
      </p:sp>
      <p:sp>
        <p:nvSpPr>
          <p:cNvPr id="10" name="Text 8"/>
          <p:cNvSpPr/>
          <p:nvPr/>
        </p:nvSpPr>
        <p:spPr>
          <a:xfrm>
            <a:off x="4703064" y="2606040"/>
            <a:ext cx="2782824" cy="457200"/>
          </a:xfrm>
          <a:prstGeom prst="rect">
            <a:avLst/>
          </a:prstGeom>
          <a:noFill/>
          <a:ln/>
        </p:spPr>
        <p:txBody>
          <a:bodyPr wrap="square" lIns="0" tIns="0" rIns="0" bIns="0" rtlCol="0" anchor="ctr"/>
          <a:lstStyle/>
          <a:p>
            <a:pPr indent="0" marL="0">
              <a:buNone/>
            </a:pPr>
            <a:r>
              <a:rPr lang="en-US" sz="1100" i="1" dirty="0">
                <a:solidFill>
                  <a:srgbClr val="12283D"/>
                </a:solidFill>
                <a:latin typeface="Calibri" pitchFamily="34" charset="0"/>
                <a:ea typeface="Calibri" pitchFamily="34" charset="-122"/>
                <a:cs typeface="Calibri" pitchFamily="34" charset="-120"/>
              </a:rPr>
              <a:t>Ritvo Autism and Asperger Diagnostic Scale</a:t>
            </a:r>
            <a:endParaRPr lang="en-US" sz="1100" dirty="0"/>
          </a:p>
        </p:txBody>
      </p:sp>
      <p:sp>
        <p:nvSpPr>
          <p:cNvPr id="11" name="Text 9"/>
          <p:cNvSpPr/>
          <p:nvPr/>
        </p:nvSpPr>
        <p:spPr>
          <a:xfrm>
            <a:off x="4703064" y="3108960"/>
            <a:ext cx="2782824" cy="2286000"/>
          </a:xfrm>
          <a:prstGeom prst="rect">
            <a:avLst/>
          </a:prstGeom>
          <a:noFill/>
          <a:ln/>
        </p:spPr>
        <p:txBody>
          <a:bodyPr wrap="square" lIns="0" tIns="0" rIns="0" bIns="0" rtlCol="0" anchor="ctr"/>
          <a:lstStyle/>
          <a:p>
            <a:pPr indent="0" marL="0">
              <a:buNone/>
            </a:pPr>
            <a:r>
              <a:rPr lang="en-US" sz="1200" dirty="0">
                <a:solidFill>
                  <a:srgbClr val="6B6153"/>
                </a:solidFill>
                <a:latin typeface="Calibri" pitchFamily="34" charset="0"/>
                <a:ea typeface="Calibri" pitchFamily="34" charset="-122"/>
                <a:cs typeface="Calibri" pitchFamily="34" charset="-120"/>
              </a:rPr>
              <a:t>Específico pra diagnóstico tardio em adultos.</a:t>
            </a:r>
            <a:endParaRPr lang="en-US" sz="1200" dirty="0"/>
          </a:p>
        </p:txBody>
      </p:sp>
      <p:sp>
        <p:nvSpPr>
          <p:cNvPr id="12" name="Shape 10"/>
          <p:cNvSpPr/>
          <p:nvPr/>
        </p:nvSpPr>
        <p:spPr>
          <a:xfrm>
            <a:off x="8125968" y="1920240"/>
            <a:ext cx="3240024" cy="3566160"/>
          </a:xfrm>
          <a:prstGeom prst="roundRect">
            <a:avLst>
              <a:gd name="adj" fmla="val 2258"/>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8354568" y="2103120"/>
            <a:ext cx="2782824" cy="548640"/>
          </a:xfrm>
          <a:prstGeom prst="rect">
            <a:avLst/>
          </a:prstGeom>
          <a:noFill/>
          <a:ln/>
        </p:spPr>
        <p:txBody>
          <a:bodyPr wrap="square" lIns="0" tIns="0" rIns="0" bIns="0" rtlCol="0" anchor="ctr"/>
          <a:lstStyle/>
          <a:p>
            <a:pPr indent="0" marL="0">
              <a:buNone/>
            </a:pPr>
            <a:r>
              <a:rPr lang="en-US" sz="2200" b="1" dirty="0">
                <a:solidFill>
                  <a:srgbClr val="C1652F"/>
                </a:solidFill>
                <a:latin typeface="Cambria" pitchFamily="34" charset="0"/>
                <a:ea typeface="Cambria" pitchFamily="34" charset="-122"/>
                <a:cs typeface="Cambria" pitchFamily="34" charset="-120"/>
              </a:rPr>
              <a:t>Avaliação neuropsicológica</a:t>
            </a:r>
            <a:endParaRPr lang="en-US" sz="2200" dirty="0"/>
          </a:p>
        </p:txBody>
      </p:sp>
      <p:sp>
        <p:nvSpPr>
          <p:cNvPr id="14" name="Text 12"/>
          <p:cNvSpPr/>
          <p:nvPr/>
        </p:nvSpPr>
        <p:spPr>
          <a:xfrm>
            <a:off x="8354568" y="2606040"/>
            <a:ext cx="2782824" cy="457200"/>
          </a:xfrm>
          <a:prstGeom prst="rect">
            <a:avLst/>
          </a:prstGeom>
          <a:noFill/>
          <a:ln/>
        </p:spPr>
        <p:txBody>
          <a:bodyPr wrap="square" lIns="0" tIns="0" rIns="0" bIns="0" rtlCol="0" anchor="ctr"/>
          <a:lstStyle/>
          <a:p>
            <a:pPr indent="0" marL="0">
              <a:buNone/>
            </a:pPr>
            <a:r>
              <a:rPr lang="en-US" sz="1100" i="1" dirty="0">
                <a:solidFill>
                  <a:srgbClr val="12283D"/>
                </a:solidFill>
                <a:latin typeface="Calibri" pitchFamily="34" charset="0"/>
                <a:ea typeface="Calibri" pitchFamily="34" charset="-122"/>
                <a:cs typeface="Calibri" pitchFamily="34" charset="-120"/>
              </a:rPr>
              <a:t>Bateria formal (Bloco 2 do currículo)</a:t>
            </a:r>
            <a:endParaRPr lang="en-US" sz="1100" dirty="0"/>
          </a:p>
        </p:txBody>
      </p:sp>
      <p:sp>
        <p:nvSpPr>
          <p:cNvPr id="15" name="Text 13"/>
          <p:cNvSpPr/>
          <p:nvPr/>
        </p:nvSpPr>
        <p:spPr>
          <a:xfrm>
            <a:off x="8354568" y="3108960"/>
            <a:ext cx="2782824" cy="2286000"/>
          </a:xfrm>
          <a:prstGeom prst="rect">
            <a:avLst/>
          </a:prstGeom>
          <a:noFill/>
          <a:ln/>
        </p:spPr>
        <p:txBody>
          <a:bodyPr wrap="square" lIns="0" tIns="0" rIns="0" bIns="0" rtlCol="0" anchor="ctr"/>
          <a:lstStyle/>
          <a:p>
            <a:pPr indent="0" marL="0">
              <a:buNone/>
            </a:pPr>
            <a:r>
              <a:rPr lang="en-US" sz="1200" dirty="0">
                <a:solidFill>
                  <a:srgbClr val="6B6153"/>
                </a:solidFill>
                <a:latin typeface="Calibri" pitchFamily="34" charset="0"/>
                <a:ea typeface="Calibri" pitchFamily="34" charset="-122"/>
                <a:cs typeface="Calibri" pitchFamily="34" charset="-120"/>
              </a:rPr>
              <a:t>Necessária pra confirmação diagnóstica robusta.</a:t>
            </a:r>
            <a:endParaRPr lang="en-US" sz="1200" dirty="0"/>
          </a:p>
        </p:txBody>
      </p:sp>
      <p:sp>
        <p:nvSpPr>
          <p:cNvPr id="16" name="Text 14"/>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TEA em Adultos — Módulo 4.27</a:t>
            </a:r>
            <a:endParaRPr lang="en-US" sz="900" dirty="0"/>
          </a:p>
        </p:txBody>
      </p:sp>
      <p:sp>
        <p:nvSpPr>
          <p:cNvPr id="17" name="Text 15"/>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45720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PASSO 4 · PROTOCOLO</a:t>
            </a:r>
            <a:endParaRPr lang="en-US" sz="1100" dirty="0"/>
          </a:p>
        </p:txBody>
      </p:sp>
      <p:sp>
        <p:nvSpPr>
          <p:cNvPr id="3" name="Text 1"/>
          <p:cNvSpPr/>
          <p:nvPr/>
        </p:nvSpPr>
        <p:spPr>
          <a:xfrm>
            <a:off x="777240" y="731520"/>
            <a:ext cx="10058400" cy="685800"/>
          </a:xfrm>
          <a:prstGeom prst="rect">
            <a:avLst/>
          </a:prstGeom>
          <a:noFill/>
          <a:ln/>
        </p:spPr>
        <p:txBody>
          <a:bodyPr wrap="square" lIns="0" tIns="0" rIns="0" bIns="0" rtlCol="0" anchor="ctr"/>
          <a:lstStyle/>
          <a:p>
            <a:pPr indent="0" marL="0">
              <a:buNone/>
            </a:pPr>
            <a:r>
              <a:rPr lang="en-US" sz="2800" b="1" dirty="0">
                <a:solidFill>
                  <a:srgbClr val="12283D"/>
                </a:solidFill>
                <a:latin typeface="Cambria" pitchFamily="34" charset="0"/>
                <a:ea typeface="Cambria" pitchFamily="34" charset="-122"/>
                <a:cs typeface="Cambria" pitchFamily="34" charset="-120"/>
              </a:rPr>
              <a:t>Do mecanismo ao manejo: 4 passos</a:t>
            </a:r>
            <a:endParaRPr lang="en-US" sz="2800" dirty="0"/>
          </a:p>
        </p:txBody>
      </p:sp>
      <p:sp>
        <p:nvSpPr>
          <p:cNvPr id="4" name="Shape 2"/>
          <p:cNvSpPr/>
          <p:nvPr/>
        </p:nvSpPr>
        <p:spPr>
          <a:xfrm>
            <a:off x="1723644" y="2286000"/>
            <a:ext cx="731520" cy="731520"/>
          </a:xfrm>
          <a:prstGeom prst="ellipse">
            <a:avLst/>
          </a:prstGeom>
          <a:solidFill>
            <a:srgbClr val="C1652F"/>
          </a:solidFill>
          <a:ln/>
        </p:spPr>
      </p:sp>
      <p:sp>
        <p:nvSpPr>
          <p:cNvPr id="5" name="Text 3"/>
          <p:cNvSpPr/>
          <p:nvPr/>
        </p:nvSpPr>
        <p:spPr>
          <a:xfrm>
            <a:off x="1723644" y="228600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6" name="Text 4"/>
          <p:cNvSpPr/>
          <p:nvPr/>
        </p:nvSpPr>
        <p:spPr>
          <a:xfrm>
            <a:off x="914400" y="3246120"/>
            <a:ext cx="2350008" cy="822960"/>
          </a:xfrm>
          <a:prstGeom prst="rect">
            <a:avLst/>
          </a:prstGeom>
          <a:noFill/>
          <a:ln/>
        </p:spPr>
        <p:txBody>
          <a:bodyPr wrap="square" lIns="0" tIns="0" rIns="0" bIns="0" rtlCol="0" anchor="ctr"/>
          <a:lstStyle/>
          <a:p>
            <a:pPr algn="ctr" indent="0" marL="0">
              <a:buNone/>
            </a:pPr>
            <a:r>
              <a:rPr lang="en-US" sz="1400" b="1" dirty="0">
                <a:solidFill>
                  <a:srgbClr val="12283D"/>
                </a:solidFill>
                <a:latin typeface="Calibri" pitchFamily="34" charset="0"/>
                <a:ea typeface="Calibri" pitchFamily="34" charset="-122"/>
                <a:cs typeface="Calibri" pitchFamily="34" charset="-120"/>
              </a:rPr>
              <a:t>Psicoeducação</a:t>
            </a:r>
            <a:endParaRPr lang="en-US" sz="1400" dirty="0"/>
          </a:p>
          <a:p>
            <a:pPr algn="ctr" indent="0" marL="0">
              <a:buNone/>
            </a:pPr>
            <a:r>
              <a:rPr lang="en-US" sz="1400" b="1" dirty="0">
                <a:solidFill>
                  <a:srgbClr val="12283D"/>
                </a:solidFill>
                <a:latin typeface="Calibri" pitchFamily="34" charset="0"/>
                <a:ea typeface="Calibri" pitchFamily="34" charset="-122"/>
                <a:cs typeface="Calibri" pitchFamily="34" charset="-120"/>
              </a:rPr>
              <a:t>afirmativa</a:t>
            </a:r>
            <a:endParaRPr lang="en-US" sz="1400" dirty="0"/>
          </a:p>
        </p:txBody>
      </p:sp>
      <p:sp>
        <p:nvSpPr>
          <p:cNvPr id="7" name="Text 5"/>
          <p:cNvSpPr/>
          <p:nvPr/>
        </p:nvSpPr>
        <p:spPr>
          <a:xfrm>
            <a:off x="1051560" y="4114800"/>
            <a:ext cx="2075688" cy="731520"/>
          </a:xfrm>
          <a:prstGeom prst="rect">
            <a:avLst/>
          </a:prstGeom>
          <a:noFill/>
          <a:ln/>
        </p:spPr>
        <p:txBody>
          <a:bodyPr wrap="square" lIns="0" tIns="0" rIns="0" bIns="0" rtlCol="0" anchor="ctr"/>
          <a:lstStyle/>
          <a:p>
            <a:pPr algn="ctr" indent="0" marL="0">
              <a:buNone/>
            </a:pPr>
            <a:r>
              <a:rPr lang="en-US" sz="1100" dirty="0">
                <a:solidFill>
                  <a:srgbClr val="6B6153"/>
                </a:solidFill>
                <a:latin typeface="Calibri" pitchFamily="34" charset="0"/>
                <a:ea typeface="Calibri" pitchFamily="34" charset="-122"/>
                <a:cs typeface="Calibri" pitchFamily="34" charset="-120"/>
              </a:rPr>
              <a:t>Reformular o autismo como diferença, não deficiência a ser corrigida</a:t>
            </a:r>
            <a:endParaRPr lang="en-US" sz="1100" dirty="0"/>
          </a:p>
        </p:txBody>
      </p:sp>
      <p:sp>
        <p:nvSpPr>
          <p:cNvPr id="8" name="Text 6"/>
          <p:cNvSpPr/>
          <p:nvPr/>
        </p:nvSpPr>
        <p:spPr>
          <a:xfrm>
            <a:off x="3264408" y="2286000"/>
            <a:ext cx="320040" cy="731520"/>
          </a:xfrm>
          <a:prstGeom prst="rect">
            <a:avLst/>
          </a:prstGeom>
          <a:noFill/>
          <a:ln/>
        </p:spPr>
        <p:txBody>
          <a:bodyPr wrap="square" lIns="0" tIns="0" rIns="0" bIns="0" rtlCol="0" anchor="ctr"/>
          <a:lstStyle/>
          <a:p>
            <a:pPr algn="ctr" indent="0" marL="0">
              <a:buNone/>
            </a:pPr>
            <a:r>
              <a:rPr lang="en-US" sz="2200" dirty="0">
                <a:solidFill>
                  <a:srgbClr val="B7C2CE"/>
                </a:solidFill>
                <a:latin typeface="Calibri" pitchFamily="34" charset="0"/>
                <a:ea typeface="Calibri" pitchFamily="34" charset="-122"/>
                <a:cs typeface="Calibri" pitchFamily="34" charset="-120"/>
              </a:rPr>
              <a:t>→</a:t>
            </a:r>
            <a:endParaRPr lang="en-US" sz="2200" dirty="0"/>
          </a:p>
        </p:txBody>
      </p:sp>
      <p:sp>
        <p:nvSpPr>
          <p:cNvPr id="9" name="Shape 7"/>
          <p:cNvSpPr/>
          <p:nvPr/>
        </p:nvSpPr>
        <p:spPr>
          <a:xfrm>
            <a:off x="4393692" y="2286000"/>
            <a:ext cx="731520" cy="731520"/>
          </a:xfrm>
          <a:prstGeom prst="ellipse">
            <a:avLst/>
          </a:prstGeom>
          <a:solidFill>
            <a:srgbClr val="C1652F"/>
          </a:solidFill>
          <a:ln/>
        </p:spPr>
      </p:sp>
      <p:sp>
        <p:nvSpPr>
          <p:cNvPr id="10" name="Text 8"/>
          <p:cNvSpPr/>
          <p:nvPr/>
        </p:nvSpPr>
        <p:spPr>
          <a:xfrm>
            <a:off x="4393692" y="228600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1" name="Text 9"/>
          <p:cNvSpPr/>
          <p:nvPr/>
        </p:nvSpPr>
        <p:spPr>
          <a:xfrm>
            <a:off x="3584448" y="3246120"/>
            <a:ext cx="2350008" cy="822960"/>
          </a:xfrm>
          <a:prstGeom prst="rect">
            <a:avLst/>
          </a:prstGeom>
          <a:noFill/>
          <a:ln/>
        </p:spPr>
        <p:txBody>
          <a:bodyPr wrap="square" lIns="0" tIns="0" rIns="0" bIns="0" rtlCol="0" anchor="ctr"/>
          <a:lstStyle/>
          <a:p>
            <a:pPr algn="ctr" indent="0" marL="0">
              <a:buNone/>
            </a:pPr>
            <a:r>
              <a:rPr lang="en-US" sz="1400" b="1" dirty="0">
                <a:solidFill>
                  <a:srgbClr val="12283D"/>
                </a:solidFill>
                <a:latin typeface="Calibri" pitchFamily="34" charset="0"/>
                <a:ea typeface="Calibri" pitchFamily="34" charset="-122"/>
                <a:cs typeface="Calibri" pitchFamily="34" charset="-120"/>
              </a:rPr>
              <a:t>Reduzir o</a:t>
            </a:r>
            <a:endParaRPr lang="en-US" sz="1400" dirty="0"/>
          </a:p>
          <a:p>
            <a:pPr algn="ctr" indent="0" marL="0">
              <a:buNone/>
            </a:pPr>
            <a:r>
              <a:rPr lang="en-US" sz="1400" b="1" dirty="0">
                <a:solidFill>
                  <a:srgbClr val="12283D"/>
                </a:solidFill>
                <a:latin typeface="Calibri" pitchFamily="34" charset="0"/>
                <a:ea typeface="Calibri" pitchFamily="34" charset="-122"/>
                <a:cs typeface="Calibri" pitchFamily="34" charset="-120"/>
              </a:rPr>
              <a:t>mascaramento</a:t>
            </a:r>
            <a:endParaRPr lang="en-US" sz="1400" dirty="0"/>
          </a:p>
        </p:txBody>
      </p:sp>
      <p:sp>
        <p:nvSpPr>
          <p:cNvPr id="12" name="Text 10"/>
          <p:cNvSpPr/>
          <p:nvPr/>
        </p:nvSpPr>
        <p:spPr>
          <a:xfrm>
            <a:off x="3721608" y="4114800"/>
            <a:ext cx="2075688" cy="731520"/>
          </a:xfrm>
          <a:prstGeom prst="rect">
            <a:avLst/>
          </a:prstGeom>
          <a:noFill/>
          <a:ln/>
        </p:spPr>
        <p:txBody>
          <a:bodyPr wrap="square" lIns="0" tIns="0" rIns="0" bIns="0" rtlCol="0" anchor="ctr"/>
          <a:lstStyle/>
          <a:p>
            <a:pPr algn="ctr" indent="0" marL="0">
              <a:buNone/>
            </a:pPr>
            <a:r>
              <a:rPr lang="en-US" sz="1100" dirty="0">
                <a:solidFill>
                  <a:srgbClr val="6B6153"/>
                </a:solidFill>
                <a:latin typeface="Calibri" pitchFamily="34" charset="0"/>
                <a:ea typeface="Calibri" pitchFamily="34" charset="-122"/>
                <a:cs typeface="Calibri" pitchFamily="34" charset="-120"/>
              </a:rPr>
              <a:t>Prevenir esgotamento autista, sem forçar performance neurotípica</a:t>
            </a:r>
            <a:endParaRPr lang="en-US" sz="1100" dirty="0"/>
          </a:p>
        </p:txBody>
      </p:sp>
      <p:sp>
        <p:nvSpPr>
          <p:cNvPr id="13" name="Text 11"/>
          <p:cNvSpPr/>
          <p:nvPr/>
        </p:nvSpPr>
        <p:spPr>
          <a:xfrm>
            <a:off x="5934456" y="2286000"/>
            <a:ext cx="320040" cy="731520"/>
          </a:xfrm>
          <a:prstGeom prst="rect">
            <a:avLst/>
          </a:prstGeom>
          <a:noFill/>
          <a:ln/>
        </p:spPr>
        <p:txBody>
          <a:bodyPr wrap="square" lIns="0" tIns="0" rIns="0" bIns="0" rtlCol="0" anchor="ctr"/>
          <a:lstStyle/>
          <a:p>
            <a:pPr algn="ctr" indent="0" marL="0">
              <a:buNone/>
            </a:pPr>
            <a:r>
              <a:rPr lang="en-US" sz="2200" dirty="0">
                <a:solidFill>
                  <a:srgbClr val="B7C2CE"/>
                </a:solidFill>
                <a:latin typeface="Calibri" pitchFamily="34" charset="0"/>
                <a:ea typeface="Calibri" pitchFamily="34" charset="-122"/>
                <a:cs typeface="Calibri" pitchFamily="34" charset="-120"/>
              </a:rPr>
              <a:t>→</a:t>
            </a:r>
            <a:endParaRPr lang="en-US" sz="2200" dirty="0"/>
          </a:p>
        </p:txBody>
      </p:sp>
      <p:sp>
        <p:nvSpPr>
          <p:cNvPr id="14" name="Shape 12"/>
          <p:cNvSpPr/>
          <p:nvPr/>
        </p:nvSpPr>
        <p:spPr>
          <a:xfrm>
            <a:off x="7063740" y="2286000"/>
            <a:ext cx="731520" cy="731520"/>
          </a:xfrm>
          <a:prstGeom prst="ellipse">
            <a:avLst/>
          </a:prstGeom>
          <a:solidFill>
            <a:srgbClr val="C1652F"/>
          </a:solidFill>
          <a:ln/>
        </p:spPr>
      </p:sp>
      <p:sp>
        <p:nvSpPr>
          <p:cNvPr id="15" name="Text 13"/>
          <p:cNvSpPr/>
          <p:nvPr/>
        </p:nvSpPr>
        <p:spPr>
          <a:xfrm>
            <a:off x="7063740" y="228600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Text 14"/>
          <p:cNvSpPr/>
          <p:nvPr/>
        </p:nvSpPr>
        <p:spPr>
          <a:xfrm>
            <a:off x="6254496" y="3246120"/>
            <a:ext cx="2350008" cy="822960"/>
          </a:xfrm>
          <a:prstGeom prst="rect">
            <a:avLst/>
          </a:prstGeom>
          <a:noFill/>
          <a:ln/>
        </p:spPr>
        <p:txBody>
          <a:bodyPr wrap="square" lIns="0" tIns="0" rIns="0" bIns="0" rtlCol="0" anchor="ctr"/>
          <a:lstStyle/>
          <a:p>
            <a:pPr algn="ctr" indent="0" marL="0">
              <a:buNone/>
            </a:pPr>
            <a:r>
              <a:rPr lang="en-US" sz="1400" b="1" dirty="0">
                <a:solidFill>
                  <a:srgbClr val="12283D"/>
                </a:solidFill>
                <a:latin typeface="Calibri" pitchFamily="34" charset="0"/>
                <a:ea typeface="Calibri" pitchFamily="34" charset="-122"/>
                <a:cs typeface="Calibri" pitchFamily="34" charset="-120"/>
              </a:rPr>
              <a:t>Acomodações</a:t>
            </a:r>
            <a:endParaRPr lang="en-US" sz="1400" dirty="0"/>
          </a:p>
          <a:p>
            <a:pPr algn="ctr" indent="0" marL="0">
              <a:buNone/>
            </a:pPr>
            <a:r>
              <a:rPr lang="en-US" sz="1400" b="1" dirty="0">
                <a:solidFill>
                  <a:srgbClr val="12283D"/>
                </a:solidFill>
                <a:latin typeface="Calibri" pitchFamily="34" charset="0"/>
                <a:ea typeface="Calibri" pitchFamily="34" charset="-122"/>
                <a:cs typeface="Calibri" pitchFamily="34" charset="-120"/>
              </a:rPr>
              <a:t>sensoriais</a:t>
            </a:r>
            <a:endParaRPr lang="en-US" sz="1400" dirty="0"/>
          </a:p>
        </p:txBody>
      </p:sp>
      <p:sp>
        <p:nvSpPr>
          <p:cNvPr id="17" name="Text 15"/>
          <p:cNvSpPr/>
          <p:nvPr/>
        </p:nvSpPr>
        <p:spPr>
          <a:xfrm>
            <a:off x="6391656" y="4114800"/>
            <a:ext cx="2075688" cy="731520"/>
          </a:xfrm>
          <a:prstGeom prst="rect">
            <a:avLst/>
          </a:prstGeom>
          <a:noFill/>
          <a:ln/>
        </p:spPr>
        <p:txBody>
          <a:bodyPr wrap="square" lIns="0" tIns="0" rIns="0" bIns="0" rtlCol="0" anchor="ctr"/>
          <a:lstStyle/>
          <a:p>
            <a:pPr algn="ctr" indent="0" marL="0">
              <a:buNone/>
            </a:pPr>
            <a:r>
              <a:rPr lang="en-US" sz="1100" dirty="0">
                <a:solidFill>
                  <a:srgbClr val="6B6153"/>
                </a:solidFill>
                <a:latin typeface="Calibri" pitchFamily="34" charset="0"/>
                <a:ea typeface="Calibri" pitchFamily="34" charset="-122"/>
                <a:cs typeface="Calibri" pitchFamily="34" charset="-120"/>
              </a:rPr>
              <a:t>Ajustes práticos de ambiente, não "tolerar" o desconforto</a:t>
            </a:r>
            <a:endParaRPr lang="en-US" sz="1100" dirty="0"/>
          </a:p>
        </p:txBody>
      </p:sp>
      <p:sp>
        <p:nvSpPr>
          <p:cNvPr id="18" name="Text 16"/>
          <p:cNvSpPr/>
          <p:nvPr/>
        </p:nvSpPr>
        <p:spPr>
          <a:xfrm>
            <a:off x="8604504" y="2286000"/>
            <a:ext cx="320040" cy="731520"/>
          </a:xfrm>
          <a:prstGeom prst="rect">
            <a:avLst/>
          </a:prstGeom>
          <a:noFill/>
          <a:ln/>
        </p:spPr>
        <p:txBody>
          <a:bodyPr wrap="square" lIns="0" tIns="0" rIns="0" bIns="0" rtlCol="0" anchor="ctr"/>
          <a:lstStyle/>
          <a:p>
            <a:pPr algn="ctr" indent="0" marL="0">
              <a:buNone/>
            </a:pPr>
            <a:r>
              <a:rPr lang="en-US" sz="2200" dirty="0">
                <a:solidFill>
                  <a:srgbClr val="B7C2CE"/>
                </a:solidFill>
                <a:latin typeface="Calibri" pitchFamily="34" charset="0"/>
                <a:ea typeface="Calibri" pitchFamily="34" charset="-122"/>
                <a:cs typeface="Calibri" pitchFamily="34" charset="-120"/>
              </a:rPr>
              <a:t>→</a:t>
            </a:r>
            <a:endParaRPr lang="en-US" sz="2200" dirty="0"/>
          </a:p>
        </p:txBody>
      </p:sp>
      <p:sp>
        <p:nvSpPr>
          <p:cNvPr id="19" name="Shape 17"/>
          <p:cNvSpPr/>
          <p:nvPr/>
        </p:nvSpPr>
        <p:spPr>
          <a:xfrm>
            <a:off x="9733788" y="2286000"/>
            <a:ext cx="731520" cy="731520"/>
          </a:xfrm>
          <a:prstGeom prst="ellipse">
            <a:avLst/>
          </a:prstGeom>
          <a:solidFill>
            <a:srgbClr val="C1652F"/>
          </a:solidFill>
          <a:ln/>
        </p:spPr>
      </p:sp>
      <p:sp>
        <p:nvSpPr>
          <p:cNvPr id="20" name="Text 18"/>
          <p:cNvSpPr/>
          <p:nvPr/>
        </p:nvSpPr>
        <p:spPr>
          <a:xfrm>
            <a:off x="9733788" y="228600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1" name="Text 19"/>
          <p:cNvSpPr/>
          <p:nvPr/>
        </p:nvSpPr>
        <p:spPr>
          <a:xfrm>
            <a:off x="8924544" y="3246120"/>
            <a:ext cx="2350008" cy="822960"/>
          </a:xfrm>
          <a:prstGeom prst="rect">
            <a:avLst/>
          </a:prstGeom>
          <a:noFill/>
          <a:ln/>
        </p:spPr>
        <p:txBody>
          <a:bodyPr wrap="square" lIns="0" tIns="0" rIns="0" bIns="0" rtlCol="0" anchor="ctr"/>
          <a:lstStyle/>
          <a:p>
            <a:pPr algn="ctr" indent="0" marL="0">
              <a:buNone/>
            </a:pPr>
            <a:r>
              <a:rPr lang="en-US" sz="1400" b="1" dirty="0">
                <a:solidFill>
                  <a:srgbClr val="12283D"/>
                </a:solidFill>
                <a:latin typeface="Calibri" pitchFamily="34" charset="0"/>
                <a:ea typeface="Calibri" pitchFamily="34" charset="-122"/>
                <a:cs typeface="Calibri" pitchFamily="34" charset="-120"/>
              </a:rPr>
              <a:t>Autodefesa e</a:t>
            </a:r>
            <a:endParaRPr lang="en-US" sz="1400" dirty="0"/>
          </a:p>
          <a:p>
            <a:pPr algn="ctr" indent="0" marL="0">
              <a:buNone/>
            </a:pPr>
            <a:r>
              <a:rPr lang="en-US" sz="1400" b="1" dirty="0">
                <a:solidFill>
                  <a:srgbClr val="12283D"/>
                </a:solidFill>
                <a:latin typeface="Calibri" pitchFamily="34" charset="0"/>
                <a:ea typeface="Calibri" pitchFamily="34" charset="-122"/>
                <a:cs typeface="Calibri" pitchFamily="34" charset="-120"/>
              </a:rPr>
              <a:t>comunicação</a:t>
            </a:r>
            <a:endParaRPr lang="en-US" sz="1400" dirty="0"/>
          </a:p>
        </p:txBody>
      </p:sp>
      <p:sp>
        <p:nvSpPr>
          <p:cNvPr id="22" name="Text 20"/>
          <p:cNvSpPr/>
          <p:nvPr/>
        </p:nvSpPr>
        <p:spPr>
          <a:xfrm>
            <a:off x="9061704" y="4114800"/>
            <a:ext cx="2075688" cy="731520"/>
          </a:xfrm>
          <a:prstGeom prst="rect">
            <a:avLst/>
          </a:prstGeom>
          <a:noFill/>
          <a:ln/>
        </p:spPr>
        <p:txBody>
          <a:bodyPr wrap="square" lIns="0" tIns="0" rIns="0" bIns="0" rtlCol="0" anchor="ctr"/>
          <a:lstStyle/>
          <a:p>
            <a:pPr algn="ctr" indent="0" marL="0">
              <a:buNone/>
            </a:pPr>
            <a:r>
              <a:rPr lang="en-US" sz="1100" dirty="0">
                <a:solidFill>
                  <a:srgbClr val="6B6153"/>
                </a:solidFill>
                <a:latin typeface="Calibri" pitchFamily="34" charset="0"/>
                <a:ea typeface="Calibri" pitchFamily="34" charset="-122"/>
                <a:cs typeface="Calibri" pitchFamily="34" charset="-120"/>
              </a:rPr>
              <a:t>Apoiar a pessoa a expressar necessidades nas relações e no trabalho</a:t>
            </a:r>
            <a:endParaRPr lang="en-US" sz="1100" dirty="0"/>
          </a:p>
        </p:txBody>
      </p:sp>
      <p:sp>
        <p:nvSpPr>
          <p:cNvPr id="23" name="Text 21"/>
          <p:cNvSpPr/>
          <p:nvPr/>
        </p:nvSpPr>
        <p:spPr>
          <a:xfrm>
            <a:off x="822960" y="5349240"/>
            <a:ext cx="9601200" cy="457200"/>
          </a:xfrm>
          <a:prstGeom prst="rect">
            <a:avLst/>
          </a:prstGeom>
          <a:noFill/>
          <a:ln/>
        </p:spPr>
        <p:txBody>
          <a:bodyPr wrap="square" lIns="0" tIns="0" rIns="0" bIns="0" rtlCol="0" anchor="ctr"/>
          <a:lstStyle/>
          <a:p>
            <a:pPr algn="ctr" indent="0" marL="0">
              <a:buNone/>
            </a:pPr>
            <a:r>
              <a:rPr lang="en-US" sz="1300" i="1" dirty="0">
                <a:solidFill>
                  <a:srgbClr val="6B6153"/>
                </a:solidFill>
                <a:latin typeface="Calibri" pitchFamily="34" charset="0"/>
                <a:ea typeface="Calibri" pitchFamily="34" charset="-122"/>
                <a:cs typeface="Calibri" pitchFamily="34" charset="-120"/>
              </a:rPr>
              <a:t>Diferente da maioria dos protocolos deste curso, o objetivo aqui nunca é "normalizar" o comportamento — é reduzir sofrimento e aumentar bem-estar dentro do próprio perfil neurológico.</a:t>
            </a:r>
            <a:endParaRPr lang="en-US" sz="1300" dirty="0"/>
          </a:p>
        </p:txBody>
      </p:sp>
      <p:sp>
        <p:nvSpPr>
          <p:cNvPr id="24" name="Text 22"/>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TEA em Adultos — Módulo 4.27</a:t>
            </a:r>
            <a:endParaRPr lang="en-US" sz="900" dirty="0"/>
          </a:p>
        </p:txBody>
      </p:sp>
      <p:sp>
        <p:nvSpPr>
          <p:cNvPr id="25" name="Text 23"/>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45720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PASSO 4 · PROTOCOLO</a:t>
            </a:r>
            <a:endParaRPr lang="en-US" sz="1100" dirty="0"/>
          </a:p>
        </p:txBody>
      </p:sp>
      <p:sp>
        <p:nvSpPr>
          <p:cNvPr id="3" name="Text 1"/>
          <p:cNvSpPr/>
          <p:nvPr/>
        </p:nvSpPr>
        <p:spPr>
          <a:xfrm>
            <a:off x="777240" y="731520"/>
            <a:ext cx="10058400" cy="685800"/>
          </a:xfrm>
          <a:prstGeom prst="rect">
            <a:avLst/>
          </a:prstGeom>
          <a:noFill/>
          <a:ln/>
        </p:spPr>
        <p:txBody>
          <a:bodyPr wrap="square" lIns="0" tIns="0" rIns="0" bIns="0" rtlCol="0" anchor="ctr"/>
          <a:lstStyle/>
          <a:p>
            <a:pPr indent="0" marL="0">
              <a:buNone/>
            </a:pPr>
            <a:r>
              <a:rPr lang="en-US" sz="2800" b="1" dirty="0">
                <a:solidFill>
                  <a:srgbClr val="12283D"/>
                </a:solidFill>
                <a:latin typeface="Cambria" pitchFamily="34" charset="0"/>
                <a:ea typeface="Cambria" pitchFamily="34" charset="-122"/>
                <a:cs typeface="Cambria" pitchFamily="34" charset="-120"/>
              </a:rPr>
              <a:t>Passos 1 e 2, na prática</a:t>
            </a:r>
            <a:endParaRPr lang="en-US" sz="2800" dirty="0"/>
          </a:p>
        </p:txBody>
      </p:sp>
      <p:sp>
        <p:nvSpPr>
          <p:cNvPr id="4" name="Shape 2"/>
          <p:cNvSpPr/>
          <p:nvPr/>
        </p:nvSpPr>
        <p:spPr>
          <a:xfrm>
            <a:off x="822960" y="1828800"/>
            <a:ext cx="5120640" cy="4023360"/>
          </a:xfrm>
          <a:prstGeom prst="roundRect">
            <a:avLst>
              <a:gd name="adj" fmla="val 1818"/>
            </a:avLst>
          </a:prstGeom>
          <a:solidFill>
            <a:srgbClr val="FFFFFF"/>
          </a:solidFill>
          <a:ln/>
          <a:effectLst>
            <a:outerShdw sx="100000" sy="100000" kx="0" ky="0" algn="bl" rotWithShape="0" blurRad="101600" dist="38100" dir="2700000">
              <a:srgbClr val="000000">
                <a:alpha val="12000"/>
              </a:srgbClr>
            </a:outerShdw>
          </a:effectLst>
        </p:spPr>
      </p:sp>
      <p:sp>
        <p:nvSpPr>
          <p:cNvPr id="5" name="Shape 3"/>
          <p:cNvSpPr/>
          <p:nvPr/>
        </p:nvSpPr>
        <p:spPr>
          <a:xfrm>
            <a:off x="1051560" y="2057400"/>
            <a:ext cx="457200" cy="457200"/>
          </a:xfrm>
          <a:prstGeom prst="ellipse">
            <a:avLst/>
          </a:prstGeom>
          <a:solidFill>
            <a:srgbClr val="C1652F"/>
          </a:solidFill>
          <a:ln/>
        </p:spPr>
      </p:sp>
      <p:sp>
        <p:nvSpPr>
          <p:cNvPr id="6" name="Text 4"/>
          <p:cNvSpPr/>
          <p:nvPr/>
        </p:nvSpPr>
        <p:spPr>
          <a:xfrm>
            <a:off x="1051560" y="20574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1645920" y="2084832"/>
            <a:ext cx="4114800" cy="411480"/>
          </a:xfrm>
          <a:prstGeom prst="rect">
            <a:avLst/>
          </a:prstGeom>
          <a:noFill/>
          <a:ln/>
        </p:spPr>
        <p:txBody>
          <a:bodyPr wrap="square" lIns="0" tIns="0" rIns="0" bIns="0" rtlCol="0" anchor="ctr"/>
          <a:lstStyle/>
          <a:p>
            <a:pPr indent="0" marL="0">
              <a:buNone/>
            </a:pPr>
            <a:r>
              <a:rPr lang="en-US" sz="1600" b="1" dirty="0">
                <a:solidFill>
                  <a:srgbClr val="12283D"/>
                </a:solidFill>
                <a:latin typeface="Cambria" pitchFamily="34" charset="0"/>
                <a:ea typeface="Cambria" pitchFamily="34" charset="-122"/>
                <a:cs typeface="Cambria" pitchFamily="34" charset="-120"/>
              </a:rPr>
              <a:t>Psicoeducação afirmativa</a:t>
            </a:r>
            <a:endParaRPr lang="en-US" sz="1600" dirty="0"/>
          </a:p>
        </p:txBody>
      </p:sp>
      <p:sp>
        <p:nvSpPr>
          <p:cNvPr id="8" name="Text 6"/>
          <p:cNvSpPr/>
          <p:nvPr/>
        </p:nvSpPr>
        <p:spPr>
          <a:xfrm>
            <a:off x="1051560" y="2697480"/>
            <a:ext cx="4663440" cy="1188720"/>
          </a:xfrm>
          <a:prstGeom prst="rect">
            <a:avLst/>
          </a:prstGeom>
          <a:noFill/>
          <a:ln/>
        </p:spPr>
        <p:txBody>
          <a:bodyPr wrap="square" lIns="0" tIns="0" rIns="0" bIns="0" rtlCol="0" anchor="ctr"/>
          <a:lstStyle/>
          <a:p>
            <a:pPr indent="0" marL="0">
              <a:buNone/>
            </a:pPr>
            <a:r>
              <a:rPr lang="en-US" sz="1300" i="1" dirty="0">
                <a:solidFill>
                  <a:srgbClr val="6B6153"/>
                </a:solidFill>
                <a:latin typeface="Calibri" pitchFamily="34" charset="0"/>
                <a:ea typeface="Calibri" pitchFamily="34" charset="-122"/>
                <a:cs typeface="Calibri" pitchFamily="34" charset="-120"/>
              </a:rPr>
              <a:t>“O que você chamava de estranheza pode ser, na verdade, um jeito diferente e válido de processar o mundo — não menos legítimo que o padrão mais comum.”</a:t>
            </a:r>
            <a:endParaRPr lang="en-US" sz="1300" dirty="0"/>
          </a:p>
        </p:txBody>
      </p:sp>
      <p:sp>
        <p:nvSpPr>
          <p:cNvPr id="9" name="Text 7"/>
          <p:cNvSpPr/>
          <p:nvPr/>
        </p:nvSpPr>
        <p:spPr>
          <a:xfrm>
            <a:off x="1051560" y="4023360"/>
            <a:ext cx="4663440" cy="164592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Reformule décadas de autocrítica com uma perspectiva de diferença, não de déficit</a:t>
            </a:r>
            <a:endParaRPr lang="en-US" sz="1250" dirty="0"/>
          </a:p>
          <a:p>
            <a:pPr marL="342900" indent="-3429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Valide o impacto emocional de anos sem esse entendimento</a:t>
            </a:r>
            <a:endParaRPr lang="en-US" sz="1250" dirty="0"/>
          </a:p>
        </p:txBody>
      </p:sp>
      <p:sp>
        <p:nvSpPr>
          <p:cNvPr id="10" name="Shape 8"/>
          <p:cNvSpPr/>
          <p:nvPr/>
        </p:nvSpPr>
        <p:spPr>
          <a:xfrm>
            <a:off x="6263640" y="1828800"/>
            <a:ext cx="5120640" cy="4023360"/>
          </a:xfrm>
          <a:prstGeom prst="roundRect">
            <a:avLst>
              <a:gd name="adj" fmla="val 1818"/>
            </a:avLst>
          </a:prstGeom>
          <a:solidFill>
            <a:srgbClr val="FFFFFF"/>
          </a:solidFill>
          <a:ln/>
          <a:effectLst>
            <a:outerShdw sx="100000" sy="100000" kx="0" ky="0" algn="bl" rotWithShape="0" blurRad="101600" dist="38100" dir="2700000">
              <a:srgbClr val="000000">
                <a:alpha val="12000"/>
              </a:srgbClr>
            </a:outerShdw>
          </a:effectLst>
        </p:spPr>
      </p:sp>
      <p:sp>
        <p:nvSpPr>
          <p:cNvPr id="11" name="Shape 9"/>
          <p:cNvSpPr/>
          <p:nvPr/>
        </p:nvSpPr>
        <p:spPr>
          <a:xfrm>
            <a:off x="6492240" y="2057400"/>
            <a:ext cx="457200" cy="457200"/>
          </a:xfrm>
          <a:prstGeom prst="ellipse">
            <a:avLst/>
          </a:prstGeom>
          <a:solidFill>
            <a:srgbClr val="C1652F"/>
          </a:solidFill>
          <a:ln/>
        </p:spPr>
      </p:sp>
      <p:sp>
        <p:nvSpPr>
          <p:cNvPr id="12" name="Text 10"/>
          <p:cNvSpPr/>
          <p:nvPr/>
        </p:nvSpPr>
        <p:spPr>
          <a:xfrm>
            <a:off x="6492240" y="20574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11"/>
          <p:cNvSpPr/>
          <p:nvPr/>
        </p:nvSpPr>
        <p:spPr>
          <a:xfrm>
            <a:off x="7086600" y="2084832"/>
            <a:ext cx="4114800" cy="411480"/>
          </a:xfrm>
          <a:prstGeom prst="rect">
            <a:avLst/>
          </a:prstGeom>
          <a:noFill/>
          <a:ln/>
        </p:spPr>
        <p:txBody>
          <a:bodyPr wrap="square" lIns="0" tIns="0" rIns="0" bIns="0" rtlCol="0" anchor="ctr"/>
          <a:lstStyle/>
          <a:p>
            <a:pPr indent="0" marL="0">
              <a:buNone/>
            </a:pPr>
            <a:r>
              <a:rPr lang="en-US" sz="1600" b="1" dirty="0">
                <a:solidFill>
                  <a:srgbClr val="12283D"/>
                </a:solidFill>
                <a:latin typeface="Cambria" pitchFamily="34" charset="0"/>
                <a:ea typeface="Cambria" pitchFamily="34" charset="-122"/>
                <a:cs typeface="Cambria" pitchFamily="34" charset="-120"/>
              </a:rPr>
              <a:t>Reduzir o mascaramento</a:t>
            </a:r>
            <a:endParaRPr lang="en-US" sz="1600" dirty="0"/>
          </a:p>
        </p:txBody>
      </p:sp>
      <p:sp>
        <p:nvSpPr>
          <p:cNvPr id="14" name="Text 12"/>
          <p:cNvSpPr/>
          <p:nvPr/>
        </p:nvSpPr>
        <p:spPr>
          <a:xfrm>
            <a:off x="6492240" y="2697480"/>
            <a:ext cx="4663440" cy="164592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Identifique contextos onde o mascaramento é mais custoso, e onde reduzi-lo é seguro</a:t>
            </a:r>
            <a:endParaRPr lang="en-US" sz="1250" dirty="0"/>
          </a:p>
          <a:p>
            <a:pPr marL="342900" indent="-3429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Trabalhe o reconhecimento precoce de sinais de esgotamento autista</a:t>
            </a:r>
            <a:endParaRPr lang="en-US" sz="1250" dirty="0"/>
          </a:p>
        </p:txBody>
      </p:sp>
      <p:sp>
        <p:nvSpPr>
          <p:cNvPr id="15" name="Text 13"/>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TEA em Adultos — Módulo 4.27</a:t>
            </a:r>
            <a:endParaRPr lang="en-US" sz="900" dirty="0"/>
          </a:p>
        </p:txBody>
      </p:sp>
      <p:sp>
        <p:nvSpPr>
          <p:cNvPr id="16" name="Text 14"/>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45720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PASSO 4 · PROTOCOLO</a:t>
            </a:r>
            <a:endParaRPr lang="en-US" sz="1100" dirty="0"/>
          </a:p>
        </p:txBody>
      </p:sp>
      <p:sp>
        <p:nvSpPr>
          <p:cNvPr id="3" name="Text 1"/>
          <p:cNvSpPr/>
          <p:nvPr/>
        </p:nvSpPr>
        <p:spPr>
          <a:xfrm>
            <a:off x="777240" y="731520"/>
            <a:ext cx="10058400" cy="685800"/>
          </a:xfrm>
          <a:prstGeom prst="rect">
            <a:avLst/>
          </a:prstGeom>
          <a:noFill/>
          <a:ln/>
        </p:spPr>
        <p:txBody>
          <a:bodyPr wrap="square" lIns="0" tIns="0" rIns="0" bIns="0" rtlCol="0" anchor="ctr"/>
          <a:lstStyle/>
          <a:p>
            <a:pPr indent="0" marL="0">
              <a:buNone/>
            </a:pPr>
            <a:r>
              <a:rPr lang="en-US" sz="2800" b="1" dirty="0">
                <a:solidFill>
                  <a:srgbClr val="12283D"/>
                </a:solidFill>
                <a:latin typeface="Cambria" pitchFamily="34" charset="0"/>
                <a:ea typeface="Cambria" pitchFamily="34" charset="-122"/>
                <a:cs typeface="Cambria" pitchFamily="34" charset="-120"/>
              </a:rPr>
              <a:t>Passos 3 e 4, na prática</a:t>
            </a:r>
            <a:endParaRPr lang="en-US" sz="2800" dirty="0"/>
          </a:p>
        </p:txBody>
      </p:sp>
      <p:sp>
        <p:nvSpPr>
          <p:cNvPr id="4" name="Shape 2"/>
          <p:cNvSpPr/>
          <p:nvPr/>
        </p:nvSpPr>
        <p:spPr>
          <a:xfrm>
            <a:off x="822960" y="1828800"/>
            <a:ext cx="5120640" cy="4023360"/>
          </a:xfrm>
          <a:prstGeom prst="roundRect">
            <a:avLst>
              <a:gd name="adj" fmla="val 1818"/>
            </a:avLst>
          </a:prstGeom>
          <a:solidFill>
            <a:srgbClr val="FFFFFF"/>
          </a:solidFill>
          <a:ln/>
          <a:effectLst>
            <a:outerShdw sx="100000" sy="100000" kx="0" ky="0" algn="bl" rotWithShape="0" blurRad="101600" dist="38100" dir="2700000">
              <a:srgbClr val="000000">
                <a:alpha val="12000"/>
              </a:srgbClr>
            </a:outerShdw>
          </a:effectLst>
        </p:spPr>
      </p:sp>
      <p:sp>
        <p:nvSpPr>
          <p:cNvPr id="5" name="Shape 3"/>
          <p:cNvSpPr/>
          <p:nvPr/>
        </p:nvSpPr>
        <p:spPr>
          <a:xfrm>
            <a:off x="1051560" y="2057400"/>
            <a:ext cx="457200" cy="457200"/>
          </a:xfrm>
          <a:prstGeom prst="ellipse">
            <a:avLst/>
          </a:prstGeom>
          <a:solidFill>
            <a:srgbClr val="C1652F"/>
          </a:solidFill>
          <a:ln/>
        </p:spPr>
      </p:sp>
      <p:sp>
        <p:nvSpPr>
          <p:cNvPr id="6" name="Text 4"/>
          <p:cNvSpPr/>
          <p:nvPr/>
        </p:nvSpPr>
        <p:spPr>
          <a:xfrm>
            <a:off x="1051560" y="20574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7" name="Text 5"/>
          <p:cNvSpPr/>
          <p:nvPr/>
        </p:nvSpPr>
        <p:spPr>
          <a:xfrm>
            <a:off x="1645920" y="2084832"/>
            <a:ext cx="4114800" cy="411480"/>
          </a:xfrm>
          <a:prstGeom prst="rect">
            <a:avLst/>
          </a:prstGeom>
          <a:noFill/>
          <a:ln/>
        </p:spPr>
        <p:txBody>
          <a:bodyPr wrap="square" lIns="0" tIns="0" rIns="0" bIns="0" rtlCol="0" anchor="ctr"/>
          <a:lstStyle/>
          <a:p>
            <a:pPr indent="0" marL="0">
              <a:buNone/>
            </a:pPr>
            <a:r>
              <a:rPr lang="en-US" sz="1600" b="1" dirty="0">
                <a:solidFill>
                  <a:srgbClr val="12283D"/>
                </a:solidFill>
                <a:latin typeface="Cambria" pitchFamily="34" charset="0"/>
                <a:ea typeface="Cambria" pitchFamily="34" charset="-122"/>
                <a:cs typeface="Cambria" pitchFamily="34" charset="-120"/>
              </a:rPr>
              <a:t>Acomodações sensoriais</a:t>
            </a:r>
            <a:endParaRPr lang="en-US" sz="1600" dirty="0"/>
          </a:p>
        </p:txBody>
      </p:sp>
      <p:sp>
        <p:nvSpPr>
          <p:cNvPr id="8" name="Text 6"/>
          <p:cNvSpPr/>
          <p:nvPr/>
        </p:nvSpPr>
        <p:spPr>
          <a:xfrm>
            <a:off x="1051560" y="2697480"/>
            <a:ext cx="4663440" cy="164592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Ajuste ativamente o ambiente (som, luz, textura) em vez de pedir que o paciente "tolere" mais</a:t>
            </a:r>
            <a:endParaRPr lang="en-US" sz="1250" dirty="0"/>
          </a:p>
          <a:p>
            <a:pPr marL="342900" indent="-3429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Valide o uso de ferramentas de autorregulação sensorial (fones, óculos escuros, objetos de stimming)</a:t>
            </a:r>
            <a:endParaRPr lang="en-US" sz="1250" dirty="0"/>
          </a:p>
        </p:txBody>
      </p:sp>
      <p:sp>
        <p:nvSpPr>
          <p:cNvPr id="9" name="Shape 7"/>
          <p:cNvSpPr/>
          <p:nvPr/>
        </p:nvSpPr>
        <p:spPr>
          <a:xfrm>
            <a:off x="6263640" y="1828800"/>
            <a:ext cx="5120640" cy="4023360"/>
          </a:xfrm>
          <a:prstGeom prst="roundRect">
            <a:avLst>
              <a:gd name="adj" fmla="val 1818"/>
            </a:avLst>
          </a:prstGeom>
          <a:solidFill>
            <a:srgbClr val="FFFFFF"/>
          </a:solidFill>
          <a:ln/>
          <a:effectLst>
            <a:outerShdw sx="100000" sy="100000" kx="0" ky="0" algn="bl" rotWithShape="0" blurRad="101600" dist="38100" dir="2700000">
              <a:srgbClr val="000000">
                <a:alpha val="12000"/>
              </a:srgbClr>
            </a:outerShdw>
          </a:effectLst>
        </p:spPr>
      </p:sp>
      <p:sp>
        <p:nvSpPr>
          <p:cNvPr id="10" name="Shape 8"/>
          <p:cNvSpPr/>
          <p:nvPr/>
        </p:nvSpPr>
        <p:spPr>
          <a:xfrm>
            <a:off x="6492240" y="2057400"/>
            <a:ext cx="457200" cy="457200"/>
          </a:xfrm>
          <a:prstGeom prst="ellipse">
            <a:avLst/>
          </a:prstGeom>
          <a:solidFill>
            <a:srgbClr val="C1652F"/>
          </a:solidFill>
          <a:ln/>
        </p:spPr>
      </p:sp>
      <p:sp>
        <p:nvSpPr>
          <p:cNvPr id="11" name="Text 9"/>
          <p:cNvSpPr/>
          <p:nvPr/>
        </p:nvSpPr>
        <p:spPr>
          <a:xfrm>
            <a:off x="6492240" y="20574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2" name="Text 10"/>
          <p:cNvSpPr/>
          <p:nvPr/>
        </p:nvSpPr>
        <p:spPr>
          <a:xfrm>
            <a:off x="7086600" y="2084832"/>
            <a:ext cx="4114800" cy="411480"/>
          </a:xfrm>
          <a:prstGeom prst="rect">
            <a:avLst/>
          </a:prstGeom>
          <a:noFill/>
          <a:ln/>
        </p:spPr>
        <p:txBody>
          <a:bodyPr wrap="square" lIns="0" tIns="0" rIns="0" bIns="0" rtlCol="0" anchor="ctr"/>
          <a:lstStyle/>
          <a:p>
            <a:pPr indent="0" marL="0">
              <a:buNone/>
            </a:pPr>
            <a:r>
              <a:rPr lang="en-US" sz="1600" b="1" dirty="0">
                <a:solidFill>
                  <a:srgbClr val="12283D"/>
                </a:solidFill>
                <a:latin typeface="Cambria" pitchFamily="34" charset="0"/>
                <a:ea typeface="Cambria" pitchFamily="34" charset="-122"/>
                <a:cs typeface="Cambria" pitchFamily="34" charset="-120"/>
              </a:rPr>
              <a:t>Autodefesa e comunicação</a:t>
            </a:r>
            <a:endParaRPr lang="en-US" sz="1600" dirty="0"/>
          </a:p>
        </p:txBody>
      </p:sp>
      <p:sp>
        <p:nvSpPr>
          <p:cNvPr id="13" name="Text 11"/>
          <p:cNvSpPr/>
          <p:nvPr/>
        </p:nvSpPr>
        <p:spPr>
          <a:xfrm>
            <a:off x="6492240" y="2697480"/>
            <a:ext cx="4663440" cy="164592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Apoie a construção de linguagem clara pra comunicar necessidades a parceiros, família e trabalho</a:t>
            </a:r>
            <a:endParaRPr lang="en-US" sz="1250" dirty="0"/>
          </a:p>
          <a:p>
            <a:pPr marL="342900" indent="-3429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Trabalhe scripts práticos pra situações sociais recorrentes, quando útil ao próprio paciente</a:t>
            </a:r>
            <a:endParaRPr lang="en-US" sz="1250" dirty="0"/>
          </a:p>
        </p:txBody>
      </p:sp>
      <p:sp>
        <p:nvSpPr>
          <p:cNvPr id="14" name="Text 12"/>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TEA em Adultos — Módulo 4.27</a:t>
            </a:r>
            <a:endParaRPr lang="en-US" sz="900" dirty="0"/>
          </a:p>
        </p:txBody>
      </p:sp>
      <p:sp>
        <p:nvSpPr>
          <p:cNvPr id="15" name="Text 13"/>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45720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APLICAÇÃO</a:t>
            </a:r>
            <a:endParaRPr lang="en-US" sz="1100" dirty="0"/>
          </a:p>
        </p:txBody>
      </p:sp>
      <p:sp>
        <p:nvSpPr>
          <p:cNvPr id="3" name="Text 1"/>
          <p:cNvSpPr/>
          <p:nvPr/>
        </p:nvSpPr>
        <p:spPr>
          <a:xfrm>
            <a:off x="777240" y="731520"/>
            <a:ext cx="10058400" cy="685800"/>
          </a:xfrm>
          <a:prstGeom prst="rect">
            <a:avLst/>
          </a:prstGeom>
          <a:noFill/>
          <a:ln/>
        </p:spPr>
        <p:txBody>
          <a:bodyPr wrap="square" lIns="0" tIns="0" rIns="0" bIns="0" rtlCol="0" anchor="ctr"/>
          <a:lstStyle/>
          <a:p>
            <a:pPr indent="0" marL="0">
              <a:buNone/>
            </a:pPr>
            <a:r>
              <a:rPr lang="en-US" sz="2800" b="1" dirty="0">
                <a:solidFill>
                  <a:srgbClr val="12283D"/>
                </a:solidFill>
                <a:latin typeface="Cambria" pitchFamily="34" charset="0"/>
                <a:ea typeface="Cambria" pitchFamily="34" charset="-122"/>
                <a:cs typeface="Cambria" pitchFamily="34" charset="-120"/>
              </a:rPr>
              <a:t>Estudo de caso</a:t>
            </a:r>
            <a:endParaRPr lang="en-US" sz="2800" dirty="0"/>
          </a:p>
        </p:txBody>
      </p:sp>
      <p:sp>
        <p:nvSpPr>
          <p:cNvPr id="4" name="Shape 2"/>
          <p:cNvSpPr/>
          <p:nvPr/>
        </p:nvSpPr>
        <p:spPr>
          <a:xfrm>
            <a:off x="822960" y="1783080"/>
            <a:ext cx="10515600" cy="1828800"/>
          </a:xfrm>
          <a:prstGeom prst="roundRect">
            <a:avLst>
              <a:gd name="adj" fmla="val 4000"/>
            </a:avLst>
          </a:prstGeom>
          <a:solidFill>
            <a:srgbClr val="FFFFFF"/>
          </a:solidFill>
          <a:ln/>
          <a:effectLst>
            <a:outerShdw sx="100000" sy="100000" kx="0" ky="0" algn="bl" rotWithShape="0" blurRad="101600" dist="38100" dir="2700000">
              <a:srgbClr val="000000">
                <a:alpha val="12000"/>
              </a:srgbClr>
            </a:outerShdw>
          </a:effectLst>
        </p:spPr>
      </p:sp>
      <p:sp>
        <p:nvSpPr>
          <p:cNvPr id="5" name="Text 3"/>
          <p:cNvSpPr/>
          <p:nvPr/>
        </p:nvSpPr>
        <p:spPr>
          <a:xfrm>
            <a:off x="1097280" y="1965960"/>
            <a:ext cx="9966960" cy="1463040"/>
          </a:xfrm>
          <a:prstGeom prst="rect">
            <a:avLst/>
          </a:prstGeom>
          <a:noFill/>
          <a:ln/>
        </p:spPr>
        <p:txBody>
          <a:bodyPr wrap="square" lIns="0" tIns="0" rIns="0" bIns="0" rtlCol="0" anchor="ctr"/>
          <a:lstStyle/>
          <a:p>
            <a:pPr indent="0" marL="0">
              <a:buNone/>
            </a:pPr>
            <a:r>
              <a:rPr lang="en-US" sz="1500" dirty="0">
                <a:solidFill>
                  <a:srgbClr val="2B2B2B"/>
                </a:solidFill>
                <a:latin typeface="Calibri" pitchFamily="34" charset="0"/>
                <a:ea typeface="Calibri" pitchFamily="34" charset="-122"/>
                <a:cs typeface="Calibri" pitchFamily="34" charset="-120"/>
              </a:rPr>
              <a:t>Juliana, 36 anos, procura terapia por exaustão crônica e ansiedade. Relata que sempre "se esforçou o dobro" pra parecer normal em ambientes sociais, mantém interesses muito específicos e intensos desde criança, e sente sobrecarga sensorial extrema em ambientes barulhentos, precisando de tempo sozinha pra "recarregar" depois de qualquer evento social. Nunca foi avaliada, mas diz que sempre se sentiu "diferente, sem saber por quê".</a:t>
            </a:r>
            <a:endParaRPr lang="en-US" sz="1500" dirty="0"/>
          </a:p>
        </p:txBody>
      </p:sp>
      <p:sp>
        <p:nvSpPr>
          <p:cNvPr id="6" name="Text 4"/>
          <p:cNvSpPr/>
          <p:nvPr/>
        </p:nvSpPr>
        <p:spPr>
          <a:xfrm>
            <a:off x="822960" y="3886200"/>
            <a:ext cx="5486400" cy="365760"/>
          </a:xfrm>
          <a:prstGeom prst="rect">
            <a:avLst/>
          </a:prstGeom>
          <a:noFill/>
          <a:ln/>
        </p:spPr>
        <p:txBody>
          <a:bodyPr wrap="square" lIns="0" tIns="0" rIns="0" bIns="0" rtlCol="0" anchor="ctr"/>
          <a:lstStyle/>
          <a:p>
            <a:pPr indent="0" marL="0">
              <a:buNone/>
            </a:pPr>
            <a:r>
              <a:rPr lang="en-US" sz="1600" b="1" dirty="0">
                <a:solidFill>
                  <a:srgbClr val="12283D"/>
                </a:solidFill>
                <a:latin typeface="Cambria" pitchFamily="34" charset="0"/>
                <a:ea typeface="Cambria" pitchFamily="34" charset="-122"/>
                <a:cs typeface="Cambria" pitchFamily="34" charset="-120"/>
              </a:rPr>
              <a:t>Discussão guiada</a:t>
            </a:r>
            <a:endParaRPr lang="en-US" sz="1600" dirty="0"/>
          </a:p>
        </p:txBody>
      </p:sp>
      <p:sp>
        <p:nvSpPr>
          <p:cNvPr id="7" name="Text 5"/>
          <p:cNvSpPr/>
          <p:nvPr/>
        </p:nvSpPr>
        <p:spPr>
          <a:xfrm>
            <a:off x="822960" y="4297680"/>
            <a:ext cx="10058400" cy="164592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6B6153"/>
                </a:solidFill>
                <a:latin typeface="Calibri" pitchFamily="34" charset="0"/>
                <a:ea typeface="Calibri" pitchFamily="34" charset="-122"/>
                <a:cs typeface="Calibri" pitchFamily="34" charset="-120"/>
              </a:rPr>
              <a:t>Que elementos da vinheta ilustram os 3 traços centrais do TEA?</a:t>
            </a:r>
            <a:endParaRPr lang="en-US" sz="1400" dirty="0"/>
          </a:p>
          <a:p>
            <a:pPr marL="342900" indent="-342900">
              <a:spcAft>
                <a:spcPts val="800"/>
              </a:spcAft>
              <a:buSzPct val="100000"/>
              <a:buChar char="•"/>
            </a:pPr>
            <a:r>
              <a:rPr lang="en-US" sz="1400" dirty="0">
                <a:solidFill>
                  <a:srgbClr val="6B6153"/>
                </a:solidFill>
                <a:latin typeface="Calibri" pitchFamily="34" charset="0"/>
                <a:ea typeface="Calibri" pitchFamily="34" charset="-122"/>
                <a:cs typeface="Calibri" pitchFamily="34" charset="-120"/>
              </a:rPr>
              <a:t>Por que a fadiga social de Juliana não deveria ser automaticamente interpretada como ansiedade social clássica?</a:t>
            </a:r>
            <a:endParaRPr lang="en-US" sz="1400" dirty="0"/>
          </a:p>
          <a:p>
            <a:pPr marL="342900" indent="-342900">
              <a:spcAft>
                <a:spcPts val="800"/>
              </a:spcAft>
              <a:buSzPct val="100000"/>
              <a:buChar char="•"/>
            </a:pPr>
            <a:r>
              <a:rPr lang="en-US" sz="1400" dirty="0">
                <a:solidFill>
                  <a:srgbClr val="6B6153"/>
                </a:solidFill>
                <a:latin typeface="Calibri" pitchFamily="34" charset="0"/>
                <a:ea typeface="Calibri" pitchFamily="34" charset="-122"/>
                <a:cs typeface="Calibri" pitchFamily="34" charset="-120"/>
              </a:rPr>
              <a:t>Que passo do manejo você priorizaria na primeira sessão com Juliana?</a:t>
            </a:r>
            <a:endParaRPr lang="en-US" sz="1400" dirty="0"/>
          </a:p>
        </p:txBody>
      </p:sp>
      <p:sp>
        <p:nvSpPr>
          <p:cNvPr id="8" name="Text 6"/>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TEA em Adultos — Módulo 4.27</a:t>
            </a:r>
            <a:endParaRPr lang="en-US" sz="900" dirty="0"/>
          </a:p>
        </p:txBody>
      </p:sp>
      <p:sp>
        <p:nvSpPr>
          <p:cNvPr id="9" name="Text 7"/>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45720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PASSO 5 · ENCAMINHAMENTO</a:t>
            </a:r>
            <a:endParaRPr lang="en-US" sz="1100" dirty="0"/>
          </a:p>
        </p:txBody>
      </p:sp>
      <p:sp>
        <p:nvSpPr>
          <p:cNvPr id="3" name="Text 1"/>
          <p:cNvSpPr/>
          <p:nvPr/>
        </p:nvSpPr>
        <p:spPr>
          <a:xfrm>
            <a:off x="777240" y="731520"/>
            <a:ext cx="10058400" cy="685800"/>
          </a:xfrm>
          <a:prstGeom prst="rect">
            <a:avLst/>
          </a:prstGeom>
          <a:noFill/>
          <a:ln/>
        </p:spPr>
        <p:txBody>
          <a:bodyPr wrap="square" lIns="0" tIns="0" rIns="0" bIns="0" rtlCol="0" anchor="ctr"/>
          <a:lstStyle/>
          <a:p>
            <a:pPr indent="0" marL="0">
              <a:buNone/>
            </a:pPr>
            <a:r>
              <a:rPr lang="en-US" sz="2800" b="1" dirty="0">
                <a:solidFill>
                  <a:srgbClr val="12283D"/>
                </a:solidFill>
                <a:latin typeface="Cambria" pitchFamily="34" charset="0"/>
                <a:ea typeface="Cambria" pitchFamily="34" charset="-122"/>
                <a:cs typeface="Cambria" pitchFamily="34" charset="-120"/>
              </a:rPr>
              <a:t>Quando isso não basta</a:t>
            </a:r>
            <a:endParaRPr lang="en-US" sz="2800" dirty="0"/>
          </a:p>
        </p:txBody>
      </p:sp>
      <p:sp>
        <p:nvSpPr>
          <p:cNvPr id="4" name="Shape 2"/>
          <p:cNvSpPr/>
          <p:nvPr/>
        </p:nvSpPr>
        <p:spPr>
          <a:xfrm>
            <a:off x="822960" y="1965960"/>
            <a:ext cx="10515600" cy="777240"/>
          </a:xfrm>
          <a:prstGeom prst="roundRect">
            <a:avLst>
              <a:gd name="adj" fmla="val 7059"/>
            </a:avLst>
          </a:prstGeom>
          <a:solidFill>
            <a:srgbClr val="FFFFFF"/>
          </a:solidFill>
          <a:ln/>
          <a:effectLst>
            <a:outerShdw sx="100000" sy="100000" kx="0" ky="0" algn="bl" rotWithShape="0" blurRad="101600" dist="38100" dir="2700000">
              <a:srgbClr val="000000">
                <a:alpha val="12000"/>
              </a:srgbClr>
            </a:outerShdw>
          </a:effectLst>
        </p:spPr>
      </p:sp>
      <p:sp>
        <p:nvSpPr>
          <p:cNvPr id="5" name="Shape 3"/>
          <p:cNvSpPr/>
          <p:nvPr/>
        </p:nvSpPr>
        <p:spPr>
          <a:xfrm>
            <a:off x="1051560" y="2212848"/>
            <a:ext cx="274320" cy="274320"/>
          </a:xfrm>
          <a:prstGeom prst="ellipse">
            <a:avLst/>
          </a:prstGeom>
          <a:solidFill>
            <a:srgbClr val="C1652F"/>
          </a:solidFill>
          <a:ln/>
        </p:spPr>
      </p:sp>
      <p:sp>
        <p:nvSpPr>
          <p:cNvPr id="6" name="Text 4"/>
          <p:cNvSpPr/>
          <p:nvPr/>
        </p:nvSpPr>
        <p:spPr>
          <a:xfrm>
            <a:off x="1508760" y="1965960"/>
            <a:ext cx="9601200" cy="77724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Avaliação neuropsicológica formal pra confirmação diagnóstica, sempre que possível (conecta ao Bloco 2)</a:t>
            </a:r>
            <a:endParaRPr lang="en-US" sz="1300" dirty="0"/>
          </a:p>
        </p:txBody>
      </p:sp>
      <p:sp>
        <p:nvSpPr>
          <p:cNvPr id="7" name="Shape 5"/>
          <p:cNvSpPr/>
          <p:nvPr/>
        </p:nvSpPr>
        <p:spPr>
          <a:xfrm>
            <a:off x="822960" y="2926080"/>
            <a:ext cx="10515600" cy="777240"/>
          </a:xfrm>
          <a:prstGeom prst="roundRect">
            <a:avLst>
              <a:gd name="adj" fmla="val 7059"/>
            </a:avLst>
          </a:prstGeom>
          <a:solidFill>
            <a:srgbClr val="FFFFFF"/>
          </a:solidFill>
          <a:ln/>
          <a:effectLst>
            <a:outerShdw sx="100000" sy="100000" kx="0" ky="0" algn="bl" rotWithShape="0" blurRad="101600" dist="38100" dir="2700000">
              <a:srgbClr val="000000">
                <a:alpha val="12000"/>
              </a:srgbClr>
            </a:outerShdw>
          </a:effectLst>
        </p:spPr>
      </p:sp>
      <p:sp>
        <p:nvSpPr>
          <p:cNvPr id="8" name="Shape 6"/>
          <p:cNvSpPr/>
          <p:nvPr/>
        </p:nvSpPr>
        <p:spPr>
          <a:xfrm>
            <a:off x="1051560" y="3172968"/>
            <a:ext cx="274320" cy="274320"/>
          </a:xfrm>
          <a:prstGeom prst="ellipse">
            <a:avLst/>
          </a:prstGeom>
          <a:solidFill>
            <a:srgbClr val="C1652F"/>
          </a:solidFill>
          <a:ln/>
        </p:spPr>
      </p:sp>
      <p:sp>
        <p:nvSpPr>
          <p:cNvPr id="9" name="Text 7"/>
          <p:cNvSpPr/>
          <p:nvPr/>
        </p:nvSpPr>
        <p:spPr>
          <a:xfrm>
            <a:off x="1508760" y="2926080"/>
            <a:ext cx="9601200" cy="77724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Investigar TDAH concomitante — alta taxa de comorbidade, conhecida informalmente como "AuDHD"</a:t>
            </a:r>
            <a:endParaRPr lang="en-US" sz="1300" dirty="0"/>
          </a:p>
        </p:txBody>
      </p:sp>
      <p:sp>
        <p:nvSpPr>
          <p:cNvPr id="10" name="Shape 8"/>
          <p:cNvSpPr/>
          <p:nvPr/>
        </p:nvSpPr>
        <p:spPr>
          <a:xfrm>
            <a:off x="822960" y="3886200"/>
            <a:ext cx="10515600" cy="777240"/>
          </a:xfrm>
          <a:prstGeom prst="roundRect">
            <a:avLst>
              <a:gd name="adj" fmla="val 7059"/>
            </a:avLst>
          </a:prstGeom>
          <a:solidFill>
            <a:srgbClr val="FFFFFF"/>
          </a:solidFill>
          <a:ln/>
          <a:effectLst>
            <a:outerShdw sx="100000" sy="100000" kx="0" ky="0" algn="bl" rotWithShape="0" blurRad="101600" dist="38100" dir="2700000">
              <a:srgbClr val="000000">
                <a:alpha val="12000"/>
              </a:srgbClr>
            </a:outerShdw>
          </a:effectLst>
        </p:spPr>
      </p:sp>
      <p:sp>
        <p:nvSpPr>
          <p:cNvPr id="11" name="Shape 9"/>
          <p:cNvSpPr/>
          <p:nvPr/>
        </p:nvSpPr>
        <p:spPr>
          <a:xfrm>
            <a:off x="1051560" y="4133088"/>
            <a:ext cx="274320" cy="274320"/>
          </a:xfrm>
          <a:prstGeom prst="ellipse">
            <a:avLst/>
          </a:prstGeom>
          <a:solidFill>
            <a:srgbClr val="C1652F"/>
          </a:solidFill>
          <a:ln/>
        </p:spPr>
      </p:sp>
      <p:sp>
        <p:nvSpPr>
          <p:cNvPr id="12" name="Text 10"/>
          <p:cNvSpPr/>
          <p:nvPr/>
        </p:nvSpPr>
        <p:spPr>
          <a:xfrm>
            <a:off x="1508760" y="3886200"/>
            <a:ext cx="9601200" cy="77724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Comorbidade com ansiedade ou depressão secundária a anos de mascaramento não reconhecido</a:t>
            </a:r>
            <a:endParaRPr lang="en-US" sz="1300" dirty="0"/>
          </a:p>
        </p:txBody>
      </p:sp>
      <p:sp>
        <p:nvSpPr>
          <p:cNvPr id="13" name="Shape 11"/>
          <p:cNvSpPr/>
          <p:nvPr/>
        </p:nvSpPr>
        <p:spPr>
          <a:xfrm>
            <a:off x="822960" y="4846320"/>
            <a:ext cx="10515600" cy="777240"/>
          </a:xfrm>
          <a:prstGeom prst="roundRect">
            <a:avLst>
              <a:gd name="adj" fmla="val 7059"/>
            </a:avLst>
          </a:prstGeom>
          <a:solidFill>
            <a:srgbClr val="FFFFFF"/>
          </a:solidFill>
          <a:ln/>
          <a:effectLst>
            <a:outerShdw sx="100000" sy="100000" kx="0" ky="0" algn="bl" rotWithShape="0" blurRad="101600" dist="38100" dir="2700000">
              <a:srgbClr val="000000">
                <a:alpha val="12000"/>
              </a:srgbClr>
            </a:outerShdw>
          </a:effectLst>
        </p:spPr>
      </p:sp>
      <p:sp>
        <p:nvSpPr>
          <p:cNvPr id="14" name="Shape 12"/>
          <p:cNvSpPr/>
          <p:nvPr/>
        </p:nvSpPr>
        <p:spPr>
          <a:xfrm>
            <a:off x="1051560" y="5093208"/>
            <a:ext cx="274320" cy="274320"/>
          </a:xfrm>
          <a:prstGeom prst="ellipse">
            <a:avLst/>
          </a:prstGeom>
          <a:solidFill>
            <a:srgbClr val="C1652F"/>
          </a:solidFill>
          <a:ln/>
        </p:spPr>
      </p:sp>
      <p:sp>
        <p:nvSpPr>
          <p:cNvPr id="15" name="Text 13"/>
          <p:cNvSpPr/>
          <p:nvPr/>
        </p:nvSpPr>
        <p:spPr>
          <a:xfrm>
            <a:off x="1508760" y="4846320"/>
            <a:ext cx="9601200" cy="77724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Considerar grupos de apoio ou comunidade autista, valorizando perspectiva afirmativa de neurodiversidade</a:t>
            </a:r>
            <a:endParaRPr lang="en-US" sz="1300" dirty="0"/>
          </a:p>
        </p:txBody>
      </p:sp>
      <p:sp>
        <p:nvSpPr>
          <p:cNvPr id="16" name="Text 14"/>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TEA em Adultos — Módulo 4.27</a:t>
            </a:r>
            <a:endParaRPr lang="en-US" sz="900" dirty="0"/>
          </a:p>
        </p:txBody>
      </p:sp>
      <p:sp>
        <p:nvSpPr>
          <p:cNvPr id="17" name="Text 15"/>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283D"/>
        </a:solidFill>
      </p:bgPr>
    </p:bg>
    <p:spTree>
      <p:nvGrpSpPr>
        <p:cNvPr id="1" name=""/>
        <p:cNvGrpSpPr/>
        <p:nvPr/>
      </p:nvGrpSpPr>
      <p:grpSpPr>
        <a:xfrm>
          <a:off x="0" y="0"/>
          <a:ext cx="0" cy="0"/>
          <a:chOff x="0" y="0"/>
          <a:chExt cx="0" cy="0"/>
        </a:xfrm>
      </p:grpSpPr>
      <p:sp>
        <p:nvSpPr>
          <p:cNvPr id="2" name="Text 0"/>
          <p:cNvSpPr/>
          <p:nvPr/>
        </p:nvSpPr>
        <p:spPr>
          <a:xfrm>
            <a:off x="822960" y="822960"/>
            <a:ext cx="9144000" cy="274320"/>
          </a:xfrm>
          <a:prstGeom prst="rect">
            <a:avLst/>
          </a:prstGeom>
          <a:noFill/>
          <a:ln/>
        </p:spPr>
        <p:txBody>
          <a:bodyPr wrap="square" lIns="0" tIns="0" rIns="0" bIns="0" rtlCol="0" anchor="ctr"/>
          <a:lstStyle/>
          <a:p>
            <a:pPr indent="0" marL="0">
              <a:buNone/>
            </a:pPr>
            <a:r>
              <a:rPr lang="en-US" sz="1100" b="1" spc="200" kern="0" dirty="0">
                <a:solidFill>
                  <a:srgbClr val="C1652F"/>
                </a:solidFill>
                <a:latin typeface="Calibri" pitchFamily="34" charset="0"/>
                <a:ea typeface="Calibri" pitchFamily="34" charset="-122"/>
                <a:cs typeface="Calibri" pitchFamily="34" charset="-120"/>
              </a:rPr>
              <a:t>RECAPITULANDO</a:t>
            </a:r>
            <a:endParaRPr lang="en-US" sz="1100" dirty="0"/>
          </a:p>
        </p:txBody>
      </p:sp>
      <p:sp>
        <p:nvSpPr>
          <p:cNvPr id="3" name="Text 1"/>
          <p:cNvSpPr/>
          <p:nvPr/>
        </p:nvSpPr>
        <p:spPr>
          <a:xfrm>
            <a:off x="777240" y="1188720"/>
            <a:ext cx="91440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O que leva desta aula</a:t>
            </a:r>
            <a:endParaRPr lang="en-US" sz="3200" dirty="0"/>
          </a:p>
        </p:txBody>
      </p:sp>
      <p:sp>
        <p:nvSpPr>
          <p:cNvPr id="4" name="Text 2"/>
          <p:cNvSpPr/>
          <p:nvPr/>
        </p:nvSpPr>
        <p:spPr>
          <a:xfrm>
            <a:off x="822960" y="2194560"/>
            <a:ext cx="8869680" cy="2377440"/>
          </a:xfrm>
          <a:prstGeom prst="rect">
            <a:avLst/>
          </a:prstGeom>
          <a:noFill/>
          <a:ln/>
        </p:spPr>
        <p:txBody>
          <a:bodyPr wrap="square" lIns="0" tIns="0" rIns="0" bIns="0" rtlCol="0" anchor="ctr"/>
          <a:lstStyle/>
          <a:p>
            <a:pPr marL="342900" indent="-342900">
              <a:spcAft>
                <a:spcPts val="1200"/>
              </a:spcAft>
              <a:buSzPct val="100000"/>
              <a:buChar char="•"/>
            </a:pPr>
            <a:r>
              <a:rPr lang="en-US" sz="1700" dirty="0">
                <a:solidFill>
                  <a:srgbClr val="E4E9EF"/>
                </a:solidFill>
                <a:latin typeface="Calibri" pitchFamily="34" charset="0"/>
                <a:ea typeface="Calibri" pitchFamily="34" charset="-122"/>
                <a:cs typeface="Calibri" pitchFamily="34" charset="-120"/>
              </a:rPr>
              <a:t>A conectividade neural atípica e o processamento sensorial diferente explicam o esgotamento autista, não fraqueza ou falta de esforço</a:t>
            </a:r>
            <a:endParaRPr lang="en-US" sz="1700" dirty="0"/>
          </a:p>
          <a:p>
            <a:pPr marL="342900" indent="-342900">
              <a:spcAft>
                <a:spcPts val="1200"/>
              </a:spcAft>
              <a:buSzPct val="100000"/>
              <a:buChar char="•"/>
            </a:pPr>
            <a:r>
              <a:rPr lang="en-US" sz="1700" dirty="0">
                <a:solidFill>
                  <a:srgbClr val="E4E9EF"/>
                </a:solidFill>
                <a:latin typeface="Calibri" pitchFamily="34" charset="0"/>
                <a:ea typeface="Calibri" pitchFamily="34" charset="-122"/>
                <a:cs typeface="Calibri" pitchFamily="34" charset="-120"/>
              </a:rPr>
              <a:t>Comunicação social diferente, padrões restritos/repetitivos e processamento sensorial diferente são os 3 traços centrais</a:t>
            </a:r>
            <a:endParaRPr lang="en-US" sz="1700" dirty="0"/>
          </a:p>
          <a:p>
            <a:pPr marL="342900" indent="-342900">
              <a:spcAft>
                <a:spcPts val="1200"/>
              </a:spcAft>
              <a:buSzPct val="100000"/>
              <a:buChar char="•"/>
            </a:pPr>
            <a:r>
              <a:rPr lang="en-US" sz="1700" dirty="0">
                <a:solidFill>
                  <a:srgbClr val="E4E9EF"/>
                </a:solidFill>
                <a:latin typeface="Calibri" pitchFamily="34" charset="0"/>
                <a:ea typeface="Calibri" pitchFamily="34" charset="-122"/>
                <a:cs typeface="Calibri" pitchFamily="34" charset="-120"/>
              </a:rPr>
              <a:t>AQ, RAADS-R e avaliação neuropsicológica formal estruturam a triagem e a confirmação diagnóstica em adultos</a:t>
            </a:r>
            <a:endParaRPr lang="en-US" sz="1700" dirty="0"/>
          </a:p>
          <a:p>
            <a:pPr marL="342900" indent="-342900">
              <a:spcAft>
                <a:spcPts val="1200"/>
              </a:spcAft>
              <a:buSzPct val="100000"/>
              <a:buChar char="•"/>
            </a:pPr>
            <a:r>
              <a:rPr lang="en-US" sz="1700" dirty="0">
                <a:solidFill>
                  <a:srgbClr val="E4E9EF"/>
                </a:solidFill>
                <a:latin typeface="Calibri" pitchFamily="34" charset="0"/>
                <a:ea typeface="Calibri" pitchFamily="34" charset="-122"/>
                <a:cs typeface="Calibri" pitchFamily="34" charset="-120"/>
              </a:rPr>
              <a:t>O manejo é afirmativo: reduzir sofrimento e mascaramento, não normalizar comportamento pra parecer neurotípico</a:t>
            </a:r>
            <a:endParaRPr lang="en-US" sz="1700" dirty="0"/>
          </a:p>
        </p:txBody>
      </p:sp>
      <p:sp>
        <p:nvSpPr>
          <p:cNvPr id="5" name="Shape 3"/>
          <p:cNvSpPr/>
          <p:nvPr/>
        </p:nvSpPr>
        <p:spPr>
          <a:xfrm>
            <a:off x="822960" y="4846320"/>
            <a:ext cx="8686800" cy="1051560"/>
          </a:xfrm>
          <a:prstGeom prst="roundRect">
            <a:avLst>
              <a:gd name="adj" fmla="val 6957"/>
            </a:avLst>
          </a:prstGeom>
          <a:solidFill>
            <a:srgbClr val="1A3350"/>
          </a:solidFill>
          <a:ln/>
        </p:spPr>
      </p:sp>
      <p:sp>
        <p:nvSpPr>
          <p:cNvPr id="6" name="Text 4"/>
          <p:cNvSpPr/>
          <p:nvPr/>
        </p:nvSpPr>
        <p:spPr>
          <a:xfrm>
            <a:off x="1097280" y="4846320"/>
            <a:ext cx="8229600" cy="1051560"/>
          </a:xfrm>
          <a:prstGeom prst="rect">
            <a:avLst/>
          </a:prstGeom>
          <a:noFill/>
          <a:ln/>
        </p:spPr>
        <p:txBody>
          <a:bodyPr wrap="square" lIns="0" tIns="0" rIns="0" bIns="0" rtlCol="0" anchor="ctr"/>
          <a:lstStyle/>
          <a:p>
            <a:pPr indent="0" marL="0">
              <a:buNone/>
            </a:pPr>
            <a:r>
              <a:rPr lang="en-US" sz="1500" b="1" dirty="0">
                <a:solidFill>
                  <a:srgbClr val="D99A73"/>
                </a:solidFill>
                <a:latin typeface="Calibri" pitchFamily="34" charset="0"/>
                <a:ea typeface="Calibri" pitchFamily="34" charset="-122"/>
                <a:cs typeface="Calibri" pitchFamily="34" charset="-120"/>
              </a:rPr>
              <a:t>Módulo 4.27 concluído — fim desta expansão temática de protocolos clínicos →</a:t>
            </a:r>
            <a:endParaRPr lang="en-US" sz="1500" dirty="0"/>
          </a:p>
        </p:txBody>
      </p:sp>
      <p:sp>
        <p:nvSpPr>
          <p:cNvPr id="7" name="Text 5"/>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8FA0B3"/>
                </a:solidFill>
                <a:latin typeface="Calibri" pitchFamily="34" charset="0"/>
                <a:ea typeface="Calibri" pitchFamily="34" charset="-122"/>
                <a:cs typeface="Calibri" pitchFamily="34" charset="-120"/>
              </a:rPr>
              <a:t>TEA em Adultos — Módulo 4.27</a:t>
            </a:r>
            <a:endParaRPr lang="en-US" sz="900" dirty="0"/>
          </a:p>
        </p:txBody>
      </p:sp>
      <p:sp>
        <p:nvSpPr>
          <p:cNvPr id="8" name="Text 6"/>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8FA0B3"/>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Transtorno do Espectro Autista em Adultos — Da Neurociência ao Manejo Afirmativo</dc:title>
  <dc:subject>PptxGenJS Presentation</dc:subject>
  <dc:creator>Dioclides</dc:creator>
  <cp:lastModifiedBy>Dioclides</cp:lastModifiedBy>
  <cp:revision>1</cp:revision>
  <dcterms:created xsi:type="dcterms:W3CDTF">2026-07-10T02:39:58Z</dcterms:created>
  <dcterms:modified xsi:type="dcterms:W3CDTF">2026-07-10T02:39:58Z</dcterms:modified>
</cp:coreProperties>
</file>