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137160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MÓDULO 4.3 · BLOCO 4 · AQUISIÇÃO DE PACIENTES</a:t>
            </a:r>
            <a:endParaRPr lang="en-US" sz="1100" dirty="0"/>
          </a:p>
        </p:txBody>
      </p:sp>
      <p:sp>
        <p:nvSpPr>
          <p:cNvPr id="3" name="Text 1"/>
          <p:cNvSpPr/>
          <p:nvPr/>
        </p:nvSpPr>
        <p:spPr>
          <a:xfrm>
            <a:off x="777240" y="1737360"/>
            <a:ext cx="10058400" cy="128016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Indicação e Parcerias</a:t>
            </a:r>
            <a:endParaRPr lang="en-US" sz="5600" dirty="0"/>
          </a:p>
        </p:txBody>
      </p:sp>
      <p:sp>
        <p:nvSpPr>
          <p:cNvPr id="4" name="Text 2"/>
          <p:cNvSpPr/>
          <p:nvPr/>
        </p:nvSpPr>
        <p:spPr>
          <a:xfrm>
            <a:off x="822960" y="2880360"/>
            <a:ext cx="9601200" cy="640080"/>
          </a:xfrm>
          <a:prstGeom prst="rect">
            <a:avLst/>
          </a:prstGeom>
          <a:noFill/>
          <a:ln/>
        </p:spPr>
        <p:txBody>
          <a:bodyPr wrap="square" lIns="0" tIns="0" rIns="0" bIns="0" rtlCol="0" anchor="ctr"/>
          <a:lstStyle/>
          <a:p>
            <a:pPr indent="0" marL="0">
              <a:buNone/>
            </a:pPr>
            <a:r>
              <a:rPr lang="en-US" sz="2100" dirty="0">
                <a:solidFill>
                  <a:srgbClr val="CBD8E5"/>
                </a:solidFill>
                <a:latin typeface="Calibri" pitchFamily="34" charset="0"/>
                <a:ea typeface="Calibri" pitchFamily="34" charset="-122"/>
                <a:cs typeface="Calibri" pitchFamily="34" charset="-120"/>
              </a:rPr>
              <a:t>Construindo relação com colegas que gera indicação de mão dupla, com naturalidade</a:t>
            </a:r>
            <a:endParaRPr lang="en-US" sz="2100" dirty="0"/>
          </a:p>
        </p:txBody>
      </p:sp>
      <p:sp>
        <p:nvSpPr>
          <p:cNvPr id="5" name="Shape 3"/>
          <p:cNvSpPr/>
          <p:nvPr/>
        </p:nvSpPr>
        <p:spPr>
          <a:xfrm>
            <a:off x="822960" y="4160520"/>
            <a:ext cx="384048" cy="384048"/>
          </a:xfrm>
          <a:prstGeom prst="ellipse">
            <a:avLst/>
          </a:prstGeom>
          <a:solidFill>
            <a:srgbClr val="C1652F"/>
          </a:solidFill>
          <a:ln/>
        </p:spPr>
      </p:sp>
      <p:sp>
        <p:nvSpPr>
          <p:cNvPr id="6" name="Text 4"/>
          <p:cNvSpPr/>
          <p:nvPr/>
        </p:nvSpPr>
        <p:spPr>
          <a:xfrm>
            <a:off x="82296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50292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Por quê</a:t>
            </a:r>
            <a:endParaRPr lang="en-US" sz="1000" dirty="0"/>
          </a:p>
        </p:txBody>
      </p:sp>
      <p:sp>
        <p:nvSpPr>
          <p:cNvPr id="8" name="Shape 6"/>
          <p:cNvSpPr/>
          <p:nvPr/>
        </p:nvSpPr>
        <p:spPr>
          <a:xfrm>
            <a:off x="2606040" y="4160520"/>
            <a:ext cx="384048" cy="384048"/>
          </a:xfrm>
          <a:prstGeom prst="ellipse">
            <a:avLst/>
          </a:prstGeom>
          <a:solidFill>
            <a:srgbClr val="1A3350"/>
          </a:solidFill>
          <a:ln/>
        </p:spPr>
      </p:sp>
      <p:sp>
        <p:nvSpPr>
          <p:cNvPr id="9" name="Text 7"/>
          <p:cNvSpPr/>
          <p:nvPr/>
        </p:nvSpPr>
        <p:spPr>
          <a:xfrm>
            <a:off x="260604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228600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Tipos</a:t>
            </a:r>
            <a:endParaRPr lang="en-US" sz="1000" dirty="0"/>
          </a:p>
        </p:txBody>
      </p:sp>
      <p:sp>
        <p:nvSpPr>
          <p:cNvPr id="11" name="Shape 9"/>
          <p:cNvSpPr/>
          <p:nvPr/>
        </p:nvSpPr>
        <p:spPr>
          <a:xfrm>
            <a:off x="4389120" y="4160520"/>
            <a:ext cx="384048" cy="384048"/>
          </a:xfrm>
          <a:prstGeom prst="ellipse">
            <a:avLst/>
          </a:prstGeom>
          <a:solidFill>
            <a:srgbClr val="1A3350"/>
          </a:solidFill>
          <a:ln/>
        </p:spPr>
      </p:sp>
      <p:sp>
        <p:nvSpPr>
          <p:cNvPr id="12" name="Text 10"/>
          <p:cNvSpPr/>
          <p:nvPr/>
        </p:nvSpPr>
        <p:spPr>
          <a:xfrm>
            <a:off x="438912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406908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Abordagem</a:t>
            </a:r>
            <a:endParaRPr lang="en-US" sz="1000" dirty="0"/>
          </a:p>
        </p:txBody>
      </p:sp>
      <p:sp>
        <p:nvSpPr>
          <p:cNvPr id="14" name="Shape 12"/>
          <p:cNvSpPr/>
          <p:nvPr/>
        </p:nvSpPr>
        <p:spPr>
          <a:xfrm>
            <a:off x="6172200" y="4160520"/>
            <a:ext cx="384048" cy="384048"/>
          </a:xfrm>
          <a:prstGeom prst="ellipse">
            <a:avLst/>
          </a:prstGeom>
          <a:solidFill>
            <a:srgbClr val="1A3350"/>
          </a:solidFill>
          <a:ln/>
        </p:spPr>
      </p:sp>
      <p:sp>
        <p:nvSpPr>
          <p:cNvPr id="15" name="Text 13"/>
          <p:cNvSpPr/>
          <p:nvPr/>
        </p:nvSpPr>
        <p:spPr>
          <a:xfrm>
            <a:off x="617220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585216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Manutenção</a:t>
            </a:r>
            <a:endParaRPr lang="en-US" sz="1000" dirty="0"/>
          </a:p>
        </p:txBody>
      </p:sp>
      <p:sp>
        <p:nvSpPr>
          <p:cNvPr id="17" name="Shape 15"/>
          <p:cNvSpPr/>
          <p:nvPr/>
        </p:nvSpPr>
        <p:spPr>
          <a:xfrm>
            <a:off x="7955280" y="4160520"/>
            <a:ext cx="384048" cy="384048"/>
          </a:xfrm>
          <a:prstGeom prst="ellipse">
            <a:avLst/>
          </a:prstGeom>
          <a:solidFill>
            <a:srgbClr val="1A3350"/>
          </a:solidFill>
          <a:ln/>
        </p:spPr>
      </p:sp>
      <p:sp>
        <p:nvSpPr>
          <p:cNvPr id="18" name="Text 16"/>
          <p:cNvSpPr/>
          <p:nvPr/>
        </p:nvSpPr>
        <p:spPr>
          <a:xfrm>
            <a:off x="795528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763524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Prática</a:t>
            </a:r>
            <a:endParaRPr lang="en-US" sz="1000" dirty="0"/>
          </a:p>
        </p:txBody>
      </p:sp>
      <p:sp>
        <p:nvSpPr>
          <p:cNvPr id="20" name="Text 18"/>
          <p:cNvSpPr/>
          <p:nvPr/>
        </p:nvSpPr>
        <p:spPr>
          <a:xfrm>
            <a:off x="822960" y="6035040"/>
            <a:ext cx="9144000" cy="320040"/>
          </a:xfrm>
          <a:prstGeom prst="rect">
            <a:avLst/>
          </a:prstGeom>
          <a:noFill/>
          <a:ln/>
        </p:spPr>
        <p:txBody>
          <a:bodyPr wrap="square" lIns="0" tIns="0" rIns="0" bIns="0" rtlCol="0" anchor="ctr"/>
          <a:lstStyle/>
          <a:p>
            <a:pPr indent="0" marL="0">
              <a:buNone/>
            </a:pPr>
            <a:r>
              <a:rPr lang="en-US" sz="1100" dirty="0">
                <a:solidFill>
                  <a:srgbClr val="7E93A8"/>
                </a:solidFill>
                <a:latin typeface="Calibri" pitchFamily="34" charset="0"/>
                <a:ea typeface="Calibri" pitchFamily="34" charset="-122"/>
                <a:cs typeface="Calibri" pitchFamily="34" charset="-120"/>
              </a:rPr>
              <a:t>Escola de Marketing para Psicólogos — by Dioclides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50292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ROTEIRO DESTA AULA</a:t>
            </a:r>
            <a:endParaRPr lang="en-US" sz="1100" dirty="0"/>
          </a:p>
        </p:txBody>
      </p:sp>
      <p:sp>
        <p:nvSpPr>
          <p:cNvPr id="3" name="Text 1"/>
          <p:cNvSpPr/>
          <p:nvPr/>
        </p:nvSpPr>
        <p:spPr>
          <a:xfrm>
            <a:off x="777240" y="77724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A mesma anatomia de 5 passos, em todo protocolo do curso</a:t>
            </a:r>
            <a:endParaRPr lang="en-US" sz="2800" dirty="0"/>
          </a:p>
        </p:txBody>
      </p:sp>
      <p:sp>
        <p:nvSpPr>
          <p:cNvPr id="4" name="Shape 2"/>
          <p:cNvSpPr/>
          <p:nvPr/>
        </p:nvSpPr>
        <p:spPr>
          <a:xfrm>
            <a:off x="822960"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454810" y="2240280"/>
            <a:ext cx="640080" cy="640080"/>
          </a:xfrm>
          <a:prstGeom prst="ellipse">
            <a:avLst/>
          </a:prstGeom>
          <a:solidFill>
            <a:srgbClr val="C1652F"/>
          </a:solidFill>
          <a:ln/>
        </p:spPr>
      </p:sp>
      <p:sp>
        <p:nvSpPr>
          <p:cNvPr id="6" name="Text 4"/>
          <p:cNvSpPr/>
          <p:nvPr/>
        </p:nvSpPr>
        <p:spPr>
          <a:xfrm>
            <a:off x="1454810"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960120"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Por que indicação importa</a:t>
            </a:r>
            <a:endParaRPr lang="en-US" sz="1500" dirty="0"/>
          </a:p>
        </p:txBody>
      </p:sp>
      <p:sp>
        <p:nvSpPr>
          <p:cNvPr id="8" name="Text 6"/>
          <p:cNvSpPr/>
          <p:nvPr/>
        </p:nvSpPr>
        <p:spPr>
          <a:xfrm>
            <a:off x="1005840"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 canal de aquisição com maior taxa de conversão</a:t>
            </a:r>
            <a:endParaRPr lang="en-US" sz="1100" dirty="0"/>
          </a:p>
        </p:txBody>
      </p:sp>
      <p:sp>
        <p:nvSpPr>
          <p:cNvPr id="9" name="Shape 7"/>
          <p:cNvSpPr/>
          <p:nvPr/>
        </p:nvSpPr>
        <p:spPr>
          <a:xfrm>
            <a:off x="2982773"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614623" y="2240280"/>
            <a:ext cx="640080" cy="640080"/>
          </a:xfrm>
          <a:prstGeom prst="ellipse">
            <a:avLst/>
          </a:prstGeom>
          <a:solidFill>
            <a:srgbClr val="12283D"/>
          </a:solidFill>
          <a:ln/>
        </p:spPr>
      </p:sp>
      <p:sp>
        <p:nvSpPr>
          <p:cNvPr id="11" name="Text 9"/>
          <p:cNvSpPr/>
          <p:nvPr/>
        </p:nvSpPr>
        <p:spPr>
          <a:xfrm>
            <a:off x="3614623"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119933"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Tipos de parceria</a:t>
            </a:r>
            <a:endParaRPr lang="en-US" sz="1500" dirty="0"/>
          </a:p>
        </p:txBody>
      </p:sp>
      <p:sp>
        <p:nvSpPr>
          <p:cNvPr id="13" name="Text 11"/>
          <p:cNvSpPr/>
          <p:nvPr/>
        </p:nvSpPr>
        <p:spPr>
          <a:xfrm>
            <a:off x="3165653"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Quem faz sentido procurar, e por quê</a:t>
            </a:r>
            <a:endParaRPr lang="en-US" sz="1100" dirty="0"/>
          </a:p>
        </p:txBody>
      </p:sp>
      <p:sp>
        <p:nvSpPr>
          <p:cNvPr id="14" name="Shape 12"/>
          <p:cNvSpPr/>
          <p:nvPr/>
        </p:nvSpPr>
        <p:spPr>
          <a:xfrm>
            <a:off x="5142586"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5774436" y="2240280"/>
            <a:ext cx="640080" cy="640080"/>
          </a:xfrm>
          <a:prstGeom prst="ellipse">
            <a:avLst/>
          </a:prstGeom>
          <a:solidFill>
            <a:srgbClr val="12283D"/>
          </a:solidFill>
          <a:ln/>
        </p:spPr>
      </p:sp>
      <p:sp>
        <p:nvSpPr>
          <p:cNvPr id="16" name="Text 14"/>
          <p:cNvSpPr/>
          <p:nvPr/>
        </p:nvSpPr>
        <p:spPr>
          <a:xfrm>
            <a:off x="5774436"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79746"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Como abordar</a:t>
            </a:r>
            <a:endParaRPr lang="en-US" sz="1500" dirty="0"/>
          </a:p>
        </p:txBody>
      </p:sp>
      <p:sp>
        <p:nvSpPr>
          <p:cNvPr id="18" name="Text 16"/>
          <p:cNvSpPr/>
          <p:nvPr/>
        </p:nvSpPr>
        <p:spPr>
          <a:xfrm>
            <a:off x="5325466"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A diferença entre parecer genuíno e parecer interesseiro</a:t>
            </a:r>
            <a:endParaRPr lang="en-US" sz="1100" dirty="0"/>
          </a:p>
        </p:txBody>
      </p:sp>
      <p:sp>
        <p:nvSpPr>
          <p:cNvPr id="19" name="Shape 17"/>
          <p:cNvSpPr/>
          <p:nvPr/>
        </p:nvSpPr>
        <p:spPr>
          <a:xfrm>
            <a:off x="7302398"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7934249" y="2240280"/>
            <a:ext cx="640080" cy="640080"/>
          </a:xfrm>
          <a:prstGeom prst="ellipse">
            <a:avLst/>
          </a:prstGeom>
          <a:solidFill>
            <a:srgbClr val="12283D"/>
          </a:solidFill>
          <a:ln/>
        </p:spPr>
      </p:sp>
      <p:sp>
        <p:nvSpPr>
          <p:cNvPr id="21" name="Text 19"/>
          <p:cNvSpPr/>
          <p:nvPr/>
        </p:nvSpPr>
        <p:spPr>
          <a:xfrm>
            <a:off x="7934249"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39558"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Mantendo a relação</a:t>
            </a:r>
            <a:endParaRPr lang="en-US" sz="1500" dirty="0"/>
          </a:p>
        </p:txBody>
      </p:sp>
      <p:sp>
        <p:nvSpPr>
          <p:cNvPr id="23" name="Text 21"/>
          <p:cNvSpPr/>
          <p:nvPr/>
        </p:nvSpPr>
        <p:spPr>
          <a:xfrm>
            <a:off x="7485278"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 que sustenta uma parceria ao longo do tempo</a:t>
            </a:r>
            <a:endParaRPr lang="en-US" sz="1100" dirty="0"/>
          </a:p>
        </p:txBody>
      </p:sp>
      <p:sp>
        <p:nvSpPr>
          <p:cNvPr id="24" name="Shape 22"/>
          <p:cNvSpPr/>
          <p:nvPr/>
        </p:nvSpPr>
        <p:spPr>
          <a:xfrm>
            <a:off x="9462211"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10094062" y="2240280"/>
            <a:ext cx="640080" cy="640080"/>
          </a:xfrm>
          <a:prstGeom prst="ellipse">
            <a:avLst/>
          </a:prstGeom>
          <a:solidFill>
            <a:srgbClr val="12283D"/>
          </a:solidFill>
          <a:ln/>
        </p:spPr>
      </p:sp>
      <p:sp>
        <p:nvSpPr>
          <p:cNvPr id="26" name="Text 24"/>
          <p:cNvSpPr/>
          <p:nvPr/>
        </p:nvSpPr>
        <p:spPr>
          <a:xfrm>
            <a:off x="10094062"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599371"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Aplicação prática</a:t>
            </a:r>
            <a:endParaRPr lang="en-US" sz="1500" dirty="0"/>
          </a:p>
        </p:txBody>
      </p:sp>
      <p:sp>
        <p:nvSpPr>
          <p:cNvPr id="28" name="Text 26"/>
          <p:cNvSpPr/>
          <p:nvPr/>
        </p:nvSpPr>
        <p:spPr>
          <a:xfrm>
            <a:off x="9645091"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Um caso real de aproximação com psiquiatra</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30" name="Text 2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ANTES DE COMEÇAR</a:t>
            </a:r>
            <a:endParaRPr lang="en-US" sz="1100" dirty="0"/>
          </a:p>
        </p:txBody>
      </p:sp>
      <p:sp>
        <p:nvSpPr>
          <p:cNvPr id="3" name="Text 1"/>
          <p:cNvSpPr/>
          <p:nvPr/>
        </p:nvSpPr>
        <p:spPr>
          <a:xfrm>
            <a:off x="822960" y="1371600"/>
            <a:ext cx="9875520" cy="2377440"/>
          </a:xfrm>
          <a:prstGeom prst="rect">
            <a:avLst/>
          </a:prstGeom>
          <a:noFill/>
          <a:ln/>
        </p:spPr>
        <p:txBody>
          <a:bodyPr wrap="square" lIns="0" tIns="0" rIns="0" bIns="0" rtlCol="0" anchor="ctr"/>
          <a:lstStyle/>
          <a:p>
            <a:pPr indent="0" marL="0">
              <a:lnSpc>
                <a:spcPct val="115000"/>
              </a:lnSpc>
              <a:buNone/>
            </a:pPr>
            <a:r>
              <a:rPr lang="en-US" sz="3400" b="1" dirty="0">
                <a:solidFill>
                  <a:srgbClr val="12283D"/>
                </a:solidFill>
                <a:latin typeface="Cambria" pitchFamily="34" charset="0"/>
                <a:ea typeface="Cambria" pitchFamily="34" charset="-122"/>
                <a:cs typeface="Cambria" pitchFamily="34" charset="-120"/>
              </a:rPr>
              <a:t>A indicação de um colega vale mais que 100 curtidas — porque quem indica já resolveu, pra quem recebe, a pergunta mais difícil de qualquer marketing: "posso confiar nesse profissional?"</a:t>
            </a:r>
            <a:endParaRPr lang="en-US" sz="3400" dirty="0"/>
          </a:p>
        </p:txBody>
      </p:sp>
      <p:sp>
        <p:nvSpPr>
          <p:cNvPr id="4" name="Text 2"/>
          <p:cNvSpPr/>
          <p:nvPr/>
        </p:nvSpPr>
        <p:spPr>
          <a:xfrm>
            <a:off x="822960" y="3931920"/>
            <a:ext cx="7955280" cy="1371600"/>
          </a:xfrm>
          <a:prstGeom prst="rect">
            <a:avLst/>
          </a:prstGeom>
          <a:noFill/>
          <a:ln/>
        </p:spPr>
        <p:txBody>
          <a:bodyPr wrap="square" lIns="0" tIns="0" rIns="0" bIns="0" rtlCol="0" anchor="ctr"/>
          <a:lstStyle/>
          <a:p>
            <a:pPr indent="0" marL="0">
              <a:buNone/>
            </a:pPr>
            <a:r>
              <a:rPr lang="en-US" sz="1500" dirty="0">
                <a:solidFill>
                  <a:srgbClr val="6B6153"/>
                </a:solidFill>
                <a:latin typeface="Calibri" pitchFamily="34" charset="0"/>
                <a:ea typeface="Calibri" pitchFamily="34" charset="-122"/>
                <a:cs typeface="Calibri" pitchFamily="34" charset="-120"/>
              </a:rPr>
              <a:t>Este módulo trata do canal de aquisição mais antigo e ainda um dos mais eficazes: a rede de profissionais que confiam no seu trabalho.</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4 pilares de uma boa parceria</a:t>
            </a:r>
            <a:endParaRPr lang="en-US" sz="2800" dirty="0"/>
          </a:p>
        </p:txBody>
      </p:sp>
      <p:sp>
        <p:nvSpPr>
          <p:cNvPr id="4" name="Shape 2"/>
          <p:cNvSpPr/>
          <p:nvPr/>
        </p:nvSpPr>
        <p:spPr>
          <a:xfrm>
            <a:off x="822960" y="1691640"/>
            <a:ext cx="5120640" cy="4023360"/>
          </a:xfrm>
          <a:prstGeom prst="ellipse">
            <a:avLst/>
          </a:prstGeom>
          <a:solidFill>
            <a:srgbClr val="EFE8D9"/>
          </a:solidFill>
          <a:ln w="25400">
            <a:solidFill>
              <a:srgbClr val="12283D"/>
            </a:solidFill>
            <a:prstDash val="solid"/>
          </a:ln>
        </p:spPr>
      </p:sp>
      <p:sp>
        <p:nvSpPr>
          <p:cNvPr id="5" name="Shape 3"/>
          <p:cNvSpPr/>
          <p:nvPr/>
        </p:nvSpPr>
        <p:spPr>
          <a:xfrm>
            <a:off x="1847088" y="2576779"/>
            <a:ext cx="457200" cy="457200"/>
          </a:xfrm>
          <a:prstGeom prst="ellipse">
            <a:avLst/>
          </a:prstGeom>
          <a:solidFill>
            <a:srgbClr val="12283D"/>
          </a:solidFill>
          <a:ln w="19050">
            <a:solidFill>
              <a:srgbClr val="FFFFFF"/>
            </a:solidFill>
            <a:prstDash val="solid"/>
          </a:ln>
        </p:spPr>
      </p:sp>
      <p:sp>
        <p:nvSpPr>
          <p:cNvPr id="6" name="Shape 4"/>
          <p:cNvSpPr/>
          <p:nvPr/>
        </p:nvSpPr>
        <p:spPr>
          <a:xfrm>
            <a:off x="1949501" y="4186123"/>
            <a:ext cx="365760" cy="365760"/>
          </a:xfrm>
          <a:prstGeom prst="ellipse">
            <a:avLst/>
          </a:prstGeom>
          <a:solidFill>
            <a:srgbClr val="C1652F"/>
          </a:solidFill>
          <a:ln w="19050">
            <a:solidFill>
              <a:srgbClr val="FFFFFF"/>
            </a:solidFill>
            <a:prstDash val="solid"/>
          </a:ln>
        </p:spPr>
      </p:sp>
      <p:sp>
        <p:nvSpPr>
          <p:cNvPr id="7" name="Shape 5"/>
          <p:cNvSpPr/>
          <p:nvPr/>
        </p:nvSpPr>
        <p:spPr>
          <a:xfrm>
            <a:off x="3895344" y="4105656"/>
            <a:ext cx="329184" cy="329184"/>
          </a:xfrm>
          <a:prstGeom prst="ellipse">
            <a:avLst/>
          </a:prstGeom>
          <a:solidFill>
            <a:srgbClr val="63768A"/>
          </a:solidFill>
          <a:ln w="19050">
            <a:solidFill>
              <a:srgbClr val="FFFFFF"/>
            </a:solidFill>
            <a:prstDash val="solid"/>
          </a:ln>
        </p:spPr>
      </p:sp>
      <p:sp>
        <p:nvSpPr>
          <p:cNvPr id="8" name="Shape 6"/>
          <p:cNvSpPr/>
          <p:nvPr/>
        </p:nvSpPr>
        <p:spPr>
          <a:xfrm>
            <a:off x="3792931" y="2657246"/>
            <a:ext cx="329184" cy="329184"/>
          </a:xfrm>
          <a:prstGeom prst="ellipse">
            <a:avLst/>
          </a:prstGeom>
          <a:solidFill>
            <a:srgbClr val="D99A73"/>
          </a:solidFill>
          <a:ln w="19050">
            <a:solidFill>
              <a:srgbClr val="FFFFFF"/>
            </a:solidFill>
            <a:prstDash val="solid"/>
          </a:ln>
        </p:spPr>
      </p:sp>
      <p:sp>
        <p:nvSpPr>
          <p:cNvPr id="9" name="Shape 7"/>
          <p:cNvSpPr/>
          <p:nvPr/>
        </p:nvSpPr>
        <p:spPr>
          <a:xfrm>
            <a:off x="6400800" y="1947672"/>
            <a:ext cx="201168" cy="201168"/>
          </a:xfrm>
          <a:prstGeom prst="ellipse">
            <a:avLst/>
          </a:prstGeom>
          <a:solidFill>
            <a:srgbClr val="12283D"/>
          </a:solidFill>
          <a:ln/>
        </p:spPr>
      </p:sp>
      <p:sp>
        <p:nvSpPr>
          <p:cNvPr id="10" name="Text 8"/>
          <p:cNvSpPr/>
          <p:nvPr/>
        </p:nvSpPr>
        <p:spPr>
          <a:xfrm>
            <a:off x="6720840" y="187452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Reciprocidade genuína: indicar sem contar pontos</a:t>
            </a:r>
            <a:endParaRPr lang="en-US" sz="1300" dirty="0"/>
          </a:p>
        </p:txBody>
      </p:sp>
      <p:sp>
        <p:nvSpPr>
          <p:cNvPr id="11" name="Shape 9"/>
          <p:cNvSpPr/>
          <p:nvPr/>
        </p:nvSpPr>
        <p:spPr>
          <a:xfrm>
            <a:off x="6400800" y="2450592"/>
            <a:ext cx="201168" cy="201168"/>
          </a:xfrm>
          <a:prstGeom prst="ellipse">
            <a:avLst/>
          </a:prstGeom>
          <a:solidFill>
            <a:srgbClr val="C1652F"/>
          </a:solidFill>
          <a:ln/>
        </p:spPr>
      </p:sp>
      <p:sp>
        <p:nvSpPr>
          <p:cNvPr id="12" name="Text 10"/>
          <p:cNvSpPr/>
          <p:nvPr/>
        </p:nvSpPr>
        <p:spPr>
          <a:xfrm>
            <a:off x="6720840" y="237744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Especialidades complementares, não concorrentes diretas</a:t>
            </a:r>
            <a:endParaRPr lang="en-US" sz="1300" dirty="0"/>
          </a:p>
        </p:txBody>
      </p:sp>
      <p:sp>
        <p:nvSpPr>
          <p:cNvPr id="13" name="Shape 11"/>
          <p:cNvSpPr/>
          <p:nvPr/>
        </p:nvSpPr>
        <p:spPr>
          <a:xfrm>
            <a:off x="6400800" y="2953512"/>
            <a:ext cx="201168" cy="201168"/>
          </a:xfrm>
          <a:prstGeom prst="ellipse">
            <a:avLst/>
          </a:prstGeom>
          <a:solidFill>
            <a:srgbClr val="63768A"/>
          </a:solidFill>
          <a:ln/>
        </p:spPr>
      </p:sp>
      <p:sp>
        <p:nvSpPr>
          <p:cNvPr id="14" name="Text 12"/>
          <p:cNvSpPr/>
          <p:nvPr/>
        </p:nvSpPr>
        <p:spPr>
          <a:xfrm>
            <a:off x="6720840" y="288036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Comunicação clara sobre limites e expectativas</a:t>
            </a:r>
            <a:endParaRPr lang="en-US" sz="1300" dirty="0"/>
          </a:p>
        </p:txBody>
      </p:sp>
      <p:sp>
        <p:nvSpPr>
          <p:cNvPr id="15" name="Shape 13"/>
          <p:cNvSpPr/>
          <p:nvPr/>
        </p:nvSpPr>
        <p:spPr>
          <a:xfrm>
            <a:off x="6400800" y="3456432"/>
            <a:ext cx="201168" cy="201168"/>
          </a:xfrm>
          <a:prstGeom prst="ellipse">
            <a:avLst/>
          </a:prstGeom>
          <a:solidFill>
            <a:srgbClr val="D99A73"/>
          </a:solidFill>
          <a:ln/>
        </p:spPr>
      </p:sp>
      <p:sp>
        <p:nvSpPr>
          <p:cNvPr id="16" name="Text 14"/>
          <p:cNvSpPr/>
          <p:nvPr/>
        </p:nvSpPr>
        <p:spPr>
          <a:xfrm>
            <a:off x="6720840" y="338328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Consistência: contato mantido ao longo do tempo</a:t>
            </a:r>
            <a:endParaRPr lang="en-US" sz="1300" dirty="0"/>
          </a:p>
        </p:txBody>
      </p:sp>
      <p:sp>
        <p:nvSpPr>
          <p:cNvPr id="17" name="Text 15"/>
          <p:cNvSpPr/>
          <p:nvPr/>
        </p:nvSpPr>
        <p:spPr>
          <a:xfrm>
            <a:off x="6400800" y="4160520"/>
            <a:ext cx="512064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Parcerias que funcionam raramente nascem de um pedido direto de indicação — nascem de relação genuína construída antes.</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Especialidades complementares evitam a sensação (real ou percebida) de disputa pelo mesmo paciente.</a:t>
            </a:r>
            <a:endParaRPr lang="en-US" sz="125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9" name="Text 1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Da primeira conversa à indicação de mão dupla</a:t>
            </a:r>
            <a:endParaRPr lang="en-US" sz="2800" dirty="0"/>
          </a:p>
        </p:txBody>
      </p:sp>
      <p:sp>
        <p:nvSpPr>
          <p:cNvPr id="4" name="Shape 2"/>
          <p:cNvSpPr/>
          <p:nvPr/>
        </p:nvSpPr>
        <p:spPr>
          <a:xfrm>
            <a:off x="822960"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5" name="Text 3"/>
          <p:cNvSpPr/>
          <p:nvPr/>
        </p:nvSpPr>
        <p:spPr>
          <a:xfrm>
            <a:off x="987552"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Mapear profissionais</a:t>
            </a:r>
            <a:endParaRPr lang="en-US" sz="1500" dirty="0"/>
          </a:p>
        </p:txBody>
      </p:sp>
      <p:sp>
        <p:nvSpPr>
          <p:cNvPr id="6" name="Text 4"/>
          <p:cNvSpPr/>
          <p:nvPr/>
        </p:nvSpPr>
        <p:spPr>
          <a:xfrm>
            <a:off x="987552"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Especialidades complementares na sua região ou rede</a:t>
            </a:r>
            <a:endParaRPr lang="en-US" sz="1100" dirty="0"/>
          </a:p>
        </p:txBody>
      </p:sp>
      <p:sp>
        <p:nvSpPr>
          <p:cNvPr id="7" name="Text 5"/>
          <p:cNvSpPr/>
          <p:nvPr/>
        </p:nvSpPr>
        <p:spPr>
          <a:xfrm>
            <a:off x="3081528"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84448"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9" name="Text 7"/>
          <p:cNvSpPr/>
          <p:nvPr/>
        </p:nvSpPr>
        <p:spPr>
          <a:xfrm>
            <a:off x="3749040"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Primeira aproximação</a:t>
            </a:r>
            <a:endParaRPr lang="en-US" sz="1500" dirty="0"/>
          </a:p>
        </p:txBody>
      </p:sp>
      <p:sp>
        <p:nvSpPr>
          <p:cNvPr id="10" name="Text 8"/>
          <p:cNvSpPr/>
          <p:nvPr/>
        </p:nvSpPr>
        <p:spPr>
          <a:xfrm>
            <a:off x="3749040"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Genuína, sem pedir indicação logo de cara</a:t>
            </a:r>
            <a:endParaRPr lang="en-US" sz="1100" dirty="0"/>
          </a:p>
        </p:txBody>
      </p:sp>
      <p:sp>
        <p:nvSpPr>
          <p:cNvPr id="11" name="Text 9"/>
          <p:cNvSpPr/>
          <p:nvPr/>
        </p:nvSpPr>
        <p:spPr>
          <a:xfrm>
            <a:off x="5843016"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345936"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13" name="Text 11"/>
          <p:cNvSpPr/>
          <p:nvPr/>
        </p:nvSpPr>
        <p:spPr>
          <a:xfrm>
            <a:off x="6510528"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Construir confiança</a:t>
            </a:r>
            <a:endParaRPr lang="en-US" sz="1500" dirty="0"/>
          </a:p>
        </p:txBody>
      </p:sp>
      <p:sp>
        <p:nvSpPr>
          <p:cNvPr id="14" name="Text 12"/>
          <p:cNvSpPr/>
          <p:nvPr/>
        </p:nvSpPr>
        <p:spPr>
          <a:xfrm>
            <a:off x="6510528"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Tempo e contato consistente, não um único encontro</a:t>
            </a:r>
            <a:endParaRPr lang="en-US" sz="1100" dirty="0"/>
          </a:p>
        </p:txBody>
      </p:sp>
      <p:sp>
        <p:nvSpPr>
          <p:cNvPr id="15" name="Text 13"/>
          <p:cNvSpPr/>
          <p:nvPr/>
        </p:nvSpPr>
        <p:spPr>
          <a:xfrm>
            <a:off x="8604504"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107424" y="1965960"/>
            <a:ext cx="2258568" cy="1920240"/>
          </a:xfrm>
          <a:prstGeom prst="roundRect">
            <a:avLst>
              <a:gd name="adj" fmla="val 3810"/>
            </a:avLst>
          </a:prstGeom>
          <a:solidFill>
            <a:srgbClr val="C1652F"/>
          </a:solidFill>
          <a:ln/>
          <a:effectLst>
            <a:outerShdw sx="100000" sy="100000" kx="0" ky="0" algn="bl" rotWithShape="0" blurRad="101600" dist="38100" dir="2700000">
              <a:srgbClr val="000000">
                <a:alpha val="12000"/>
              </a:srgbClr>
            </a:outerShdw>
          </a:effectLst>
        </p:spPr>
      </p:sp>
      <p:sp>
        <p:nvSpPr>
          <p:cNvPr id="17" name="Text 15"/>
          <p:cNvSpPr/>
          <p:nvPr/>
        </p:nvSpPr>
        <p:spPr>
          <a:xfrm>
            <a:off x="9272016"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Indicação natural</a:t>
            </a:r>
            <a:endParaRPr lang="en-US" sz="1500" dirty="0"/>
          </a:p>
        </p:txBody>
      </p:sp>
      <p:sp>
        <p:nvSpPr>
          <p:cNvPr id="18" name="Text 16"/>
          <p:cNvSpPr/>
          <p:nvPr/>
        </p:nvSpPr>
        <p:spPr>
          <a:xfrm>
            <a:off x="9272016"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Nos dois sentidos, sem precisar ser cobrada</a:t>
            </a:r>
            <a:endParaRPr lang="en-US" sz="1100" dirty="0"/>
          </a:p>
        </p:txBody>
      </p:sp>
      <p:sp>
        <p:nvSpPr>
          <p:cNvPr id="19" name="Text 17"/>
          <p:cNvSpPr/>
          <p:nvPr/>
        </p:nvSpPr>
        <p:spPr>
          <a:xfrm>
            <a:off x="822960" y="4480560"/>
            <a:ext cx="9875520" cy="822960"/>
          </a:xfrm>
          <a:prstGeom prst="rect">
            <a:avLst/>
          </a:prstGeom>
          <a:noFill/>
          <a:ln/>
        </p:spPr>
        <p:txBody>
          <a:bodyPr wrap="square" lIns="0" tIns="0" rIns="0" bIns="0" rtlCol="0" anchor="ctr"/>
          <a:lstStyle/>
          <a:p>
            <a:pPr indent="0" marL="0">
              <a:buNone/>
            </a:pPr>
            <a:r>
              <a:rPr lang="en-US" sz="1350" i="1" dirty="0">
                <a:solidFill>
                  <a:srgbClr val="6B6153"/>
                </a:solidFill>
                <a:latin typeface="Calibri" pitchFamily="34" charset="0"/>
                <a:ea typeface="Calibri" pitchFamily="34" charset="-122"/>
                <a:cs typeface="Calibri" pitchFamily="34" charset="-120"/>
              </a:rPr>
              <a:t>Pular direto pro último elo sem passar pelos anteriores é o motivo mais comum de uma tentativa de parceria não vingar.</a:t>
            </a:r>
            <a:endParaRPr lang="en-US" sz="13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tipos de parceiros profissionais</a:t>
            </a:r>
            <a:endParaRPr lang="en-US" sz="2800" dirty="0"/>
          </a:p>
        </p:txBody>
      </p:sp>
      <p:sp>
        <p:nvSpPr>
          <p:cNvPr id="4" name="Shape 2"/>
          <p:cNvSpPr/>
          <p:nvPr/>
        </p:nvSpPr>
        <p:spPr>
          <a:xfrm>
            <a:off x="2116836" y="1920240"/>
            <a:ext cx="822960" cy="822960"/>
          </a:xfrm>
          <a:prstGeom prst="ellipse">
            <a:avLst/>
          </a:prstGeom>
          <a:solidFill>
            <a:srgbClr val="12283D"/>
          </a:solidFill>
          <a:ln/>
        </p:spPr>
      </p:sp>
      <p:sp>
        <p:nvSpPr>
          <p:cNvPr id="5" name="Text 3"/>
          <p:cNvSpPr/>
          <p:nvPr/>
        </p:nvSpPr>
        <p:spPr>
          <a:xfrm>
            <a:off x="92811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Psiquiatras</a:t>
            </a:r>
            <a:endParaRPr lang="en-US" sz="2000" dirty="0"/>
          </a:p>
        </p:txBody>
      </p:sp>
      <p:sp>
        <p:nvSpPr>
          <p:cNvPr id="6" name="Text 4"/>
          <p:cNvSpPr/>
          <p:nvPr/>
        </p:nvSpPr>
        <p:spPr>
          <a:xfrm>
            <a:off x="111099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Conexão direta com o Bloco 3 — indicação em ambas as direções é comum e esperada</a:t>
            </a:r>
            <a:endParaRPr lang="en-US" sz="1300" dirty="0"/>
          </a:p>
        </p:txBody>
      </p:sp>
      <p:sp>
        <p:nvSpPr>
          <p:cNvPr id="7" name="Shape 5"/>
          <p:cNvSpPr/>
          <p:nvPr/>
        </p:nvSpPr>
        <p:spPr>
          <a:xfrm>
            <a:off x="5682996" y="1920240"/>
            <a:ext cx="822960" cy="822960"/>
          </a:xfrm>
          <a:prstGeom prst="ellipse">
            <a:avLst/>
          </a:prstGeom>
          <a:solidFill>
            <a:srgbClr val="C1652F"/>
          </a:solidFill>
          <a:ln/>
        </p:spPr>
      </p:sp>
      <p:sp>
        <p:nvSpPr>
          <p:cNvPr id="8" name="Text 6"/>
          <p:cNvSpPr/>
          <p:nvPr/>
        </p:nvSpPr>
        <p:spPr>
          <a:xfrm>
            <a:off x="449427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Outros terapeutas</a:t>
            </a:r>
            <a:endParaRPr lang="en-US" sz="2000" dirty="0"/>
          </a:p>
        </p:txBody>
      </p:sp>
      <p:sp>
        <p:nvSpPr>
          <p:cNvPr id="9" name="Text 7"/>
          <p:cNvSpPr/>
          <p:nvPr/>
        </p:nvSpPr>
        <p:spPr>
          <a:xfrm>
            <a:off x="467715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Especialidades complementares: casal, infantil, neuropsicologia, entre outras</a:t>
            </a:r>
            <a:endParaRPr lang="en-US" sz="1300" dirty="0"/>
          </a:p>
        </p:txBody>
      </p:sp>
      <p:sp>
        <p:nvSpPr>
          <p:cNvPr id="10" name="Shape 8"/>
          <p:cNvSpPr/>
          <p:nvPr/>
        </p:nvSpPr>
        <p:spPr>
          <a:xfrm>
            <a:off x="9249156" y="1920240"/>
            <a:ext cx="822960" cy="822960"/>
          </a:xfrm>
          <a:prstGeom prst="ellipse">
            <a:avLst/>
          </a:prstGeom>
          <a:solidFill>
            <a:srgbClr val="63768A"/>
          </a:solidFill>
          <a:ln/>
        </p:spPr>
      </p:sp>
      <p:sp>
        <p:nvSpPr>
          <p:cNvPr id="11" name="Text 9"/>
          <p:cNvSpPr/>
          <p:nvPr/>
        </p:nvSpPr>
        <p:spPr>
          <a:xfrm>
            <a:off x="806043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Médicos e saúde geral</a:t>
            </a:r>
            <a:endParaRPr lang="en-US" sz="2000" dirty="0"/>
          </a:p>
        </p:txBody>
      </p:sp>
      <p:sp>
        <p:nvSpPr>
          <p:cNvPr id="12" name="Text 10"/>
          <p:cNvSpPr/>
          <p:nvPr/>
        </p:nvSpPr>
        <p:spPr>
          <a:xfrm>
            <a:off x="824331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Clínico geral, ginecologista, endocrinologista — portas de entrada comuns</a:t>
            </a:r>
            <a:endParaRPr lang="en-US" sz="1300" dirty="0"/>
          </a:p>
        </p:txBody>
      </p:sp>
      <p:sp>
        <p:nvSpPr>
          <p:cNvPr id="13" name="Text 11"/>
          <p:cNvSpPr/>
          <p:nvPr/>
        </p:nvSpPr>
        <p:spPr>
          <a:xfrm>
            <a:off x="822960" y="5212080"/>
            <a:ext cx="9601200" cy="54864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Quanto mais complementar (e menos concorrente) a especialidade, mais natural tende a ser a indicação de mão dupla.</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Sinais de que a parceria não está saudável</a:t>
            </a:r>
            <a:endParaRPr lang="en-US" sz="2800" dirty="0"/>
          </a:p>
        </p:txBody>
      </p:sp>
      <p:sp>
        <p:nvSpPr>
          <p:cNvPr id="4" name="Shape 2"/>
          <p:cNvSpPr/>
          <p:nvPr/>
        </p:nvSpPr>
        <p:spPr>
          <a:xfrm>
            <a:off x="822960" y="1929384"/>
            <a:ext cx="201168" cy="201168"/>
          </a:xfrm>
          <a:prstGeom prst="ellipse">
            <a:avLst/>
          </a:prstGeom>
          <a:solidFill>
            <a:srgbClr val="C1652F"/>
          </a:solidFill>
          <a:ln/>
        </p:spPr>
      </p:sp>
      <p:sp>
        <p:nvSpPr>
          <p:cNvPr id="5" name="Text 3"/>
          <p:cNvSpPr/>
          <p:nvPr/>
        </p:nvSpPr>
        <p:spPr>
          <a:xfrm>
            <a:off x="1188720" y="187452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Indicação de mão única</a:t>
            </a:r>
            <a:endParaRPr lang="en-US" sz="1500" dirty="0"/>
          </a:p>
        </p:txBody>
      </p:sp>
      <p:sp>
        <p:nvSpPr>
          <p:cNvPr id="6" name="Text 4"/>
          <p:cNvSpPr/>
          <p:nvPr/>
        </p:nvSpPr>
        <p:spPr>
          <a:xfrm>
            <a:off x="3657600" y="187452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Você indica sempre, mas nunca recebe indicação de volta</a:t>
            </a:r>
            <a:endParaRPr lang="en-US" sz="1350" dirty="0"/>
          </a:p>
        </p:txBody>
      </p:sp>
      <p:sp>
        <p:nvSpPr>
          <p:cNvPr id="7" name="Shape 5"/>
          <p:cNvSpPr/>
          <p:nvPr/>
        </p:nvSpPr>
        <p:spPr>
          <a:xfrm>
            <a:off x="822960" y="2798064"/>
            <a:ext cx="201168" cy="201168"/>
          </a:xfrm>
          <a:prstGeom prst="ellipse">
            <a:avLst/>
          </a:prstGeom>
          <a:solidFill>
            <a:srgbClr val="C1652F"/>
          </a:solidFill>
          <a:ln/>
        </p:spPr>
      </p:sp>
      <p:sp>
        <p:nvSpPr>
          <p:cNvPr id="8" name="Text 6"/>
          <p:cNvSpPr/>
          <p:nvPr/>
        </p:nvSpPr>
        <p:spPr>
          <a:xfrm>
            <a:off x="1188720" y="274320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Contato só por interesse</a:t>
            </a:r>
            <a:endParaRPr lang="en-US" sz="1500" dirty="0"/>
          </a:p>
        </p:txBody>
      </p:sp>
      <p:sp>
        <p:nvSpPr>
          <p:cNvPr id="9" name="Text 7"/>
          <p:cNvSpPr/>
          <p:nvPr/>
        </p:nvSpPr>
        <p:spPr>
          <a:xfrm>
            <a:off x="3657600" y="274320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Comunicação genérica, sem conhecer de fato o trabalho do outro</a:t>
            </a:r>
            <a:endParaRPr lang="en-US" sz="1350" dirty="0"/>
          </a:p>
        </p:txBody>
      </p:sp>
      <p:sp>
        <p:nvSpPr>
          <p:cNvPr id="10" name="Shape 8"/>
          <p:cNvSpPr/>
          <p:nvPr/>
        </p:nvSpPr>
        <p:spPr>
          <a:xfrm>
            <a:off x="822960" y="3666744"/>
            <a:ext cx="201168" cy="201168"/>
          </a:xfrm>
          <a:prstGeom prst="ellipse">
            <a:avLst/>
          </a:prstGeom>
          <a:solidFill>
            <a:srgbClr val="C1652F"/>
          </a:solidFill>
          <a:ln/>
        </p:spPr>
      </p:sp>
      <p:sp>
        <p:nvSpPr>
          <p:cNvPr id="11" name="Text 9"/>
          <p:cNvSpPr/>
          <p:nvPr/>
        </p:nvSpPr>
        <p:spPr>
          <a:xfrm>
            <a:off x="1188720" y="361188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Silêncio prolongado</a:t>
            </a:r>
            <a:endParaRPr lang="en-US" sz="1500" dirty="0"/>
          </a:p>
        </p:txBody>
      </p:sp>
      <p:sp>
        <p:nvSpPr>
          <p:cNvPr id="12" name="Text 10"/>
          <p:cNvSpPr/>
          <p:nvPr/>
        </p:nvSpPr>
        <p:spPr>
          <a:xfrm>
            <a:off x="3657600" y="361188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Meses sem qualquer contato, mesmo esperando reciprocidade</a:t>
            </a:r>
            <a:endParaRPr lang="en-US" sz="1350" dirty="0"/>
          </a:p>
        </p:txBody>
      </p:sp>
      <p:sp>
        <p:nvSpPr>
          <p:cNvPr id="13" name="Shape 11"/>
          <p:cNvSpPr/>
          <p:nvPr/>
        </p:nvSpPr>
        <p:spPr>
          <a:xfrm>
            <a:off x="822960" y="4535424"/>
            <a:ext cx="201168" cy="201168"/>
          </a:xfrm>
          <a:prstGeom prst="ellipse">
            <a:avLst/>
          </a:prstGeom>
          <a:solidFill>
            <a:srgbClr val="C1652F"/>
          </a:solidFill>
          <a:ln/>
        </p:spPr>
      </p:sp>
      <p:sp>
        <p:nvSpPr>
          <p:cNvPr id="14" name="Text 12"/>
          <p:cNvSpPr/>
          <p:nvPr/>
        </p:nvSpPr>
        <p:spPr>
          <a:xfrm>
            <a:off x="1188720" y="448056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Comissão por indicação</a:t>
            </a:r>
            <a:endParaRPr lang="en-US" sz="1500" dirty="0"/>
          </a:p>
        </p:txBody>
      </p:sp>
      <p:sp>
        <p:nvSpPr>
          <p:cNvPr id="15" name="Text 13"/>
          <p:cNvSpPr/>
          <p:nvPr/>
        </p:nvSpPr>
        <p:spPr>
          <a:xfrm>
            <a:off x="3657600" y="448056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Oferta ou aceite de pagamento por paciente indicado — vedado eticamente</a:t>
            </a:r>
            <a:endParaRPr lang="en-US" sz="13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2 formas de abordar, lado a lado</a:t>
            </a:r>
            <a:endParaRPr lang="en-US" sz="2800" dirty="0"/>
          </a:p>
        </p:txBody>
      </p:sp>
      <p:sp>
        <p:nvSpPr>
          <p:cNvPr id="4" name="Shape 2"/>
          <p:cNvSpPr/>
          <p:nvPr/>
        </p:nvSpPr>
        <p:spPr>
          <a:xfrm>
            <a:off x="822960"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822960" y="1920240"/>
            <a:ext cx="3240024" cy="640080"/>
          </a:xfrm>
          <a:prstGeom prst="rect">
            <a:avLst/>
          </a:prstGeom>
          <a:solidFill>
            <a:srgbClr val="12283D"/>
          </a:solidFill>
          <a:ln/>
        </p:spPr>
      </p:sp>
      <p:sp>
        <p:nvSpPr>
          <p:cNvPr id="6" name="Text 4"/>
          <p:cNvSpPr/>
          <p:nvPr/>
        </p:nvSpPr>
        <p:spPr>
          <a:xfrm>
            <a:off x="822960"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Abordagem que afasta</a:t>
            </a:r>
            <a:endParaRPr lang="en-US" sz="1500" dirty="0"/>
          </a:p>
        </p:txBody>
      </p:sp>
      <p:sp>
        <p:nvSpPr>
          <p:cNvPr id="7" name="Text 5"/>
          <p:cNvSpPr/>
          <p:nvPr/>
        </p:nvSpPr>
        <p:spPr>
          <a:xfrm>
            <a:off x="1051560"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"Oi, tudo bem? Podemos trocar indicação de pacientes?" — direto demais, sem relação prévia</a:t>
            </a:r>
            <a:endParaRPr lang="en-US" sz="1250" dirty="0"/>
          </a:p>
        </p:txBody>
      </p:sp>
      <p:sp>
        <p:nvSpPr>
          <p:cNvPr id="8" name="Shape 6"/>
          <p:cNvSpPr/>
          <p:nvPr/>
        </p:nvSpPr>
        <p:spPr>
          <a:xfrm>
            <a:off x="4474464"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Shape 7"/>
          <p:cNvSpPr/>
          <p:nvPr/>
        </p:nvSpPr>
        <p:spPr>
          <a:xfrm>
            <a:off x="4474464" y="1920240"/>
            <a:ext cx="3240024" cy="640080"/>
          </a:xfrm>
          <a:prstGeom prst="rect">
            <a:avLst/>
          </a:prstGeom>
          <a:solidFill>
            <a:srgbClr val="12283D"/>
          </a:solidFill>
          <a:ln/>
        </p:spPr>
      </p:sp>
      <p:sp>
        <p:nvSpPr>
          <p:cNvPr id="10" name="Text 8"/>
          <p:cNvSpPr/>
          <p:nvPr/>
        </p:nvSpPr>
        <p:spPr>
          <a:xfrm>
            <a:off x="4474464"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Abordagem que aproxima</a:t>
            </a:r>
            <a:endParaRPr lang="en-US" sz="1500" dirty="0"/>
          </a:p>
        </p:txBody>
      </p:sp>
      <p:sp>
        <p:nvSpPr>
          <p:cNvPr id="11" name="Text 9"/>
          <p:cNvSpPr/>
          <p:nvPr/>
        </p:nvSpPr>
        <p:spPr>
          <a:xfrm>
            <a:off x="4703064"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"Vi seu trabalho com X, achei muito interessante — como você tem abordado isso?"</a:t>
            </a:r>
            <a:endParaRPr lang="en-US" sz="1250" dirty="0"/>
          </a:p>
        </p:txBody>
      </p:sp>
      <p:sp>
        <p:nvSpPr>
          <p:cNvPr id="12" name="Shape 10"/>
          <p:cNvSpPr/>
          <p:nvPr/>
        </p:nvSpPr>
        <p:spPr>
          <a:xfrm>
            <a:off x="8125968"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8125968" y="1920240"/>
            <a:ext cx="3240024" cy="640080"/>
          </a:xfrm>
          <a:prstGeom prst="rect">
            <a:avLst/>
          </a:prstGeom>
          <a:solidFill>
            <a:srgbClr val="12283D"/>
          </a:solidFill>
          <a:ln/>
        </p:spPr>
      </p:sp>
      <p:sp>
        <p:nvSpPr>
          <p:cNvPr id="14" name="Text 12"/>
          <p:cNvSpPr/>
          <p:nvPr/>
        </p:nvSpPr>
        <p:spPr>
          <a:xfrm>
            <a:off x="8125968"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O que muda</a:t>
            </a:r>
            <a:endParaRPr lang="en-US" sz="1500" dirty="0"/>
          </a:p>
        </p:txBody>
      </p:sp>
      <p:sp>
        <p:nvSpPr>
          <p:cNvPr id="15" name="Text 13"/>
          <p:cNvSpPr/>
          <p:nvPr/>
        </p:nvSpPr>
        <p:spPr>
          <a:xfrm>
            <a:off x="8354568"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A segunda constrói relação primeiro; a indicação vem depois, como consequência natural</a:t>
            </a:r>
            <a:endParaRPr lang="en-US" sz="12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3 · INSTRUMENTO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formas de manter a parceria viva</a:t>
            </a:r>
            <a:endParaRPr lang="en-US" sz="2800" dirty="0"/>
          </a:p>
        </p:txBody>
      </p:sp>
      <p:sp>
        <p:nvSpPr>
          <p:cNvPr id="4" name="Shape 2"/>
          <p:cNvSpPr/>
          <p:nvPr/>
        </p:nvSpPr>
        <p:spPr>
          <a:xfrm>
            <a:off x="822960"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51560"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Encontro</a:t>
            </a:r>
            <a:endParaRPr lang="en-US" sz="2200" dirty="0"/>
          </a:p>
        </p:txBody>
      </p:sp>
      <p:sp>
        <p:nvSpPr>
          <p:cNvPr id="6" name="Text 4"/>
          <p:cNvSpPr/>
          <p:nvPr/>
        </p:nvSpPr>
        <p:spPr>
          <a:xfrm>
            <a:off x="1051560"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Café, call ou conversa periódica, sem pauta fixa</a:t>
            </a:r>
            <a:endParaRPr lang="en-US" sz="1100" dirty="0"/>
          </a:p>
        </p:txBody>
      </p:sp>
      <p:sp>
        <p:nvSpPr>
          <p:cNvPr id="7" name="Text 5"/>
          <p:cNvSpPr/>
          <p:nvPr/>
        </p:nvSpPr>
        <p:spPr>
          <a:xfrm>
            <a:off x="1051560"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Mantém a relação humana, não só profissional.</a:t>
            </a:r>
            <a:endParaRPr lang="en-US" sz="1200" dirty="0"/>
          </a:p>
        </p:txBody>
      </p:sp>
      <p:sp>
        <p:nvSpPr>
          <p:cNvPr id="8" name="Shape 6"/>
          <p:cNvSpPr/>
          <p:nvPr/>
        </p:nvSpPr>
        <p:spPr>
          <a:xfrm>
            <a:off x="4474464"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4703064"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Atualização</a:t>
            </a:r>
            <a:endParaRPr lang="en-US" sz="2200" dirty="0"/>
          </a:p>
        </p:txBody>
      </p:sp>
      <p:sp>
        <p:nvSpPr>
          <p:cNvPr id="10" name="Text 8"/>
          <p:cNvSpPr/>
          <p:nvPr/>
        </p:nvSpPr>
        <p:spPr>
          <a:xfrm>
            <a:off x="4703064"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Compartilhar o que você tem estudado ou mudado na prática</a:t>
            </a:r>
            <a:endParaRPr lang="en-US" sz="1100" dirty="0"/>
          </a:p>
        </p:txBody>
      </p:sp>
      <p:sp>
        <p:nvSpPr>
          <p:cNvPr id="11" name="Text 9"/>
          <p:cNvSpPr/>
          <p:nvPr/>
        </p:nvSpPr>
        <p:spPr>
          <a:xfrm>
            <a:off x="4703064"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Mostra que a relação segue viva e relevante.</a:t>
            </a:r>
            <a:endParaRPr lang="en-US" sz="1200" dirty="0"/>
          </a:p>
        </p:txBody>
      </p:sp>
      <p:sp>
        <p:nvSpPr>
          <p:cNvPr id="12" name="Shape 10"/>
          <p:cNvSpPr/>
          <p:nvPr/>
        </p:nvSpPr>
        <p:spPr>
          <a:xfrm>
            <a:off x="8125968"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8354568"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Retorno cuidadoso</a:t>
            </a:r>
            <a:endParaRPr lang="en-US" sz="2200" dirty="0"/>
          </a:p>
        </p:txBody>
      </p:sp>
      <p:sp>
        <p:nvSpPr>
          <p:cNvPr id="14" name="Text 12"/>
          <p:cNvSpPr/>
          <p:nvPr/>
        </p:nvSpPr>
        <p:spPr>
          <a:xfrm>
            <a:off x="8354568"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Feedback geral sobre encaminhamentos, respeitando sigilo</a:t>
            </a:r>
            <a:endParaRPr lang="en-US" sz="1100" dirty="0"/>
          </a:p>
        </p:txBody>
      </p:sp>
      <p:sp>
        <p:nvSpPr>
          <p:cNvPr id="15" name="Text 13"/>
          <p:cNvSpPr/>
          <p:nvPr/>
        </p:nvSpPr>
        <p:spPr>
          <a:xfrm>
            <a:off x="8354568"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Sem detalhar caso — apenas confirmar que o encaminhamento fez sentido.</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Construindo parcerias: 4 passos</a:t>
            </a:r>
            <a:endParaRPr lang="en-US" sz="2800" dirty="0"/>
          </a:p>
        </p:txBody>
      </p:sp>
      <p:sp>
        <p:nvSpPr>
          <p:cNvPr id="4" name="Shape 2"/>
          <p:cNvSpPr/>
          <p:nvPr/>
        </p:nvSpPr>
        <p:spPr>
          <a:xfrm>
            <a:off x="1723644" y="2286000"/>
            <a:ext cx="731520" cy="731520"/>
          </a:xfrm>
          <a:prstGeom prst="ellipse">
            <a:avLst/>
          </a:prstGeom>
          <a:solidFill>
            <a:srgbClr val="C1652F"/>
          </a:solidFill>
          <a:ln/>
        </p:spPr>
      </p:sp>
      <p:sp>
        <p:nvSpPr>
          <p:cNvPr id="5" name="Text 3"/>
          <p:cNvSpPr/>
          <p:nvPr/>
        </p:nvSpPr>
        <p:spPr>
          <a:xfrm>
            <a:off x="1723644"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914400"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Mapear</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profissionais complementares</a:t>
            </a:r>
            <a:endParaRPr lang="en-US" sz="1400" dirty="0"/>
          </a:p>
        </p:txBody>
      </p:sp>
      <p:sp>
        <p:nvSpPr>
          <p:cNvPr id="7" name="Text 5"/>
          <p:cNvSpPr/>
          <p:nvPr/>
        </p:nvSpPr>
        <p:spPr>
          <a:xfrm>
            <a:off x="1051560"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Na sua região ou na sua rede de contatos já existente</a:t>
            </a:r>
            <a:endParaRPr lang="en-US" sz="1100" dirty="0"/>
          </a:p>
        </p:txBody>
      </p:sp>
      <p:sp>
        <p:nvSpPr>
          <p:cNvPr id="8" name="Text 6"/>
          <p:cNvSpPr/>
          <p:nvPr/>
        </p:nvSpPr>
        <p:spPr>
          <a:xfrm>
            <a:off x="3264408"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393692" y="2286000"/>
            <a:ext cx="731520" cy="731520"/>
          </a:xfrm>
          <a:prstGeom prst="ellipse">
            <a:avLst/>
          </a:prstGeom>
          <a:solidFill>
            <a:srgbClr val="C1652F"/>
          </a:solidFill>
          <a:ln/>
        </p:spPr>
      </p:sp>
      <p:sp>
        <p:nvSpPr>
          <p:cNvPr id="10" name="Text 8"/>
          <p:cNvSpPr/>
          <p:nvPr/>
        </p:nvSpPr>
        <p:spPr>
          <a:xfrm>
            <a:off x="4393692"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584448"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Fazer a</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primeira aproximação</a:t>
            </a:r>
            <a:endParaRPr lang="en-US" sz="1400" dirty="0"/>
          </a:p>
        </p:txBody>
      </p:sp>
      <p:sp>
        <p:nvSpPr>
          <p:cNvPr id="12" name="Text 10"/>
          <p:cNvSpPr/>
          <p:nvPr/>
        </p:nvSpPr>
        <p:spPr>
          <a:xfrm>
            <a:off x="3721608"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Genuína, baseada em interesse real pelo trabalho do outro</a:t>
            </a:r>
            <a:endParaRPr lang="en-US" sz="1100" dirty="0"/>
          </a:p>
        </p:txBody>
      </p:sp>
      <p:sp>
        <p:nvSpPr>
          <p:cNvPr id="13" name="Text 11"/>
          <p:cNvSpPr/>
          <p:nvPr/>
        </p:nvSpPr>
        <p:spPr>
          <a:xfrm>
            <a:off x="5934456"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063740" y="2286000"/>
            <a:ext cx="731520" cy="731520"/>
          </a:xfrm>
          <a:prstGeom prst="ellipse">
            <a:avLst/>
          </a:prstGeom>
          <a:solidFill>
            <a:srgbClr val="C1652F"/>
          </a:solidFill>
          <a:ln/>
        </p:spPr>
      </p:sp>
      <p:sp>
        <p:nvSpPr>
          <p:cNvPr id="15" name="Text 13"/>
          <p:cNvSpPr/>
          <p:nvPr/>
        </p:nvSpPr>
        <p:spPr>
          <a:xfrm>
            <a:off x="706374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6254496"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Manter contato</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periódico</a:t>
            </a:r>
            <a:endParaRPr lang="en-US" sz="1400" dirty="0"/>
          </a:p>
        </p:txBody>
      </p:sp>
      <p:sp>
        <p:nvSpPr>
          <p:cNvPr id="17" name="Text 15"/>
          <p:cNvSpPr/>
          <p:nvPr/>
        </p:nvSpPr>
        <p:spPr>
          <a:xfrm>
            <a:off x="6391656"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Sem grande esforço — pequenas interações consistentes</a:t>
            </a:r>
            <a:endParaRPr lang="en-US" sz="1100" dirty="0"/>
          </a:p>
        </p:txBody>
      </p:sp>
      <p:sp>
        <p:nvSpPr>
          <p:cNvPr id="18" name="Text 16"/>
          <p:cNvSpPr/>
          <p:nvPr/>
        </p:nvSpPr>
        <p:spPr>
          <a:xfrm>
            <a:off x="8604504"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733788" y="2286000"/>
            <a:ext cx="731520" cy="731520"/>
          </a:xfrm>
          <a:prstGeom prst="ellipse">
            <a:avLst/>
          </a:prstGeom>
          <a:solidFill>
            <a:srgbClr val="C1652F"/>
          </a:solidFill>
          <a:ln/>
        </p:spPr>
      </p:sp>
      <p:sp>
        <p:nvSpPr>
          <p:cNvPr id="20" name="Text 18"/>
          <p:cNvSpPr/>
          <p:nvPr/>
        </p:nvSpPr>
        <p:spPr>
          <a:xfrm>
            <a:off x="9733788"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8924544"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Indicar</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primeiro</a:t>
            </a:r>
            <a:endParaRPr lang="en-US" sz="1400" dirty="0"/>
          </a:p>
        </p:txBody>
      </p:sp>
      <p:sp>
        <p:nvSpPr>
          <p:cNvPr id="22" name="Text 20"/>
          <p:cNvSpPr/>
          <p:nvPr/>
        </p:nvSpPr>
        <p:spPr>
          <a:xfrm>
            <a:off x="9061704"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Sem esperar reciprocidade imediata como condição</a:t>
            </a:r>
            <a:endParaRPr lang="en-US" sz="1100" dirty="0"/>
          </a:p>
        </p:txBody>
      </p:sp>
      <p:sp>
        <p:nvSpPr>
          <p:cNvPr id="23" name="Text 21"/>
          <p:cNvSpPr/>
          <p:nvPr/>
        </p:nvSpPr>
        <p:spPr>
          <a:xfrm>
            <a:off x="822960" y="5349240"/>
            <a:ext cx="9601200" cy="45720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O passo mais contraintuitivo costuma ser o último — mas é ele que diferencia parceria genuína de troca calculada.</a:t>
            </a:r>
            <a:endParaRPr lang="en-US" sz="13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1 e 2,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Mapear profissionais complementares</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Liste psiquiatras, terapeutas de outras abordagens e médicos que já conhece, mesmo que pouco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Priorize quem atua perto da sua região ou já compartilha algum contato em comum</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Primeira aproximação genuína</a:t>
            </a:r>
            <a:endParaRPr lang="en-US" sz="1600" dirty="0"/>
          </a:p>
        </p:txBody>
      </p:sp>
      <p:sp>
        <p:nvSpPr>
          <p:cNvPr id="13" name="Text 11"/>
          <p:cNvSpPr/>
          <p:nvPr/>
        </p:nvSpPr>
        <p:spPr>
          <a:xfrm>
            <a:off x="6492240" y="2697480"/>
            <a:ext cx="4663440" cy="1188720"/>
          </a:xfrm>
          <a:prstGeom prst="rect">
            <a:avLst/>
          </a:prstGeom>
          <a:noFill/>
          <a:ln/>
        </p:spPr>
        <p:txBody>
          <a:bodyPr wrap="square" lIns="0" tIns="0" rIns="0" bIns="0" rtlCol="0" anchor="ctr"/>
          <a:lstStyle/>
          <a:p>
            <a:pPr indent="0" marL="0">
              <a:buNone/>
            </a:pPr>
            <a:r>
              <a:rPr lang="en-US" sz="1300" i="1" dirty="0">
                <a:solidFill>
                  <a:srgbClr val="6B6153"/>
                </a:solidFill>
                <a:latin typeface="Calibri" pitchFamily="34" charset="0"/>
                <a:ea typeface="Calibri" pitchFamily="34" charset="-122"/>
                <a:cs typeface="Calibri" pitchFamily="34" charset="-120"/>
              </a:rPr>
              <a:t>“Vi seu trabalho com [tema], achei muito interessante — como você tem abordado isso na prática?”</a:t>
            </a:r>
            <a:endParaRPr lang="en-US" sz="1300" dirty="0"/>
          </a:p>
        </p:txBody>
      </p:sp>
      <p:sp>
        <p:nvSpPr>
          <p:cNvPr id="14" name="Text 12"/>
          <p:cNvSpPr/>
          <p:nvPr/>
        </p:nvSpPr>
        <p:spPr>
          <a:xfrm>
            <a:off x="6492240" y="40233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Comece pelo interesse genuíno no trabalho do outro, não pelo pedido de indicação</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3 e 4,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Manter contato periódico</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Um café a cada poucos meses, ou uma mensagem pontual, já sustenta a relação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Não precisa de agenda fixa — precisa de consistência ao longo do tempo</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Indicar primeiro</a:t>
            </a:r>
            <a:endParaRPr lang="en-US" sz="1600" dirty="0"/>
          </a:p>
        </p:txBody>
      </p:sp>
      <p:sp>
        <p:nvSpPr>
          <p:cNvPr id="13" name="Text 11"/>
          <p:cNvSpPr/>
          <p:nvPr/>
        </p:nvSpPr>
        <p:spPr>
          <a:xfrm>
            <a:off x="649224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Encaminhe um paciente quando fizer sentido, sem esperar retorno imediato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 reciprocidade tende a vir com o tempo, quando a relação é genuína</a:t>
            </a:r>
            <a:endParaRPr lang="en-US" sz="125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APLICAÇÃO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Estudo de caso</a:t>
            </a:r>
            <a:endParaRPr lang="en-US" sz="2800" dirty="0"/>
          </a:p>
        </p:txBody>
      </p:sp>
      <p:sp>
        <p:nvSpPr>
          <p:cNvPr id="4" name="Shape 2"/>
          <p:cNvSpPr/>
          <p:nvPr/>
        </p:nvSpPr>
        <p:spPr>
          <a:xfrm>
            <a:off x="822960" y="1783080"/>
            <a:ext cx="10515600" cy="18288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97280" y="1965960"/>
            <a:ext cx="9966960" cy="1463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Uma psicóloga quer construir uma parceria de indicação com um psiquiatra da região, mas nunca conversou com ele antes. Ela pensa em mandar uma mensagem perguntando diretamente se ele topa trocar indicações de pacientes.</a:t>
            </a:r>
            <a:endParaRPr lang="en-US" sz="1500" dirty="0"/>
          </a:p>
        </p:txBody>
      </p:sp>
      <p:sp>
        <p:nvSpPr>
          <p:cNvPr id="6" name="Text 4"/>
          <p:cNvSpPr/>
          <p:nvPr/>
        </p:nvSpPr>
        <p:spPr>
          <a:xfrm>
            <a:off x="822960" y="3886200"/>
            <a:ext cx="5486400" cy="36576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Discussão guiada</a:t>
            </a:r>
            <a:endParaRPr lang="en-US" sz="1600" dirty="0"/>
          </a:p>
        </p:txBody>
      </p:sp>
      <p:sp>
        <p:nvSpPr>
          <p:cNvPr id="7" name="Text 5"/>
          <p:cNvSpPr/>
          <p:nvPr/>
        </p:nvSpPr>
        <p:spPr>
          <a:xfrm>
            <a:off x="822960" y="4297680"/>
            <a:ext cx="10058400" cy="16459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Por que essa abordagem direta tende a afastar, em vez de aproximar?</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Como ela poderia aplicar o passo 2 do protocolo nesse caso específico?</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Que tipo de primeiro contato teria mais chance de gerar uma parceria genuína?</a:t>
            </a:r>
            <a:endParaRPr lang="en-US" sz="1400" dirty="0"/>
          </a:p>
        </p:txBody>
      </p:sp>
      <p:sp>
        <p:nvSpPr>
          <p:cNvPr id="8"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5 · ENCAMINHAMENTO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Quando a parceria exige mais cuidado</a:t>
            </a:r>
            <a:endParaRPr lang="en-US" sz="2800" dirty="0"/>
          </a:p>
        </p:txBody>
      </p:sp>
      <p:sp>
        <p:nvSpPr>
          <p:cNvPr id="4" name="Shape 2"/>
          <p:cNvSpPr/>
          <p:nvPr/>
        </p:nvSpPr>
        <p:spPr>
          <a:xfrm>
            <a:off x="822960" y="196596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212848"/>
            <a:ext cx="274320" cy="274320"/>
          </a:xfrm>
          <a:prstGeom prst="ellipse">
            <a:avLst/>
          </a:prstGeom>
          <a:solidFill>
            <a:srgbClr val="C1652F"/>
          </a:solidFill>
          <a:ln/>
        </p:spPr>
      </p:sp>
      <p:sp>
        <p:nvSpPr>
          <p:cNvPr id="6" name="Text 4"/>
          <p:cNvSpPr/>
          <p:nvPr/>
        </p:nvSpPr>
        <p:spPr>
          <a:xfrm>
            <a:off x="1508760" y="196596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Oferta de comissão financeira por indicação de pacientes: recusar — a prática fere o código de ética profissional</a:t>
            </a:r>
            <a:endParaRPr lang="en-US" sz="1300" dirty="0"/>
          </a:p>
        </p:txBody>
      </p:sp>
      <p:sp>
        <p:nvSpPr>
          <p:cNvPr id="7" name="Shape 5"/>
          <p:cNvSpPr/>
          <p:nvPr/>
        </p:nvSpPr>
        <p:spPr>
          <a:xfrm>
            <a:off x="822960" y="292608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1051560" y="3172968"/>
            <a:ext cx="274320" cy="274320"/>
          </a:xfrm>
          <a:prstGeom prst="ellipse">
            <a:avLst/>
          </a:prstGeom>
          <a:solidFill>
            <a:srgbClr val="C1652F"/>
          </a:solidFill>
          <a:ln/>
        </p:spPr>
      </p:sp>
      <p:sp>
        <p:nvSpPr>
          <p:cNvPr id="9" name="Text 7"/>
          <p:cNvSpPr/>
          <p:nvPr/>
        </p:nvSpPr>
        <p:spPr>
          <a:xfrm>
            <a:off x="1508760" y="292608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Excesso de encaminhamentos de um único parceiro: avaliar se sua capacidade de atendimento comporta o volume</a:t>
            </a:r>
            <a:endParaRPr lang="en-US" sz="1300" dirty="0"/>
          </a:p>
        </p:txBody>
      </p:sp>
      <p:sp>
        <p:nvSpPr>
          <p:cNvPr id="10" name="Shape 8"/>
          <p:cNvSpPr/>
          <p:nvPr/>
        </p:nvSpPr>
        <p:spPr>
          <a:xfrm>
            <a:off x="822960" y="388620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1051560" y="4133088"/>
            <a:ext cx="274320" cy="274320"/>
          </a:xfrm>
          <a:prstGeom prst="ellipse">
            <a:avLst/>
          </a:prstGeom>
          <a:solidFill>
            <a:srgbClr val="C1652F"/>
          </a:solidFill>
          <a:ln/>
        </p:spPr>
      </p:sp>
      <p:sp>
        <p:nvSpPr>
          <p:cNvPr id="12" name="Text 10"/>
          <p:cNvSpPr/>
          <p:nvPr/>
        </p:nvSpPr>
        <p:spPr>
          <a:xfrm>
            <a:off x="1508760" y="388620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Divergência de abordagem clínica com o colega: alinhar expectativas antes de continuar indicando pacientes</a:t>
            </a:r>
            <a:endParaRPr lang="en-US" sz="1300" dirty="0"/>
          </a:p>
        </p:txBody>
      </p:sp>
      <p:sp>
        <p:nvSpPr>
          <p:cNvPr id="13" name="Shape 11"/>
          <p:cNvSpPr/>
          <p:nvPr/>
        </p:nvSpPr>
        <p:spPr>
          <a:xfrm>
            <a:off x="822960" y="484632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1051560" y="5093208"/>
            <a:ext cx="274320" cy="274320"/>
          </a:xfrm>
          <a:prstGeom prst="ellipse">
            <a:avLst/>
          </a:prstGeom>
          <a:solidFill>
            <a:srgbClr val="C1652F"/>
          </a:solidFill>
          <a:ln/>
        </p:spPr>
      </p:sp>
      <p:sp>
        <p:nvSpPr>
          <p:cNvPr id="15" name="Text 13"/>
          <p:cNvSpPr/>
          <p:nvPr/>
        </p:nvSpPr>
        <p:spPr>
          <a:xfrm>
            <a:off x="1508760" y="484632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Dúvida sobre limites de compartilhamento de informação: nunca detalhar caso clínico, mesmo entre parceiros de confiança</a:t>
            </a:r>
            <a:endParaRPr lang="en-US" sz="13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Indicação e Parcerias — Módulo 4.3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RECAPITULANDO</a:t>
            </a:r>
            <a:endParaRPr lang="en-US" sz="1100" dirty="0"/>
          </a:p>
        </p:txBody>
      </p:sp>
      <p:sp>
        <p:nvSpPr>
          <p:cNvPr id="3" name="Text 1"/>
          <p:cNvSpPr/>
          <p:nvPr/>
        </p:nvSpPr>
        <p:spPr>
          <a:xfrm>
            <a:off x="777240" y="118872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 que leva desta aula</a:t>
            </a:r>
            <a:endParaRPr lang="en-US" sz="3200" dirty="0"/>
          </a:p>
        </p:txBody>
      </p:sp>
      <p:sp>
        <p:nvSpPr>
          <p:cNvPr id="4" name="Text 2"/>
          <p:cNvSpPr/>
          <p:nvPr/>
        </p:nvSpPr>
        <p:spPr>
          <a:xfrm>
            <a:off x="822960" y="2194560"/>
            <a:ext cx="8869680" cy="23774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Indicação de colega resolve, de forma natural, a pergunta mais difícil de qualquer marketing: "posso confiar?"</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Reciprocidade genuína, especialidades complementares, comunicação clara e consistência sustentam uma boa parceria</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A abordagem que aproxima começa pelo interesse genuíno no trabalho do outro, não pelo pedido direto de indicação</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Comissão financeira por indicação de pacientes é vedada eticamente — a parceria certa nunca depende disso</a:t>
            </a:r>
            <a:endParaRPr lang="en-US" sz="1700" dirty="0"/>
          </a:p>
        </p:txBody>
      </p:sp>
      <p:sp>
        <p:nvSpPr>
          <p:cNvPr id="5" name="Shape 3"/>
          <p:cNvSpPr/>
          <p:nvPr/>
        </p:nvSpPr>
        <p:spPr>
          <a:xfrm>
            <a:off x="822960" y="4846320"/>
            <a:ext cx="8686800" cy="1051560"/>
          </a:xfrm>
          <a:prstGeom prst="roundRect">
            <a:avLst>
              <a:gd name="adj" fmla="val 6957"/>
            </a:avLst>
          </a:prstGeom>
          <a:solidFill>
            <a:srgbClr val="1A3350"/>
          </a:solidFill>
          <a:ln/>
        </p:spPr>
      </p:sp>
      <p:sp>
        <p:nvSpPr>
          <p:cNvPr id="6" name="Text 4"/>
          <p:cNvSpPr/>
          <p:nvPr/>
        </p:nvSpPr>
        <p:spPr>
          <a:xfrm>
            <a:off x="1097280" y="4846320"/>
            <a:ext cx="8229600" cy="1051560"/>
          </a:xfrm>
          <a:prstGeom prst="rect">
            <a:avLst/>
          </a:prstGeom>
          <a:noFill/>
          <a:ln/>
        </p:spPr>
        <p:txBody>
          <a:bodyPr wrap="square" lIns="0" tIns="0" rIns="0" bIns="0" rtlCol="0" anchor="ctr"/>
          <a:lstStyle/>
          <a:p>
            <a:pPr indent="0" marL="0">
              <a:buNone/>
            </a:pPr>
            <a:r>
              <a:rPr lang="en-US" sz="1500" b="1" dirty="0">
                <a:solidFill>
                  <a:srgbClr val="D99A73"/>
                </a:solidFill>
                <a:latin typeface="Calibri" pitchFamily="34" charset="0"/>
                <a:ea typeface="Calibri" pitchFamily="34" charset="-122"/>
                <a:cs typeface="Calibri" pitchFamily="34" charset="-120"/>
              </a:rPr>
              <a:t>Próximo: exercícios práticos e avaliação do Módulo 4.3 →</a:t>
            </a:r>
            <a:endParaRPr lang="en-US" sz="1500" dirty="0"/>
          </a:p>
        </p:txBody>
      </p:sp>
      <p:sp>
        <p:nvSpPr>
          <p:cNvPr id="7"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8FA0B3"/>
                </a:solidFill>
                <a:latin typeface="Calibri" pitchFamily="34" charset="0"/>
                <a:ea typeface="Calibri" pitchFamily="34" charset="-122"/>
                <a:cs typeface="Calibri" pitchFamily="34" charset="-120"/>
              </a:rPr>
              <a:t>Indicação e Parcerias — Módulo 4.3</a:t>
            </a:r>
            <a:endParaRPr lang="en-US" sz="900" dirty="0"/>
          </a:p>
        </p:txBody>
      </p:sp>
      <p:sp>
        <p:nvSpPr>
          <p:cNvPr id="8"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8FA0B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Indicação e Parcerias — Indicação de Mão Dupla</dc:title>
  <dc:subject>PptxGenJS Presentation</dc:subject>
  <dc:creator>Dioclides</dc:creator>
  <cp:lastModifiedBy>Dioclides</cp:lastModifiedBy>
  <cp:revision>1</cp:revision>
  <dcterms:created xsi:type="dcterms:W3CDTF">2026-07-10T18:56:57Z</dcterms:created>
  <dcterms:modified xsi:type="dcterms:W3CDTF">2026-07-10T18:56:57Z</dcterms:modified>
</cp:coreProperties>
</file>