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137160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MÓDULO 4.2 · BLOCO 4 · AQUISIÇÃO DE PACIENTES</a:t>
            </a:r>
            <a:endParaRPr lang="en-US" sz="1100" dirty="0"/>
          </a:p>
        </p:txBody>
      </p:sp>
      <p:sp>
        <p:nvSpPr>
          <p:cNvPr id="3" name="Text 1"/>
          <p:cNvSpPr/>
          <p:nvPr/>
        </p:nvSpPr>
        <p:spPr>
          <a:xfrm>
            <a:off x="777240" y="1737360"/>
            <a:ext cx="10058400" cy="128016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Encontrado no Google</a:t>
            </a:r>
            <a:endParaRPr lang="en-US" sz="5600" dirty="0"/>
          </a:p>
        </p:txBody>
      </p:sp>
      <p:sp>
        <p:nvSpPr>
          <p:cNvPr id="4" name="Text 2"/>
          <p:cNvSpPr/>
          <p:nvPr/>
        </p:nvSpPr>
        <p:spPr>
          <a:xfrm>
            <a:off x="822960" y="2880360"/>
            <a:ext cx="9601200" cy="640080"/>
          </a:xfrm>
          <a:prstGeom prst="rect">
            <a:avLst/>
          </a:prstGeom>
          <a:noFill/>
          <a:ln/>
        </p:spPr>
        <p:txBody>
          <a:bodyPr wrap="square" lIns="0" tIns="0" rIns="0" bIns="0" rtlCol="0" anchor="ctr"/>
          <a:lstStyle/>
          <a:p>
            <a:pPr indent="0" marL="0">
              <a:buNone/>
            </a:pPr>
            <a:r>
              <a:rPr lang="en-US" sz="2100" dirty="0">
                <a:solidFill>
                  <a:srgbClr val="CBD8E5"/>
                </a:solidFill>
                <a:latin typeface="Calibri" pitchFamily="34" charset="0"/>
                <a:ea typeface="Calibri" pitchFamily="34" charset="-122"/>
                <a:cs typeface="Calibri" pitchFamily="34" charset="-120"/>
              </a:rPr>
              <a:t>O canal mais subestimado pra quem atende presencialmente numa região específica</a:t>
            </a:r>
            <a:endParaRPr lang="en-US" sz="2100" dirty="0"/>
          </a:p>
        </p:txBody>
      </p:sp>
      <p:sp>
        <p:nvSpPr>
          <p:cNvPr id="5" name="Shape 3"/>
          <p:cNvSpPr/>
          <p:nvPr/>
        </p:nvSpPr>
        <p:spPr>
          <a:xfrm>
            <a:off x="822960" y="4160520"/>
            <a:ext cx="384048" cy="384048"/>
          </a:xfrm>
          <a:prstGeom prst="ellipse">
            <a:avLst/>
          </a:prstGeom>
          <a:solidFill>
            <a:srgbClr val="C1652F"/>
          </a:solidFill>
          <a:ln/>
        </p:spPr>
      </p:sp>
      <p:sp>
        <p:nvSpPr>
          <p:cNvPr id="6" name="Text 4"/>
          <p:cNvSpPr/>
          <p:nvPr/>
        </p:nvSpPr>
        <p:spPr>
          <a:xfrm>
            <a:off x="82296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50292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Por quê</a:t>
            </a:r>
            <a:endParaRPr lang="en-US" sz="1000" dirty="0"/>
          </a:p>
        </p:txBody>
      </p:sp>
      <p:sp>
        <p:nvSpPr>
          <p:cNvPr id="8" name="Shape 6"/>
          <p:cNvSpPr/>
          <p:nvPr/>
        </p:nvSpPr>
        <p:spPr>
          <a:xfrm>
            <a:off x="2606040" y="4160520"/>
            <a:ext cx="384048" cy="384048"/>
          </a:xfrm>
          <a:prstGeom prst="ellipse">
            <a:avLst/>
          </a:prstGeom>
          <a:solidFill>
            <a:srgbClr val="1A3350"/>
          </a:solidFill>
          <a:ln/>
        </p:spPr>
      </p:sp>
      <p:sp>
        <p:nvSpPr>
          <p:cNvPr id="9" name="Text 7"/>
          <p:cNvSpPr/>
          <p:nvPr/>
        </p:nvSpPr>
        <p:spPr>
          <a:xfrm>
            <a:off x="260604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228600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Perfil</a:t>
            </a:r>
            <a:endParaRPr lang="en-US" sz="1000" dirty="0"/>
          </a:p>
        </p:txBody>
      </p:sp>
      <p:sp>
        <p:nvSpPr>
          <p:cNvPr id="11" name="Shape 9"/>
          <p:cNvSpPr/>
          <p:nvPr/>
        </p:nvSpPr>
        <p:spPr>
          <a:xfrm>
            <a:off x="4389120" y="4160520"/>
            <a:ext cx="384048" cy="384048"/>
          </a:xfrm>
          <a:prstGeom prst="ellipse">
            <a:avLst/>
          </a:prstGeom>
          <a:solidFill>
            <a:srgbClr val="1A3350"/>
          </a:solidFill>
          <a:ln/>
        </p:spPr>
      </p:sp>
      <p:sp>
        <p:nvSpPr>
          <p:cNvPr id="12" name="Text 10"/>
          <p:cNvSpPr/>
          <p:nvPr/>
        </p:nvSpPr>
        <p:spPr>
          <a:xfrm>
            <a:off x="438912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406908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Ranking</a:t>
            </a:r>
            <a:endParaRPr lang="en-US" sz="1000" dirty="0"/>
          </a:p>
        </p:txBody>
      </p:sp>
      <p:sp>
        <p:nvSpPr>
          <p:cNvPr id="14" name="Shape 12"/>
          <p:cNvSpPr/>
          <p:nvPr/>
        </p:nvSpPr>
        <p:spPr>
          <a:xfrm>
            <a:off x="6172200" y="4160520"/>
            <a:ext cx="384048" cy="384048"/>
          </a:xfrm>
          <a:prstGeom prst="ellipse">
            <a:avLst/>
          </a:prstGeom>
          <a:solidFill>
            <a:srgbClr val="1A3350"/>
          </a:solidFill>
          <a:ln/>
        </p:spPr>
      </p:sp>
      <p:sp>
        <p:nvSpPr>
          <p:cNvPr id="15" name="Text 13"/>
          <p:cNvSpPr/>
          <p:nvPr/>
        </p:nvSpPr>
        <p:spPr>
          <a:xfrm>
            <a:off x="617220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585216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Avaliações</a:t>
            </a:r>
            <a:endParaRPr lang="en-US" sz="1000" dirty="0"/>
          </a:p>
        </p:txBody>
      </p:sp>
      <p:sp>
        <p:nvSpPr>
          <p:cNvPr id="17" name="Shape 15"/>
          <p:cNvSpPr/>
          <p:nvPr/>
        </p:nvSpPr>
        <p:spPr>
          <a:xfrm>
            <a:off x="7955280" y="4160520"/>
            <a:ext cx="384048" cy="384048"/>
          </a:xfrm>
          <a:prstGeom prst="ellipse">
            <a:avLst/>
          </a:prstGeom>
          <a:solidFill>
            <a:srgbClr val="1A3350"/>
          </a:solidFill>
          <a:ln/>
        </p:spPr>
      </p:sp>
      <p:sp>
        <p:nvSpPr>
          <p:cNvPr id="18" name="Text 16"/>
          <p:cNvSpPr/>
          <p:nvPr/>
        </p:nvSpPr>
        <p:spPr>
          <a:xfrm>
            <a:off x="795528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763524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Aplicação</a:t>
            </a:r>
            <a:endParaRPr lang="en-US" sz="1000" dirty="0"/>
          </a:p>
        </p:txBody>
      </p:sp>
      <p:sp>
        <p:nvSpPr>
          <p:cNvPr id="20" name="Text 18"/>
          <p:cNvSpPr/>
          <p:nvPr/>
        </p:nvSpPr>
        <p:spPr>
          <a:xfrm>
            <a:off x="822960" y="6035040"/>
            <a:ext cx="9144000" cy="320040"/>
          </a:xfrm>
          <a:prstGeom prst="rect">
            <a:avLst/>
          </a:prstGeom>
          <a:noFill/>
          <a:ln/>
        </p:spPr>
        <p:txBody>
          <a:bodyPr wrap="square" lIns="0" tIns="0" rIns="0" bIns="0" rtlCol="0" anchor="ctr"/>
          <a:lstStyle/>
          <a:p>
            <a:pPr indent="0" marL="0">
              <a:buNone/>
            </a:pPr>
            <a:r>
              <a:rPr lang="en-US" sz="1100" dirty="0">
                <a:solidFill>
                  <a:srgbClr val="7E93A8"/>
                </a:solidFill>
                <a:latin typeface="Calibri" pitchFamily="34" charset="0"/>
                <a:ea typeface="Calibri" pitchFamily="34" charset="-122"/>
                <a:cs typeface="Calibri" pitchFamily="34" charset="-120"/>
              </a:rPr>
              <a:t>Escola de Marketing para Psicólogos — by Dioclides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50292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ROTEIRO DESTA AULA</a:t>
            </a:r>
            <a:endParaRPr lang="en-US" sz="1100" dirty="0"/>
          </a:p>
        </p:txBody>
      </p:sp>
      <p:sp>
        <p:nvSpPr>
          <p:cNvPr id="3" name="Text 1"/>
          <p:cNvSpPr/>
          <p:nvPr/>
        </p:nvSpPr>
        <p:spPr>
          <a:xfrm>
            <a:off x="777240" y="77724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A mesma anatomia de 5 passos, em todo protocolo do curso</a:t>
            </a:r>
            <a:endParaRPr lang="en-US" sz="2800" dirty="0"/>
          </a:p>
        </p:txBody>
      </p:sp>
      <p:sp>
        <p:nvSpPr>
          <p:cNvPr id="4" name="Shape 2"/>
          <p:cNvSpPr/>
          <p:nvPr/>
        </p:nvSpPr>
        <p:spPr>
          <a:xfrm>
            <a:off x="822960"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454810" y="2240280"/>
            <a:ext cx="640080" cy="640080"/>
          </a:xfrm>
          <a:prstGeom prst="ellipse">
            <a:avLst/>
          </a:prstGeom>
          <a:solidFill>
            <a:srgbClr val="C1652F"/>
          </a:solidFill>
          <a:ln/>
        </p:spPr>
      </p:sp>
      <p:sp>
        <p:nvSpPr>
          <p:cNvPr id="6" name="Text 4"/>
          <p:cNvSpPr/>
          <p:nvPr/>
        </p:nvSpPr>
        <p:spPr>
          <a:xfrm>
            <a:off x="1454810"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960120"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Por que o Google importa</a:t>
            </a:r>
            <a:endParaRPr lang="en-US" sz="1500" dirty="0"/>
          </a:p>
        </p:txBody>
      </p:sp>
      <p:sp>
        <p:nvSpPr>
          <p:cNvPr id="8" name="Text 6"/>
          <p:cNvSpPr/>
          <p:nvPr/>
        </p:nvSpPr>
        <p:spPr>
          <a:xfrm>
            <a:off x="1005840"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Quem busca no Google já está mais perto de decidir</a:t>
            </a:r>
            <a:endParaRPr lang="en-US" sz="1100" dirty="0"/>
          </a:p>
        </p:txBody>
      </p:sp>
      <p:sp>
        <p:nvSpPr>
          <p:cNvPr id="9" name="Shape 7"/>
          <p:cNvSpPr/>
          <p:nvPr/>
        </p:nvSpPr>
        <p:spPr>
          <a:xfrm>
            <a:off x="2982773"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3614623" y="2240280"/>
            <a:ext cx="640080" cy="640080"/>
          </a:xfrm>
          <a:prstGeom prst="ellipse">
            <a:avLst/>
          </a:prstGeom>
          <a:solidFill>
            <a:srgbClr val="12283D"/>
          </a:solidFill>
          <a:ln/>
        </p:spPr>
      </p:sp>
      <p:sp>
        <p:nvSpPr>
          <p:cNvPr id="11" name="Text 9"/>
          <p:cNvSpPr/>
          <p:nvPr/>
        </p:nvSpPr>
        <p:spPr>
          <a:xfrm>
            <a:off x="3614623"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119933"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Configurando o perfil</a:t>
            </a:r>
            <a:endParaRPr lang="en-US" sz="1500" dirty="0"/>
          </a:p>
        </p:txBody>
      </p:sp>
      <p:sp>
        <p:nvSpPr>
          <p:cNvPr id="13" name="Text 11"/>
          <p:cNvSpPr/>
          <p:nvPr/>
        </p:nvSpPr>
        <p:spPr>
          <a:xfrm>
            <a:off x="3165653"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Os elementos que fazem seu perfil aparecer bem</a:t>
            </a:r>
            <a:endParaRPr lang="en-US" sz="1100" dirty="0"/>
          </a:p>
        </p:txBody>
      </p:sp>
      <p:sp>
        <p:nvSpPr>
          <p:cNvPr id="14" name="Shape 12"/>
          <p:cNvSpPr/>
          <p:nvPr/>
        </p:nvSpPr>
        <p:spPr>
          <a:xfrm>
            <a:off x="5142586"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5774436" y="2240280"/>
            <a:ext cx="640080" cy="640080"/>
          </a:xfrm>
          <a:prstGeom prst="ellipse">
            <a:avLst/>
          </a:prstGeom>
          <a:solidFill>
            <a:srgbClr val="12283D"/>
          </a:solidFill>
          <a:ln/>
        </p:spPr>
      </p:sp>
      <p:sp>
        <p:nvSpPr>
          <p:cNvPr id="16" name="Text 14"/>
          <p:cNvSpPr/>
          <p:nvPr/>
        </p:nvSpPr>
        <p:spPr>
          <a:xfrm>
            <a:off x="5774436"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79746"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O que pesa no ranking</a:t>
            </a:r>
            <a:endParaRPr lang="en-US" sz="1500" dirty="0"/>
          </a:p>
        </p:txBody>
      </p:sp>
      <p:sp>
        <p:nvSpPr>
          <p:cNvPr id="18" name="Text 16"/>
          <p:cNvSpPr/>
          <p:nvPr/>
        </p:nvSpPr>
        <p:spPr>
          <a:xfrm>
            <a:off x="5325466"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Os 3 fatores que decidem quem aparece primeiro</a:t>
            </a:r>
            <a:endParaRPr lang="en-US" sz="1100" dirty="0"/>
          </a:p>
        </p:txBody>
      </p:sp>
      <p:sp>
        <p:nvSpPr>
          <p:cNvPr id="19" name="Shape 17"/>
          <p:cNvSpPr/>
          <p:nvPr/>
        </p:nvSpPr>
        <p:spPr>
          <a:xfrm>
            <a:off x="7302398"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7934249" y="2240280"/>
            <a:ext cx="640080" cy="640080"/>
          </a:xfrm>
          <a:prstGeom prst="ellipse">
            <a:avLst/>
          </a:prstGeom>
          <a:solidFill>
            <a:srgbClr val="12283D"/>
          </a:solidFill>
          <a:ln/>
        </p:spPr>
      </p:sp>
      <p:sp>
        <p:nvSpPr>
          <p:cNvPr id="21" name="Text 19"/>
          <p:cNvSpPr/>
          <p:nvPr/>
        </p:nvSpPr>
        <p:spPr>
          <a:xfrm>
            <a:off x="7934249"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439558"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Avaliações</a:t>
            </a:r>
            <a:endParaRPr lang="en-US" sz="1500" dirty="0"/>
          </a:p>
        </p:txBody>
      </p:sp>
      <p:sp>
        <p:nvSpPr>
          <p:cNvPr id="23" name="Text 21"/>
          <p:cNvSpPr/>
          <p:nvPr/>
        </p:nvSpPr>
        <p:spPr>
          <a:xfrm>
            <a:off x="7485278"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Como lidar com isso dentro dos limites éticos do Bloco 2</a:t>
            </a:r>
            <a:endParaRPr lang="en-US" sz="1100" dirty="0"/>
          </a:p>
        </p:txBody>
      </p:sp>
      <p:sp>
        <p:nvSpPr>
          <p:cNvPr id="24" name="Shape 22"/>
          <p:cNvSpPr/>
          <p:nvPr/>
        </p:nvSpPr>
        <p:spPr>
          <a:xfrm>
            <a:off x="9462211"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10094062" y="2240280"/>
            <a:ext cx="640080" cy="640080"/>
          </a:xfrm>
          <a:prstGeom prst="ellipse">
            <a:avLst/>
          </a:prstGeom>
          <a:solidFill>
            <a:srgbClr val="12283D"/>
          </a:solidFill>
          <a:ln/>
        </p:spPr>
      </p:sp>
      <p:sp>
        <p:nvSpPr>
          <p:cNvPr id="26" name="Text 24"/>
          <p:cNvSpPr/>
          <p:nvPr/>
        </p:nvSpPr>
        <p:spPr>
          <a:xfrm>
            <a:off x="10094062"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599371"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Aplicação prática</a:t>
            </a:r>
            <a:endParaRPr lang="en-US" sz="1500" dirty="0"/>
          </a:p>
        </p:txBody>
      </p:sp>
      <p:sp>
        <p:nvSpPr>
          <p:cNvPr id="28" name="Text 26"/>
          <p:cNvSpPr/>
          <p:nvPr/>
        </p:nvSpPr>
        <p:spPr>
          <a:xfrm>
            <a:off x="9645091"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Diagnosticando um perfil real</a:t>
            </a:r>
            <a:endParaRPr lang="en-US" sz="11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30" name="Text 2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ANTES DE COMEÇAR</a:t>
            </a:r>
            <a:endParaRPr lang="en-US" sz="1100" dirty="0"/>
          </a:p>
        </p:txBody>
      </p:sp>
      <p:sp>
        <p:nvSpPr>
          <p:cNvPr id="3" name="Text 1"/>
          <p:cNvSpPr/>
          <p:nvPr/>
        </p:nvSpPr>
        <p:spPr>
          <a:xfrm>
            <a:off x="822960" y="1371600"/>
            <a:ext cx="9875520" cy="2377440"/>
          </a:xfrm>
          <a:prstGeom prst="rect">
            <a:avLst/>
          </a:prstGeom>
          <a:noFill/>
          <a:ln/>
        </p:spPr>
        <p:txBody>
          <a:bodyPr wrap="square" lIns="0" tIns="0" rIns="0" bIns="0" rtlCol="0" anchor="ctr"/>
          <a:lstStyle/>
          <a:p>
            <a:pPr indent="0" marL="0">
              <a:lnSpc>
                <a:spcPct val="115000"/>
              </a:lnSpc>
              <a:buNone/>
            </a:pPr>
            <a:r>
              <a:rPr lang="en-US" sz="3400" b="1" dirty="0">
                <a:solidFill>
                  <a:srgbClr val="12283D"/>
                </a:solidFill>
                <a:latin typeface="Cambria" pitchFamily="34" charset="0"/>
                <a:ea typeface="Cambria" pitchFamily="34" charset="-122"/>
                <a:cs typeface="Cambria" pitchFamily="34" charset="-120"/>
              </a:rPr>
              <a:t>Enquanto você posta nas redes esperando ser descoberto, alguém pesquisa "psicólogo perto de mim" no Google agora mesmo — e se seu perfil não aparece, essa pessoa nunca vai saber que você existe.</a:t>
            </a:r>
            <a:endParaRPr lang="en-US" sz="3400" dirty="0"/>
          </a:p>
        </p:txBody>
      </p:sp>
      <p:sp>
        <p:nvSpPr>
          <p:cNvPr id="4" name="Text 2"/>
          <p:cNvSpPr/>
          <p:nvPr/>
        </p:nvSpPr>
        <p:spPr>
          <a:xfrm>
            <a:off x="822960" y="3931920"/>
            <a:ext cx="7955280" cy="1371600"/>
          </a:xfrm>
          <a:prstGeom prst="rect">
            <a:avLst/>
          </a:prstGeom>
          <a:noFill/>
          <a:ln/>
        </p:spPr>
        <p:txBody>
          <a:bodyPr wrap="square" lIns="0" tIns="0" rIns="0" bIns="0" rtlCol="0" anchor="ctr"/>
          <a:lstStyle/>
          <a:p>
            <a:pPr indent="0" marL="0">
              <a:buNone/>
            </a:pPr>
            <a:r>
              <a:rPr lang="en-US" sz="1500" dirty="0">
                <a:solidFill>
                  <a:srgbClr val="6B6153"/>
                </a:solidFill>
                <a:latin typeface="Calibri" pitchFamily="34" charset="0"/>
                <a:ea typeface="Calibri" pitchFamily="34" charset="-122"/>
                <a:cs typeface="Calibri" pitchFamily="34" charset="-120"/>
              </a:rPr>
              <a:t>Diferente das redes sociais, quem busca no Google já decidiu que quer resolver algo — esse é o público mais próximo de agendar uma sessão.</a:t>
            </a:r>
            <a:endParaRPr lang="en-US" sz="15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4 pilares do perfil no Google</a:t>
            </a:r>
            <a:endParaRPr lang="en-US" sz="2800" dirty="0"/>
          </a:p>
        </p:txBody>
      </p:sp>
      <p:sp>
        <p:nvSpPr>
          <p:cNvPr id="4" name="Shape 2"/>
          <p:cNvSpPr/>
          <p:nvPr/>
        </p:nvSpPr>
        <p:spPr>
          <a:xfrm>
            <a:off x="822960" y="1691640"/>
            <a:ext cx="5120640" cy="4023360"/>
          </a:xfrm>
          <a:prstGeom prst="ellipse">
            <a:avLst/>
          </a:prstGeom>
          <a:solidFill>
            <a:srgbClr val="EFE8D9"/>
          </a:solidFill>
          <a:ln w="25400">
            <a:solidFill>
              <a:srgbClr val="12283D"/>
            </a:solidFill>
            <a:prstDash val="solid"/>
          </a:ln>
        </p:spPr>
      </p:sp>
      <p:sp>
        <p:nvSpPr>
          <p:cNvPr id="5" name="Shape 3"/>
          <p:cNvSpPr/>
          <p:nvPr/>
        </p:nvSpPr>
        <p:spPr>
          <a:xfrm>
            <a:off x="1847088" y="2576779"/>
            <a:ext cx="457200" cy="457200"/>
          </a:xfrm>
          <a:prstGeom prst="ellipse">
            <a:avLst/>
          </a:prstGeom>
          <a:solidFill>
            <a:srgbClr val="12283D"/>
          </a:solidFill>
          <a:ln w="19050">
            <a:solidFill>
              <a:srgbClr val="FFFFFF"/>
            </a:solidFill>
            <a:prstDash val="solid"/>
          </a:ln>
        </p:spPr>
      </p:sp>
      <p:sp>
        <p:nvSpPr>
          <p:cNvPr id="6" name="Shape 4"/>
          <p:cNvSpPr/>
          <p:nvPr/>
        </p:nvSpPr>
        <p:spPr>
          <a:xfrm>
            <a:off x="1949501" y="4186123"/>
            <a:ext cx="365760" cy="365760"/>
          </a:xfrm>
          <a:prstGeom prst="ellipse">
            <a:avLst/>
          </a:prstGeom>
          <a:solidFill>
            <a:srgbClr val="C1652F"/>
          </a:solidFill>
          <a:ln w="19050">
            <a:solidFill>
              <a:srgbClr val="FFFFFF"/>
            </a:solidFill>
            <a:prstDash val="solid"/>
          </a:ln>
        </p:spPr>
      </p:sp>
      <p:sp>
        <p:nvSpPr>
          <p:cNvPr id="7" name="Shape 5"/>
          <p:cNvSpPr/>
          <p:nvPr/>
        </p:nvSpPr>
        <p:spPr>
          <a:xfrm>
            <a:off x="3895344" y="4105656"/>
            <a:ext cx="329184" cy="329184"/>
          </a:xfrm>
          <a:prstGeom prst="ellipse">
            <a:avLst/>
          </a:prstGeom>
          <a:solidFill>
            <a:srgbClr val="63768A"/>
          </a:solidFill>
          <a:ln w="19050">
            <a:solidFill>
              <a:srgbClr val="FFFFFF"/>
            </a:solidFill>
            <a:prstDash val="solid"/>
          </a:ln>
        </p:spPr>
      </p:sp>
      <p:sp>
        <p:nvSpPr>
          <p:cNvPr id="8" name="Shape 6"/>
          <p:cNvSpPr/>
          <p:nvPr/>
        </p:nvSpPr>
        <p:spPr>
          <a:xfrm>
            <a:off x="3792931" y="2657246"/>
            <a:ext cx="329184" cy="329184"/>
          </a:xfrm>
          <a:prstGeom prst="ellipse">
            <a:avLst/>
          </a:prstGeom>
          <a:solidFill>
            <a:srgbClr val="D99A73"/>
          </a:solidFill>
          <a:ln w="19050">
            <a:solidFill>
              <a:srgbClr val="FFFFFF"/>
            </a:solidFill>
            <a:prstDash val="solid"/>
          </a:ln>
        </p:spPr>
      </p:sp>
      <p:sp>
        <p:nvSpPr>
          <p:cNvPr id="9" name="Shape 7"/>
          <p:cNvSpPr/>
          <p:nvPr/>
        </p:nvSpPr>
        <p:spPr>
          <a:xfrm>
            <a:off x="6400800" y="1947672"/>
            <a:ext cx="201168" cy="201168"/>
          </a:xfrm>
          <a:prstGeom prst="ellipse">
            <a:avLst/>
          </a:prstGeom>
          <a:solidFill>
            <a:srgbClr val="12283D"/>
          </a:solidFill>
          <a:ln/>
        </p:spPr>
      </p:sp>
      <p:sp>
        <p:nvSpPr>
          <p:cNvPr id="10" name="Text 8"/>
          <p:cNvSpPr/>
          <p:nvPr/>
        </p:nvSpPr>
        <p:spPr>
          <a:xfrm>
            <a:off x="6720840" y="187452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Perfil completo e verificado, com todas as informações</a:t>
            </a:r>
            <a:endParaRPr lang="en-US" sz="1300" dirty="0"/>
          </a:p>
        </p:txBody>
      </p:sp>
      <p:sp>
        <p:nvSpPr>
          <p:cNvPr id="11" name="Shape 9"/>
          <p:cNvSpPr/>
          <p:nvPr/>
        </p:nvSpPr>
        <p:spPr>
          <a:xfrm>
            <a:off x="6400800" y="2450592"/>
            <a:ext cx="201168" cy="201168"/>
          </a:xfrm>
          <a:prstGeom prst="ellipse">
            <a:avLst/>
          </a:prstGeom>
          <a:solidFill>
            <a:srgbClr val="C1652F"/>
          </a:solidFill>
          <a:ln/>
        </p:spPr>
      </p:sp>
      <p:sp>
        <p:nvSpPr>
          <p:cNvPr id="12" name="Text 10"/>
          <p:cNvSpPr/>
          <p:nvPr/>
        </p:nvSpPr>
        <p:spPr>
          <a:xfrm>
            <a:off x="6720840" y="237744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Categoria e localização configuradas corretamente</a:t>
            </a:r>
            <a:endParaRPr lang="en-US" sz="1300" dirty="0"/>
          </a:p>
        </p:txBody>
      </p:sp>
      <p:sp>
        <p:nvSpPr>
          <p:cNvPr id="13" name="Shape 11"/>
          <p:cNvSpPr/>
          <p:nvPr/>
        </p:nvSpPr>
        <p:spPr>
          <a:xfrm>
            <a:off x="6400800" y="2953512"/>
            <a:ext cx="201168" cy="201168"/>
          </a:xfrm>
          <a:prstGeom prst="ellipse">
            <a:avLst/>
          </a:prstGeom>
          <a:solidFill>
            <a:srgbClr val="63768A"/>
          </a:solidFill>
          <a:ln/>
        </p:spPr>
      </p:sp>
      <p:sp>
        <p:nvSpPr>
          <p:cNvPr id="14" name="Text 12"/>
          <p:cNvSpPr/>
          <p:nvPr/>
        </p:nvSpPr>
        <p:spPr>
          <a:xfrm>
            <a:off x="6720840" y="288036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Avaliações reais e respondidas com cuidado</a:t>
            </a:r>
            <a:endParaRPr lang="en-US" sz="1300" dirty="0"/>
          </a:p>
        </p:txBody>
      </p:sp>
      <p:sp>
        <p:nvSpPr>
          <p:cNvPr id="15" name="Shape 13"/>
          <p:cNvSpPr/>
          <p:nvPr/>
        </p:nvSpPr>
        <p:spPr>
          <a:xfrm>
            <a:off x="6400800" y="3456432"/>
            <a:ext cx="201168" cy="201168"/>
          </a:xfrm>
          <a:prstGeom prst="ellipse">
            <a:avLst/>
          </a:prstGeom>
          <a:solidFill>
            <a:srgbClr val="D99A73"/>
          </a:solidFill>
          <a:ln/>
        </p:spPr>
      </p:sp>
      <p:sp>
        <p:nvSpPr>
          <p:cNvPr id="16" name="Text 14"/>
          <p:cNvSpPr/>
          <p:nvPr/>
        </p:nvSpPr>
        <p:spPr>
          <a:xfrm>
            <a:off x="6720840" y="338328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Consistência: mesmo nome, endereço e telefone em toda a web</a:t>
            </a:r>
            <a:endParaRPr lang="en-US" sz="1300" dirty="0"/>
          </a:p>
        </p:txBody>
      </p:sp>
      <p:sp>
        <p:nvSpPr>
          <p:cNvPr id="17" name="Text 15"/>
          <p:cNvSpPr/>
          <p:nvPr/>
        </p:nvSpPr>
        <p:spPr>
          <a:xfrm>
            <a:off x="6400800" y="4160520"/>
            <a:ext cx="5120640" cy="20116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O Google prioriza perfis completos e consistentes — informação incompleta é a razão mais comum de um perfil não aparecer bem.</a:t>
            </a:r>
            <a:endParaRPr lang="en-US" sz="1250" dirty="0"/>
          </a:p>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Consistência de nome, endereço e telefone (NAP) entre Google, site e redes sociais é mais importante do que a maioria imagina.</a:t>
            </a:r>
            <a:endParaRPr lang="en-US" sz="125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9" name="Text 1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Da busca ao agendamento via Google</a:t>
            </a:r>
            <a:endParaRPr lang="en-US" sz="2800" dirty="0"/>
          </a:p>
        </p:txBody>
      </p:sp>
      <p:sp>
        <p:nvSpPr>
          <p:cNvPr id="4" name="Shape 2"/>
          <p:cNvSpPr/>
          <p:nvPr/>
        </p:nvSpPr>
        <p:spPr>
          <a:xfrm>
            <a:off x="822960"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5" name="Text 3"/>
          <p:cNvSpPr/>
          <p:nvPr/>
        </p:nvSpPr>
        <p:spPr>
          <a:xfrm>
            <a:off x="987552"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Busca local</a:t>
            </a:r>
            <a:endParaRPr lang="en-US" sz="1500" dirty="0"/>
          </a:p>
        </p:txBody>
      </p:sp>
      <p:sp>
        <p:nvSpPr>
          <p:cNvPr id="6" name="Text 4"/>
          <p:cNvSpPr/>
          <p:nvPr/>
        </p:nvSpPr>
        <p:spPr>
          <a:xfrm>
            <a:off x="987552"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"Psicólogo no [bairro]" ou "psicólogo perto de mim"</a:t>
            </a:r>
            <a:endParaRPr lang="en-US" sz="1100" dirty="0"/>
          </a:p>
        </p:txBody>
      </p:sp>
      <p:sp>
        <p:nvSpPr>
          <p:cNvPr id="7" name="Text 5"/>
          <p:cNvSpPr/>
          <p:nvPr/>
        </p:nvSpPr>
        <p:spPr>
          <a:xfrm>
            <a:off x="3081528"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84448"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9" name="Text 7"/>
          <p:cNvSpPr/>
          <p:nvPr/>
        </p:nvSpPr>
        <p:spPr>
          <a:xfrm>
            <a:off x="3749040"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Resultado no mapa</a:t>
            </a:r>
            <a:endParaRPr lang="en-US" sz="1500" dirty="0"/>
          </a:p>
        </p:txBody>
      </p:sp>
      <p:sp>
        <p:nvSpPr>
          <p:cNvPr id="10" name="Text 8"/>
          <p:cNvSpPr/>
          <p:nvPr/>
        </p:nvSpPr>
        <p:spPr>
          <a:xfrm>
            <a:off x="3749040"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Google mostra os perfis mais relevantes da região</a:t>
            </a:r>
            <a:endParaRPr lang="en-US" sz="1100" dirty="0"/>
          </a:p>
        </p:txBody>
      </p:sp>
      <p:sp>
        <p:nvSpPr>
          <p:cNvPr id="11" name="Text 9"/>
          <p:cNvSpPr/>
          <p:nvPr/>
        </p:nvSpPr>
        <p:spPr>
          <a:xfrm>
            <a:off x="5843016"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345936"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13" name="Text 11"/>
          <p:cNvSpPr/>
          <p:nvPr/>
        </p:nvSpPr>
        <p:spPr>
          <a:xfrm>
            <a:off x="6510528"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Comparação rápida</a:t>
            </a:r>
            <a:endParaRPr lang="en-US" sz="1500" dirty="0"/>
          </a:p>
        </p:txBody>
      </p:sp>
      <p:sp>
        <p:nvSpPr>
          <p:cNvPr id="14" name="Text 12"/>
          <p:cNvSpPr/>
          <p:nvPr/>
        </p:nvSpPr>
        <p:spPr>
          <a:xfrm>
            <a:off x="6510528"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A pessoa compara fotos, avaliações e informações em segundos</a:t>
            </a:r>
            <a:endParaRPr lang="en-US" sz="1100" dirty="0"/>
          </a:p>
        </p:txBody>
      </p:sp>
      <p:sp>
        <p:nvSpPr>
          <p:cNvPr id="15" name="Text 13"/>
          <p:cNvSpPr/>
          <p:nvPr/>
        </p:nvSpPr>
        <p:spPr>
          <a:xfrm>
            <a:off x="8604504"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107424" y="1965960"/>
            <a:ext cx="2258568" cy="1920240"/>
          </a:xfrm>
          <a:prstGeom prst="roundRect">
            <a:avLst>
              <a:gd name="adj" fmla="val 3810"/>
            </a:avLst>
          </a:prstGeom>
          <a:solidFill>
            <a:srgbClr val="C1652F"/>
          </a:solidFill>
          <a:ln/>
          <a:effectLst>
            <a:outerShdw sx="100000" sy="100000" kx="0" ky="0" algn="bl" rotWithShape="0" blurRad="101600" dist="38100" dir="2700000">
              <a:srgbClr val="000000">
                <a:alpha val="12000"/>
              </a:srgbClr>
            </a:outerShdw>
          </a:effectLst>
        </p:spPr>
      </p:sp>
      <p:sp>
        <p:nvSpPr>
          <p:cNvPr id="17" name="Text 15"/>
          <p:cNvSpPr/>
          <p:nvPr/>
        </p:nvSpPr>
        <p:spPr>
          <a:xfrm>
            <a:off x="9272016"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Contato direto</a:t>
            </a:r>
            <a:endParaRPr lang="en-US" sz="1500" dirty="0"/>
          </a:p>
        </p:txBody>
      </p:sp>
      <p:sp>
        <p:nvSpPr>
          <p:cNvPr id="18" name="Text 16"/>
          <p:cNvSpPr/>
          <p:nvPr/>
        </p:nvSpPr>
        <p:spPr>
          <a:xfrm>
            <a:off x="9272016"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Clique no site, telefone ou WhatsApp do perfil mais completo</a:t>
            </a:r>
            <a:endParaRPr lang="en-US" sz="1100" dirty="0"/>
          </a:p>
        </p:txBody>
      </p:sp>
      <p:sp>
        <p:nvSpPr>
          <p:cNvPr id="19" name="Text 17"/>
          <p:cNvSpPr/>
          <p:nvPr/>
        </p:nvSpPr>
        <p:spPr>
          <a:xfrm>
            <a:off x="822960" y="4480560"/>
            <a:ext cx="9875520" cy="822960"/>
          </a:xfrm>
          <a:prstGeom prst="rect">
            <a:avLst/>
          </a:prstGeom>
          <a:noFill/>
          <a:ln/>
        </p:spPr>
        <p:txBody>
          <a:bodyPr wrap="square" lIns="0" tIns="0" rIns="0" bIns="0" rtlCol="0" anchor="ctr"/>
          <a:lstStyle/>
          <a:p>
            <a:pPr indent="0" marL="0">
              <a:buNone/>
            </a:pPr>
            <a:r>
              <a:rPr lang="en-US" sz="1350" i="1" dirty="0">
                <a:solidFill>
                  <a:srgbClr val="6B6153"/>
                </a:solidFill>
                <a:latin typeface="Calibri" pitchFamily="34" charset="0"/>
                <a:ea typeface="Calibri" pitchFamily="34" charset="-122"/>
                <a:cs typeface="Calibri" pitchFamily="34" charset="-120"/>
              </a:rPr>
              <a:t>Essa jornada inteira pode acontecer em menos de um minuto — por isso um perfil incompleto perde a pessoa antes mesmo dela chegar ao seu site.</a:t>
            </a:r>
            <a:endParaRPr lang="en-US" sz="1350" dirty="0"/>
          </a:p>
        </p:txBody>
      </p:sp>
      <p:sp>
        <p:nvSpPr>
          <p:cNvPr id="20" name="Text 18"/>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21"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fatores que pesam no ranking local</a:t>
            </a:r>
            <a:endParaRPr lang="en-US" sz="2800" dirty="0"/>
          </a:p>
        </p:txBody>
      </p:sp>
      <p:sp>
        <p:nvSpPr>
          <p:cNvPr id="4" name="Shape 2"/>
          <p:cNvSpPr/>
          <p:nvPr/>
        </p:nvSpPr>
        <p:spPr>
          <a:xfrm>
            <a:off x="2116836" y="1920240"/>
            <a:ext cx="822960" cy="822960"/>
          </a:xfrm>
          <a:prstGeom prst="ellipse">
            <a:avLst/>
          </a:prstGeom>
          <a:solidFill>
            <a:srgbClr val="12283D"/>
          </a:solidFill>
          <a:ln/>
        </p:spPr>
      </p:sp>
      <p:sp>
        <p:nvSpPr>
          <p:cNvPr id="5" name="Text 3"/>
          <p:cNvSpPr/>
          <p:nvPr/>
        </p:nvSpPr>
        <p:spPr>
          <a:xfrm>
            <a:off x="92811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Proximidade</a:t>
            </a:r>
            <a:endParaRPr lang="en-US" sz="2000" dirty="0"/>
          </a:p>
        </p:txBody>
      </p:sp>
      <p:sp>
        <p:nvSpPr>
          <p:cNvPr id="6" name="Text 4"/>
          <p:cNvSpPr/>
          <p:nvPr/>
        </p:nvSpPr>
        <p:spPr>
          <a:xfrm>
            <a:off x="111099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Distância entre o endereço cadastrado e quem está buscando</a:t>
            </a:r>
            <a:endParaRPr lang="en-US" sz="1300" dirty="0"/>
          </a:p>
        </p:txBody>
      </p:sp>
      <p:sp>
        <p:nvSpPr>
          <p:cNvPr id="7" name="Shape 5"/>
          <p:cNvSpPr/>
          <p:nvPr/>
        </p:nvSpPr>
        <p:spPr>
          <a:xfrm>
            <a:off x="5682996" y="1920240"/>
            <a:ext cx="822960" cy="822960"/>
          </a:xfrm>
          <a:prstGeom prst="ellipse">
            <a:avLst/>
          </a:prstGeom>
          <a:solidFill>
            <a:srgbClr val="C1652F"/>
          </a:solidFill>
          <a:ln/>
        </p:spPr>
      </p:sp>
      <p:sp>
        <p:nvSpPr>
          <p:cNvPr id="8" name="Text 6"/>
          <p:cNvSpPr/>
          <p:nvPr/>
        </p:nvSpPr>
        <p:spPr>
          <a:xfrm>
            <a:off x="449427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Relevância</a:t>
            </a:r>
            <a:endParaRPr lang="en-US" sz="2000" dirty="0"/>
          </a:p>
        </p:txBody>
      </p:sp>
      <p:sp>
        <p:nvSpPr>
          <p:cNvPr id="9" name="Text 7"/>
          <p:cNvSpPr/>
          <p:nvPr/>
        </p:nvSpPr>
        <p:spPr>
          <a:xfrm>
            <a:off x="467715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O quanto o perfil está bem categorizado e completo pra busca feita</a:t>
            </a:r>
            <a:endParaRPr lang="en-US" sz="1300" dirty="0"/>
          </a:p>
        </p:txBody>
      </p:sp>
      <p:sp>
        <p:nvSpPr>
          <p:cNvPr id="10" name="Shape 8"/>
          <p:cNvSpPr/>
          <p:nvPr/>
        </p:nvSpPr>
        <p:spPr>
          <a:xfrm>
            <a:off x="9249156" y="1920240"/>
            <a:ext cx="822960" cy="822960"/>
          </a:xfrm>
          <a:prstGeom prst="ellipse">
            <a:avLst/>
          </a:prstGeom>
          <a:solidFill>
            <a:srgbClr val="63768A"/>
          </a:solidFill>
          <a:ln/>
        </p:spPr>
      </p:sp>
      <p:sp>
        <p:nvSpPr>
          <p:cNvPr id="11" name="Text 9"/>
          <p:cNvSpPr/>
          <p:nvPr/>
        </p:nvSpPr>
        <p:spPr>
          <a:xfrm>
            <a:off x="806043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Notoriedade</a:t>
            </a:r>
            <a:endParaRPr lang="en-US" sz="2000" dirty="0"/>
          </a:p>
        </p:txBody>
      </p:sp>
      <p:sp>
        <p:nvSpPr>
          <p:cNvPr id="12" name="Text 10"/>
          <p:cNvSpPr/>
          <p:nvPr/>
        </p:nvSpPr>
        <p:spPr>
          <a:xfrm>
            <a:off x="824331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Avaliações, tempo de perfil ativo e presença consistente online</a:t>
            </a:r>
            <a:endParaRPr lang="en-US" sz="1300" dirty="0"/>
          </a:p>
        </p:txBody>
      </p:sp>
      <p:sp>
        <p:nvSpPr>
          <p:cNvPr id="13" name="Text 11"/>
          <p:cNvSpPr/>
          <p:nvPr/>
        </p:nvSpPr>
        <p:spPr>
          <a:xfrm>
            <a:off x="822960" y="5212080"/>
            <a:ext cx="9601200" cy="54864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Proximidade você não controla — mas relevância e notoriedade dependem inteiramente de como o perfil é mantido.</a:t>
            </a:r>
            <a:endParaRPr lang="en-US" sz="13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Sinais de que o perfil está prejudicando você</a:t>
            </a:r>
            <a:endParaRPr lang="en-US" sz="2800" dirty="0"/>
          </a:p>
        </p:txBody>
      </p:sp>
      <p:sp>
        <p:nvSpPr>
          <p:cNvPr id="4" name="Shape 2"/>
          <p:cNvSpPr/>
          <p:nvPr/>
        </p:nvSpPr>
        <p:spPr>
          <a:xfrm>
            <a:off x="822960" y="1929384"/>
            <a:ext cx="201168" cy="201168"/>
          </a:xfrm>
          <a:prstGeom prst="ellipse">
            <a:avLst/>
          </a:prstGeom>
          <a:solidFill>
            <a:srgbClr val="C1652F"/>
          </a:solidFill>
          <a:ln/>
        </p:spPr>
      </p:sp>
      <p:sp>
        <p:nvSpPr>
          <p:cNvPr id="5" name="Text 3"/>
          <p:cNvSpPr/>
          <p:nvPr/>
        </p:nvSpPr>
        <p:spPr>
          <a:xfrm>
            <a:off x="1188720" y="187452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Perfil não verificado</a:t>
            </a:r>
            <a:endParaRPr lang="en-US" sz="1500" dirty="0"/>
          </a:p>
        </p:txBody>
      </p:sp>
      <p:sp>
        <p:nvSpPr>
          <p:cNvPr id="6" name="Text 4"/>
          <p:cNvSpPr/>
          <p:nvPr/>
        </p:nvSpPr>
        <p:spPr>
          <a:xfrm>
            <a:off x="3657600" y="187452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Nunca foi reivindicado formalmente junto ao Google</a:t>
            </a:r>
            <a:endParaRPr lang="en-US" sz="1350" dirty="0"/>
          </a:p>
        </p:txBody>
      </p:sp>
      <p:sp>
        <p:nvSpPr>
          <p:cNvPr id="7" name="Shape 5"/>
          <p:cNvSpPr/>
          <p:nvPr/>
        </p:nvSpPr>
        <p:spPr>
          <a:xfrm>
            <a:off x="822960" y="2798064"/>
            <a:ext cx="201168" cy="201168"/>
          </a:xfrm>
          <a:prstGeom prst="ellipse">
            <a:avLst/>
          </a:prstGeom>
          <a:solidFill>
            <a:srgbClr val="C1652F"/>
          </a:solidFill>
          <a:ln/>
        </p:spPr>
      </p:sp>
      <p:sp>
        <p:nvSpPr>
          <p:cNvPr id="8" name="Text 6"/>
          <p:cNvSpPr/>
          <p:nvPr/>
        </p:nvSpPr>
        <p:spPr>
          <a:xfrm>
            <a:off x="1188720" y="274320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Informações desatualizadas</a:t>
            </a:r>
            <a:endParaRPr lang="en-US" sz="1500" dirty="0"/>
          </a:p>
        </p:txBody>
      </p:sp>
      <p:sp>
        <p:nvSpPr>
          <p:cNvPr id="9" name="Text 7"/>
          <p:cNvSpPr/>
          <p:nvPr/>
        </p:nvSpPr>
        <p:spPr>
          <a:xfrm>
            <a:off x="3657600" y="274320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Endereço, telefone ou horário diferentes do real</a:t>
            </a:r>
            <a:endParaRPr lang="en-US" sz="1350" dirty="0"/>
          </a:p>
        </p:txBody>
      </p:sp>
      <p:sp>
        <p:nvSpPr>
          <p:cNvPr id="10" name="Shape 8"/>
          <p:cNvSpPr/>
          <p:nvPr/>
        </p:nvSpPr>
        <p:spPr>
          <a:xfrm>
            <a:off x="822960" y="3666744"/>
            <a:ext cx="201168" cy="201168"/>
          </a:xfrm>
          <a:prstGeom prst="ellipse">
            <a:avLst/>
          </a:prstGeom>
          <a:solidFill>
            <a:srgbClr val="C1652F"/>
          </a:solidFill>
          <a:ln/>
        </p:spPr>
      </p:sp>
      <p:sp>
        <p:nvSpPr>
          <p:cNvPr id="11" name="Text 9"/>
          <p:cNvSpPr/>
          <p:nvPr/>
        </p:nvSpPr>
        <p:spPr>
          <a:xfrm>
            <a:off x="1188720" y="361188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Poucas ou nenhuma avaliação</a:t>
            </a:r>
            <a:endParaRPr lang="en-US" sz="1500" dirty="0"/>
          </a:p>
        </p:txBody>
      </p:sp>
      <p:sp>
        <p:nvSpPr>
          <p:cNvPr id="12" name="Text 10"/>
          <p:cNvSpPr/>
          <p:nvPr/>
        </p:nvSpPr>
        <p:spPr>
          <a:xfrm>
            <a:off x="3657600" y="361188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Perfil parece pouco ativo ou pouco confiável à primeira vista</a:t>
            </a:r>
            <a:endParaRPr lang="en-US" sz="1350" dirty="0"/>
          </a:p>
        </p:txBody>
      </p:sp>
      <p:sp>
        <p:nvSpPr>
          <p:cNvPr id="13" name="Shape 11"/>
          <p:cNvSpPr/>
          <p:nvPr/>
        </p:nvSpPr>
        <p:spPr>
          <a:xfrm>
            <a:off x="822960" y="4535424"/>
            <a:ext cx="201168" cy="201168"/>
          </a:xfrm>
          <a:prstGeom prst="ellipse">
            <a:avLst/>
          </a:prstGeom>
          <a:solidFill>
            <a:srgbClr val="C1652F"/>
          </a:solidFill>
          <a:ln/>
        </p:spPr>
      </p:sp>
      <p:sp>
        <p:nvSpPr>
          <p:cNvPr id="14" name="Text 12"/>
          <p:cNvSpPr/>
          <p:nvPr/>
        </p:nvSpPr>
        <p:spPr>
          <a:xfrm>
            <a:off x="1188720" y="448056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Categoria genérica</a:t>
            </a:r>
            <a:endParaRPr lang="en-US" sz="1500" dirty="0"/>
          </a:p>
        </p:txBody>
      </p:sp>
      <p:sp>
        <p:nvSpPr>
          <p:cNvPr id="15" name="Text 13"/>
          <p:cNvSpPr/>
          <p:nvPr/>
        </p:nvSpPr>
        <p:spPr>
          <a:xfrm>
            <a:off x="3657600" y="448056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"Estabelecimento de saúde" em vez de "psicólogo" especificamente</a:t>
            </a:r>
            <a:endParaRPr lang="en-US" sz="13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níveis de perfil</a:t>
            </a:r>
            <a:endParaRPr lang="en-US" sz="2800" dirty="0"/>
          </a:p>
        </p:txBody>
      </p:sp>
      <p:sp>
        <p:nvSpPr>
          <p:cNvPr id="4" name="Shape 2"/>
          <p:cNvSpPr/>
          <p:nvPr/>
        </p:nvSpPr>
        <p:spPr>
          <a:xfrm>
            <a:off x="822960"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822960" y="1920240"/>
            <a:ext cx="3240024" cy="640080"/>
          </a:xfrm>
          <a:prstGeom prst="rect">
            <a:avLst/>
          </a:prstGeom>
          <a:solidFill>
            <a:srgbClr val="12283D"/>
          </a:solidFill>
          <a:ln/>
        </p:spPr>
      </p:sp>
      <p:sp>
        <p:nvSpPr>
          <p:cNvPr id="6" name="Text 4"/>
          <p:cNvSpPr/>
          <p:nvPr/>
        </p:nvSpPr>
        <p:spPr>
          <a:xfrm>
            <a:off x="822960"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Incompleto</a:t>
            </a:r>
            <a:endParaRPr lang="en-US" sz="1500" dirty="0"/>
          </a:p>
        </p:txBody>
      </p:sp>
      <p:sp>
        <p:nvSpPr>
          <p:cNvPr id="7" name="Text 5"/>
          <p:cNvSpPr/>
          <p:nvPr/>
        </p:nvSpPr>
        <p:spPr>
          <a:xfrm>
            <a:off x="1051560"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Sem verificação, sem fotos, categoria genérica — praticamente invisível na busca</a:t>
            </a:r>
            <a:endParaRPr lang="en-US" sz="1250" dirty="0"/>
          </a:p>
        </p:txBody>
      </p:sp>
      <p:sp>
        <p:nvSpPr>
          <p:cNvPr id="8" name="Shape 6"/>
          <p:cNvSpPr/>
          <p:nvPr/>
        </p:nvSpPr>
        <p:spPr>
          <a:xfrm>
            <a:off x="4474464"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Shape 7"/>
          <p:cNvSpPr/>
          <p:nvPr/>
        </p:nvSpPr>
        <p:spPr>
          <a:xfrm>
            <a:off x="4474464" y="1920240"/>
            <a:ext cx="3240024" cy="640080"/>
          </a:xfrm>
          <a:prstGeom prst="rect">
            <a:avLst/>
          </a:prstGeom>
          <a:solidFill>
            <a:srgbClr val="12283D"/>
          </a:solidFill>
          <a:ln/>
        </p:spPr>
      </p:sp>
      <p:sp>
        <p:nvSpPr>
          <p:cNvPr id="10" name="Text 8"/>
          <p:cNvSpPr/>
          <p:nvPr/>
        </p:nvSpPr>
        <p:spPr>
          <a:xfrm>
            <a:off x="4474464"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Básico</a:t>
            </a:r>
            <a:endParaRPr lang="en-US" sz="1500" dirty="0"/>
          </a:p>
        </p:txBody>
      </p:sp>
      <p:sp>
        <p:nvSpPr>
          <p:cNvPr id="11" name="Text 9"/>
          <p:cNvSpPr/>
          <p:nvPr/>
        </p:nvSpPr>
        <p:spPr>
          <a:xfrm>
            <a:off x="4703064"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Verificado e com informações corretas, mas sem avaliações nem atualização</a:t>
            </a:r>
            <a:endParaRPr lang="en-US" sz="1250" dirty="0"/>
          </a:p>
        </p:txBody>
      </p:sp>
      <p:sp>
        <p:nvSpPr>
          <p:cNvPr id="12" name="Shape 10"/>
          <p:cNvSpPr/>
          <p:nvPr/>
        </p:nvSpPr>
        <p:spPr>
          <a:xfrm>
            <a:off x="8125968"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8125968" y="1920240"/>
            <a:ext cx="3240024" cy="640080"/>
          </a:xfrm>
          <a:prstGeom prst="rect">
            <a:avLst/>
          </a:prstGeom>
          <a:solidFill>
            <a:srgbClr val="12283D"/>
          </a:solidFill>
          <a:ln/>
        </p:spPr>
      </p:sp>
      <p:sp>
        <p:nvSpPr>
          <p:cNvPr id="14" name="Text 12"/>
          <p:cNvSpPr/>
          <p:nvPr/>
        </p:nvSpPr>
        <p:spPr>
          <a:xfrm>
            <a:off x="8125968"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Completo e ativo</a:t>
            </a:r>
            <a:endParaRPr lang="en-US" sz="1500" dirty="0"/>
          </a:p>
        </p:txBody>
      </p:sp>
      <p:sp>
        <p:nvSpPr>
          <p:cNvPr id="15" name="Text 13"/>
          <p:cNvSpPr/>
          <p:nvPr/>
        </p:nvSpPr>
        <p:spPr>
          <a:xfrm>
            <a:off x="8354568"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Fotos reais, categoria específica, avaliações e postagens periódicas</a:t>
            </a:r>
            <a:endParaRPr lang="en-US" sz="12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3 · INSTRUMENTO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elementos essenciais do perfil</a:t>
            </a:r>
            <a:endParaRPr lang="en-US" sz="2800" dirty="0"/>
          </a:p>
        </p:txBody>
      </p:sp>
      <p:sp>
        <p:nvSpPr>
          <p:cNvPr id="4" name="Shape 2"/>
          <p:cNvSpPr/>
          <p:nvPr/>
        </p:nvSpPr>
        <p:spPr>
          <a:xfrm>
            <a:off x="822960"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51560"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Fotos reais</a:t>
            </a:r>
            <a:endParaRPr lang="en-US" sz="2200" dirty="0"/>
          </a:p>
        </p:txBody>
      </p:sp>
      <p:sp>
        <p:nvSpPr>
          <p:cNvPr id="6" name="Text 4"/>
          <p:cNvSpPr/>
          <p:nvPr/>
        </p:nvSpPr>
        <p:spPr>
          <a:xfrm>
            <a:off x="1051560"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Do espaço de atendimento e do profissional</a:t>
            </a:r>
            <a:endParaRPr lang="en-US" sz="1100" dirty="0"/>
          </a:p>
        </p:txBody>
      </p:sp>
      <p:sp>
        <p:nvSpPr>
          <p:cNvPr id="7" name="Text 5"/>
          <p:cNvSpPr/>
          <p:nvPr/>
        </p:nvSpPr>
        <p:spPr>
          <a:xfrm>
            <a:off x="1051560"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Aumenta a confiança de quem nunca visitou o consultório.</a:t>
            </a:r>
            <a:endParaRPr lang="en-US" sz="1200" dirty="0"/>
          </a:p>
        </p:txBody>
      </p:sp>
      <p:sp>
        <p:nvSpPr>
          <p:cNvPr id="8" name="Shape 6"/>
          <p:cNvSpPr/>
          <p:nvPr/>
        </p:nvSpPr>
        <p:spPr>
          <a:xfrm>
            <a:off x="4474464"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4703064"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Horário atual</a:t>
            </a:r>
            <a:endParaRPr lang="en-US" sz="2200" dirty="0"/>
          </a:p>
        </p:txBody>
      </p:sp>
      <p:sp>
        <p:nvSpPr>
          <p:cNvPr id="10" name="Text 8"/>
          <p:cNvSpPr/>
          <p:nvPr/>
        </p:nvSpPr>
        <p:spPr>
          <a:xfrm>
            <a:off x="4703064"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Dias e horários de atendimento sempre atualizados</a:t>
            </a:r>
            <a:endParaRPr lang="en-US" sz="1100" dirty="0"/>
          </a:p>
        </p:txBody>
      </p:sp>
      <p:sp>
        <p:nvSpPr>
          <p:cNvPr id="11" name="Text 9"/>
          <p:cNvSpPr/>
          <p:nvPr/>
        </p:nvSpPr>
        <p:spPr>
          <a:xfrm>
            <a:off x="4703064"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Informação errada frustra antes mesmo do primeiro contato.</a:t>
            </a:r>
            <a:endParaRPr lang="en-US" sz="1200" dirty="0"/>
          </a:p>
        </p:txBody>
      </p:sp>
      <p:sp>
        <p:nvSpPr>
          <p:cNvPr id="12" name="Shape 10"/>
          <p:cNvSpPr/>
          <p:nvPr/>
        </p:nvSpPr>
        <p:spPr>
          <a:xfrm>
            <a:off x="8125968"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8354568"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Descrição clara</a:t>
            </a:r>
            <a:endParaRPr lang="en-US" sz="2200" dirty="0"/>
          </a:p>
        </p:txBody>
      </p:sp>
      <p:sp>
        <p:nvSpPr>
          <p:cNvPr id="14" name="Text 12"/>
          <p:cNvSpPr/>
          <p:nvPr/>
        </p:nvSpPr>
        <p:spPr>
          <a:xfrm>
            <a:off x="8354568"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Especialidade e forma de atendimento explicadas</a:t>
            </a:r>
            <a:endParaRPr lang="en-US" sz="1100" dirty="0"/>
          </a:p>
        </p:txBody>
      </p:sp>
      <p:sp>
        <p:nvSpPr>
          <p:cNvPr id="15" name="Text 13"/>
          <p:cNvSpPr/>
          <p:nvPr/>
        </p:nvSpPr>
        <p:spPr>
          <a:xfrm>
            <a:off x="8354568"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Ajuda o Google a mostrar seu perfil pras buscas certas.</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Configurando o perfil: 4 passos</a:t>
            </a:r>
            <a:endParaRPr lang="en-US" sz="2800" dirty="0"/>
          </a:p>
        </p:txBody>
      </p:sp>
      <p:sp>
        <p:nvSpPr>
          <p:cNvPr id="4" name="Shape 2"/>
          <p:cNvSpPr/>
          <p:nvPr/>
        </p:nvSpPr>
        <p:spPr>
          <a:xfrm>
            <a:off x="1723644" y="2286000"/>
            <a:ext cx="731520" cy="731520"/>
          </a:xfrm>
          <a:prstGeom prst="ellipse">
            <a:avLst/>
          </a:prstGeom>
          <a:solidFill>
            <a:srgbClr val="C1652F"/>
          </a:solidFill>
          <a:ln/>
        </p:spPr>
      </p:sp>
      <p:sp>
        <p:nvSpPr>
          <p:cNvPr id="5" name="Text 3"/>
          <p:cNvSpPr/>
          <p:nvPr/>
        </p:nvSpPr>
        <p:spPr>
          <a:xfrm>
            <a:off x="1723644"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914400"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Reivindicar</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e verificar</a:t>
            </a:r>
            <a:endParaRPr lang="en-US" sz="1400" dirty="0"/>
          </a:p>
        </p:txBody>
      </p:sp>
      <p:sp>
        <p:nvSpPr>
          <p:cNvPr id="7" name="Text 5"/>
          <p:cNvSpPr/>
          <p:nvPr/>
        </p:nvSpPr>
        <p:spPr>
          <a:xfrm>
            <a:off x="1051560"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 primeiro passo obrigatório antes de qualquer outro ajuste</a:t>
            </a:r>
            <a:endParaRPr lang="en-US" sz="1100" dirty="0"/>
          </a:p>
        </p:txBody>
      </p:sp>
      <p:sp>
        <p:nvSpPr>
          <p:cNvPr id="8" name="Text 6"/>
          <p:cNvSpPr/>
          <p:nvPr/>
        </p:nvSpPr>
        <p:spPr>
          <a:xfrm>
            <a:off x="3264408"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393692" y="2286000"/>
            <a:ext cx="731520" cy="731520"/>
          </a:xfrm>
          <a:prstGeom prst="ellipse">
            <a:avLst/>
          </a:prstGeom>
          <a:solidFill>
            <a:srgbClr val="C1652F"/>
          </a:solidFill>
          <a:ln/>
        </p:spPr>
      </p:sp>
      <p:sp>
        <p:nvSpPr>
          <p:cNvPr id="10" name="Text 8"/>
          <p:cNvSpPr/>
          <p:nvPr/>
        </p:nvSpPr>
        <p:spPr>
          <a:xfrm>
            <a:off x="4393692"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584448"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Preencher todas</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as informações</a:t>
            </a:r>
            <a:endParaRPr lang="en-US" sz="1400" dirty="0"/>
          </a:p>
        </p:txBody>
      </p:sp>
      <p:sp>
        <p:nvSpPr>
          <p:cNvPr id="12" name="Text 10"/>
          <p:cNvSpPr/>
          <p:nvPr/>
        </p:nvSpPr>
        <p:spPr>
          <a:xfrm>
            <a:off x="3721608"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Categoria, endereço, horário, telefone e site</a:t>
            </a:r>
            <a:endParaRPr lang="en-US" sz="1100" dirty="0"/>
          </a:p>
        </p:txBody>
      </p:sp>
      <p:sp>
        <p:nvSpPr>
          <p:cNvPr id="13" name="Text 11"/>
          <p:cNvSpPr/>
          <p:nvPr/>
        </p:nvSpPr>
        <p:spPr>
          <a:xfrm>
            <a:off x="5934456"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7063740" y="2286000"/>
            <a:ext cx="731520" cy="731520"/>
          </a:xfrm>
          <a:prstGeom prst="ellipse">
            <a:avLst/>
          </a:prstGeom>
          <a:solidFill>
            <a:srgbClr val="C1652F"/>
          </a:solidFill>
          <a:ln/>
        </p:spPr>
      </p:sp>
      <p:sp>
        <p:nvSpPr>
          <p:cNvPr id="15" name="Text 13"/>
          <p:cNvSpPr/>
          <p:nvPr/>
        </p:nvSpPr>
        <p:spPr>
          <a:xfrm>
            <a:off x="706374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6254496"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Cuidar das</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avaliações</a:t>
            </a:r>
            <a:endParaRPr lang="en-US" sz="1400" dirty="0"/>
          </a:p>
        </p:txBody>
      </p:sp>
      <p:sp>
        <p:nvSpPr>
          <p:cNvPr id="17" name="Text 15"/>
          <p:cNvSpPr/>
          <p:nvPr/>
        </p:nvSpPr>
        <p:spPr>
          <a:xfrm>
            <a:off x="6391656"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Dentro dos limites éticos do Bloco 2 — nunca solicitar depoimento de conteúdo</a:t>
            </a:r>
            <a:endParaRPr lang="en-US" sz="1100" dirty="0"/>
          </a:p>
        </p:txBody>
      </p:sp>
      <p:sp>
        <p:nvSpPr>
          <p:cNvPr id="18" name="Text 16"/>
          <p:cNvSpPr/>
          <p:nvPr/>
        </p:nvSpPr>
        <p:spPr>
          <a:xfrm>
            <a:off x="8604504"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733788" y="2286000"/>
            <a:ext cx="731520" cy="731520"/>
          </a:xfrm>
          <a:prstGeom prst="ellipse">
            <a:avLst/>
          </a:prstGeom>
          <a:solidFill>
            <a:srgbClr val="C1652F"/>
          </a:solidFill>
          <a:ln/>
        </p:spPr>
      </p:sp>
      <p:sp>
        <p:nvSpPr>
          <p:cNvPr id="20" name="Text 18"/>
          <p:cNvSpPr/>
          <p:nvPr/>
        </p:nvSpPr>
        <p:spPr>
          <a:xfrm>
            <a:off x="9733788"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8924544"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Publicar</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atualizações</a:t>
            </a:r>
            <a:endParaRPr lang="en-US" sz="1400" dirty="0"/>
          </a:p>
        </p:txBody>
      </p:sp>
      <p:sp>
        <p:nvSpPr>
          <p:cNvPr id="22" name="Text 20"/>
          <p:cNvSpPr/>
          <p:nvPr/>
        </p:nvSpPr>
        <p:spPr>
          <a:xfrm>
            <a:off x="9061704"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Pequenas postagens periódicas mantêm o perfil ativo aos olhos do Google</a:t>
            </a:r>
            <a:endParaRPr lang="en-US" sz="1100" dirty="0"/>
          </a:p>
        </p:txBody>
      </p:sp>
      <p:sp>
        <p:nvSpPr>
          <p:cNvPr id="23" name="Text 21"/>
          <p:cNvSpPr/>
          <p:nvPr/>
        </p:nvSpPr>
        <p:spPr>
          <a:xfrm>
            <a:off x="822960" y="5349240"/>
            <a:ext cx="9601200" cy="45720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Esses 4 passos, feitos uma vez e mantidos, valem mais do que qualquer post avulso nas redes sociais pra quem atende presencialmente.</a:t>
            </a:r>
            <a:endParaRPr lang="en-US" sz="13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25" name="Text 2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1 e 2,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Reivindicar e verificar</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Acesse o Google Empresas e busque se já existe um perfil não reivindicado com seu nome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A verificação costuma ser feita por cartão postal, telefone ou vídeo, conforme a região</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Preencher todas as informações</a:t>
            </a:r>
            <a:endParaRPr lang="en-US" sz="1600" dirty="0"/>
          </a:p>
        </p:txBody>
      </p:sp>
      <p:sp>
        <p:nvSpPr>
          <p:cNvPr id="13" name="Text 11"/>
          <p:cNvSpPr/>
          <p:nvPr/>
        </p:nvSpPr>
        <p:spPr>
          <a:xfrm>
            <a:off x="6492240" y="2697480"/>
            <a:ext cx="4663440" cy="1188720"/>
          </a:xfrm>
          <a:prstGeom prst="rect">
            <a:avLst/>
          </a:prstGeom>
          <a:noFill/>
          <a:ln/>
        </p:spPr>
        <p:txBody>
          <a:bodyPr wrap="square" lIns="0" tIns="0" rIns="0" bIns="0" rtlCol="0" anchor="ctr"/>
          <a:lstStyle/>
          <a:p>
            <a:pPr indent="0" marL="0">
              <a:buNone/>
            </a:pPr>
            <a:r>
              <a:rPr lang="en-US" sz="1300" i="1" dirty="0">
                <a:solidFill>
                  <a:srgbClr val="6B6153"/>
                </a:solidFill>
                <a:latin typeface="Calibri" pitchFamily="34" charset="0"/>
                <a:ea typeface="Calibri" pitchFamily="34" charset="-122"/>
                <a:cs typeface="Calibri" pitchFamily="34" charset="-120"/>
              </a:rPr>
              <a:t>“Um estranho, olhando só esse perfil, entenderia onde fica, quando atende e o que você faz?”</a:t>
            </a:r>
            <a:endParaRPr lang="en-US" sz="1300" dirty="0"/>
          </a:p>
        </p:txBody>
      </p:sp>
      <p:sp>
        <p:nvSpPr>
          <p:cNvPr id="14" name="Text 12"/>
          <p:cNvSpPr/>
          <p:nvPr/>
        </p:nvSpPr>
        <p:spPr>
          <a:xfrm>
            <a:off x="6492240" y="402336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Categoria principal: "Psicólogo", não uma opção genérica de saúde</a:t>
            </a:r>
            <a:endParaRPr lang="en-US" sz="12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3 e 4,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Cuidar das avaliações</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Você pode convidar pacientes a deixar uma avaliação — nunca pedir que descrevam o motivo do atendimento ou o resultado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Nunca reposte ou capture avaliações como peça publicitária em outro canal — isso recria o problema do Módulo 2.1</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Publicar atualizações</a:t>
            </a:r>
            <a:endParaRPr lang="en-US" sz="1600" dirty="0"/>
          </a:p>
        </p:txBody>
      </p:sp>
      <p:sp>
        <p:nvSpPr>
          <p:cNvPr id="13" name="Text 11"/>
          <p:cNvSpPr/>
          <p:nvPr/>
        </p:nvSpPr>
        <p:spPr>
          <a:xfrm>
            <a:off x="649224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Pequenas novidades: novo horário, tema de atendimento, ou aviso de recesso</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Frequência baixa é normal — o importante é o perfil não parecer abandonado</a:t>
            </a:r>
            <a:endParaRPr lang="en-US" sz="125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APLICAÇÃO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Estudo de caso</a:t>
            </a:r>
            <a:endParaRPr lang="en-US" sz="2800" dirty="0"/>
          </a:p>
        </p:txBody>
      </p:sp>
      <p:sp>
        <p:nvSpPr>
          <p:cNvPr id="4" name="Shape 2"/>
          <p:cNvSpPr/>
          <p:nvPr/>
        </p:nvSpPr>
        <p:spPr>
          <a:xfrm>
            <a:off x="822960" y="1783080"/>
            <a:ext cx="10515600" cy="18288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97280" y="1965960"/>
            <a:ext cx="9966960" cy="1463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Um psicólogo atende presencialmente há 3 anos num bairro bem localizado, mas ao buscar "psicólogo" nesse bairro no Google, seu nome nem aparece na primeira página. Seu perfil no Google foi criado automaticamente pela plataforma, nunca foi verificado, e está com o endereço antigo, de um consultório de dois anos atrás.</a:t>
            </a:r>
            <a:endParaRPr lang="en-US" sz="1500" dirty="0"/>
          </a:p>
        </p:txBody>
      </p:sp>
      <p:sp>
        <p:nvSpPr>
          <p:cNvPr id="6" name="Text 4"/>
          <p:cNvSpPr/>
          <p:nvPr/>
        </p:nvSpPr>
        <p:spPr>
          <a:xfrm>
            <a:off x="822960" y="3886200"/>
            <a:ext cx="5486400" cy="36576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Discussão guiada</a:t>
            </a:r>
            <a:endParaRPr lang="en-US" sz="1600" dirty="0"/>
          </a:p>
        </p:txBody>
      </p:sp>
      <p:sp>
        <p:nvSpPr>
          <p:cNvPr id="7" name="Text 5"/>
          <p:cNvSpPr/>
          <p:nvPr/>
        </p:nvSpPr>
        <p:spPr>
          <a:xfrm>
            <a:off x="822960" y="4297680"/>
            <a:ext cx="10058400" cy="16459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Quais dos 4 pilares do slide 4 provavelmente estão comprometidos nesse perfil?</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Por que um endereço desatualizado prejudica tanto a proximidade quanto a relevância?</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Por onde esse psicólogo deveria começar, seguindo os 4 passos do protocolo?</a:t>
            </a:r>
            <a:endParaRPr lang="en-US" sz="1400" dirty="0"/>
          </a:p>
        </p:txBody>
      </p:sp>
      <p:sp>
        <p:nvSpPr>
          <p:cNvPr id="8"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5 · ENCAMINHAMENTO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Quando buscar ajuda especializada</a:t>
            </a:r>
            <a:endParaRPr lang="en-US" sz="2800" dirty="0"/>
          </a:p>
        </p:txBody>
      </p:sp>
      <p:sp>
        <p:nvSpPr>
          <p:cNvPr id="4" name="Shape 2"/>
          <p:cNvSpPr/>
          <p:nvPr/>
        </p:nvSpPr>
        <p:spPr>
          <a:xfrm>
            <a:off x="822960" y="196596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212848"/>
            <a:ext cx="274320" cy="274320"/>
          </a:xfrm>
          <a:prstGeom prst="ellipse">
            <a:avLst/>
          </a:prstGeom>
          <a:solidFill>
            <a:srgbClr val="C1652F"/>
          </a:solidFill>
          <a:ln/>
        </p:spPr>
      </p:sp>
      <p:sp>
        <p:nvSpPr>
          <p:cNvPr id="6" name="Text 4"/>
          <p:cNvSpPr/>
          <p:nvPr/>
        </p:nvSpPr>
        <p:spPr>
          <a:xfrm>
            <a:off x="1508760" y="196596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Perfil configurado corretamente, mas ainda sem visibilidade após meses: considerar consultoria de SEO local especializada</a:t>
            </a:r>
            <a:endParaRPr lang="en-US" sz="1300" dirty="0"/>
          </a:p>
        </p:txBody>
      </p:sp>
      <p:sp>
        <p:nvSpPr>
          <p:cNvPr id="7" name="Shape 5"/>
          <p:cNvSpPr/>
          <p:nvPr/>
        </p:nvSpPr>
        <p:spPr>
          <a:xfrm>
            <a:off x="822960" y="292608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8" name="Shape 6"/>
          <p:cNvSpPr/>
          <p:nvPr/>
        </p:nvSpPr>
        <p:spPr>
          <a:xfrm>
            <a:off x="1051560" y="3172968"/>
            <a:ext cx="274320" cy="274320"/>
          </a:xfrm>
          <a:prstGeom prst="ellipse">
            <a:avLst/>
          </a:prstGeom>
          <a:solidFill>
            <a:srgbClr val="C1652F"/>
          </a:solidFill>
          <a:ln/>
        </p:spPr>
      </p:sp>
      <p:sp>
        <p:nvSpPr>
          <p:cNvPr id="9" name="Text 7"/>
          <p:cNvSpPr/>
          <p:nvPr/>
        </p:nvSpPr>
        <p:spPr>
          <a:xfrm>
            <a:off x="1508760" y="292608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Site próprio inexistente ou desatualizado: priorizar a criação de uma página simples antes de investir em outros canais</a:t>
            </a:r>
            <a:endParaRPr lang="en-US" sz="1300" dirty="0"/>
          </a:p>
        </p:txBody>
      </p:sp>
      <p:sp>
        <p:nvSpPr>
          <p:cNvPr id="10" name="Shape 8"/>
          <p:cNvSpPr/>
          <p:nvPr/>
        </p:nvSpPr>
        <p:spPr>
          <a:xfrm>
            <a:off x="822960" y="388620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1051560" y="4133088"/>
            <a:ext cx="274320" cy="274320"/>
          </a:xfrm>
          <a:prstGeom prst="ellipse">
            <a:avLst/>
          </a:prstGeom>
          <a:solidFill>
            <a:srgbClr val="C1652F"/>
          </a:solidFill>
          <a:ln/>
        </p:spPr>
      </p:sp>
      <p:sp>
        <p:nvSpPr>
          <p:cNvPr id="12" name="Text 10"/>
          <p:cNvSpPr/>
          <p:nvPr/>
        </p:nvSpPr>
        <p:spPr>
          <a:xfrm>
            <a:off x="1508760" y="388620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Volume de avaliações crescendo com comentários fora do esperado: revisar com base nos critérios éticos do Bloco 2</a:t>
            </a:r>
            <a:endParaRPr lang="en-US" sz="1300" dirty="0"/>
          </a:p>
        </p:txBody>
      </p:sp>
      <p:sp>
        <p:nvSpPr>
          <p:cNvPr id="13" name="Shape 11"/>
          <p:cNvSpPr/>
          <p:nvPr/>
        </p:nvSpPr>
        <p:spPr>
          <a:xfrm>
            <a:off x="822960" y="484632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1051560" y="5093208"/>
            <a:ext cx="274320" cy="274320"/>
          </a:xfrm>
          <a:prstGeom prst="ellipse">
            <a:avLst/>
          </a:prstGeom>
          <a:solidFill>
            <a:srgbClr val="C1652F"/>
          </a:solidFill>
          <a:ln/>
        </p:spPr>
      </p:sp>
      <p:sp>
        <p:nvSpPr>
          <p:cNvPr id="15" name="Text 13"/>
          <p:cNvSpPr/>
          <p:nvPr/>
        </p:nvSpPr>
        <p:spPr>
          <a:xfrm>
            <a:off x="1508760" y="484632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Dúvida técnica sobre verificação ou configuração do perfil: consultar a central de ajuda oficial do Google Empresas</a:t>
            </a:r>
            <a:endParaRPr lang="en-US" sz="13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Encontrado no Google — Módulo 4.2</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RECAPITULANDO</a:t>
            </a:r>
            <a:endParaRPr lang="en-US" sz="1100" dirty="0"/>
          </a:p>
        </p:txBody>
      </p:sp>
      <p:sp>
        <p:nvSpPr>
          <p:cNvPr id="3" name="Text 1"/>
          <p:cNvSpPr/>
          <p:nvPr/>
        </p:nvSpPr>
        <p:spPr>
          <a:xfrm>
            <a:off x="777240" y="118872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 que leva desta aula</a:t>
            </a:r>
            <a:endParaRPr lang="en-US" sz="3200" dirty="0"/>
          </a:p>
        </p:txBody>
      </p:sp>
      <p:sp>
        <p:nvSpPr>
          <p:cNvPr id="4" name="Text 2"/>
          <p:cNvSpPr/>
          <p:nvPr/>
        </p:nvSpPr>
        <p:spPr>
          <a:xfrm>
            <a:off x="822960" y="2194560"/>
            <a:ext cx="8869680" cy="23774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Quem busca no Google já decidiu resolver algo — é o público mais próximo de agendar</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Proximidade, relevância e notoriedade são os 3 fatores que decidem quem aparece primeiro</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Avaliações podem ser incentivadas, mas nunca solicitadas com conteúdo específico — e nunca reutilizadas como peça publicitária</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Reivindicar, preencher, cuidar das avaliações e publicar atualizações resolvem a maioria dos casos de baixa visibilidade</a:t>
            </a:r>
            <a:endParaRPr lang="en-US" sz="1700" dirty="0"/>
          </a:p>
        </p:txBody>
      </p:sp>
      <p:sp>
        <p:nvSpPr>
          <p:cNvPr id="5" name="Shape 3"/>
          <p:cNvSpPr/>
          <p:nvPr/>
        </p:nvSpPr>
        <p:spPr>
          <a:xfrm>
            <a:off x="822960" y="4846320"/>
            <a:ext cx="8686800" cy="1051560"/>
          </a:xfrm>
          <a:prstGeom prst="roundRect">
            <a:avLst>
              <a:gd name="adj" fmla="val 6957"/>
            </a:avLst>
          </a:prstGeom>
          <a:solidFill>
            <a:srgbClr val="1A3350"/>
          </a:solidFill>
          <a:ln/>
        </p:spPr>
      </p:sp>
      <p:sp>
        <p:nvSpPr>
          <p:cNvPr id="6" name="Text 4"/>
          <p:cNvSpPr/>
          <p:nvPr/>
        </p:nvSpPr>
        <p:spPr>
          <a:xfrm>
            <a:off x="1097280" y="4846320"/>
            <a:ext cx="8229600" cy="1051560"/>
          </a:xfrm>
          <a:prstGeom prst="rect">
            <a:avLst/>
          </a:prstGeom>
          <a:noFill/>
          <a:ln/>
        </p:spPr>
        <p:txBody>
          <a:bodyPr wrap="square" lIns="0" tIns="0" rIns="0" bIns="0" rtlCol="0" anchor="ctr"/>
          <a:lstStyle/>
          <a:p>
            <a:pPr indent="0" marL="0">
              <a:buNone/>
            </a:pPr>
            <a:r>
              <a:rPr lang="en-US" sz="1500" b="1" dirty="0">
                <a:solidFill>
                  <a:srgbClr val="D99A73"/>
                </a:solidFill>
                <a:latin typeface="Calibri" pitchFamily="34" charset="0"/>
                <a:ea typeface="Calibri" pitchFamily="34" charset="-122"/>
                <a:cs typeface="Calibri" pitchFamily="34" charset="-120"/>
              </a:rPr>
              <a:t>Próximo: exercícios práticos e avaliação do Módulo 4.2 →</a:t>
            </a:r>
            <a:endParaRPr lang="en-US" sz="1500" dirty="0"/>
          </a:p>
        </p:txBody>
      </p:sp>
      <p:sp>
        <p:nvSpPr>
          <p:cNvPr id="7"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8FA0B3"/>
                </a:solidFill>
                <a:latin typeface="Calibri" pitchFamily="34" charset="0"/>
                <a:ea typeface="Calibri" pitchFamily="34" charset="-122"/>
                <a:cs typeface="Calibri" pitchFamily="34" charset="-120"/>
              </a:rPr>
              <a:t>Encontrado no Google — Módulo 4.2</a:t>
            </a:r>
            <a:endParaRPr lang="en-US" sz="900" dirty="0"/>
          </a:p>
        </p:txBody>
      </p:sp>
      <p:sp>
        <p:nvSpPr>
          <p:cNvPr id="8"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8FA0B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Encontrado no Google — Google Meu Negócio e SEO Local</dc:title>
  <dc:subject>PptxGenJS Presentation</dc:subject>
  <dc:creator>Dioclides</dc:creator>
  <cp:lastModifiedBy>Dioclides</cp:lastModifiedBy>
  <cp:revision>1</cp:revision>
  <dcterms:created xsi:type="dcterms:W3CDTF">2026-07-10T16:53:15Z</dcterms:created>
  <dcterms:modified xsi:type="dcterms:W3CDTF">2026-07-10T16:53:15Z</dcterms:modified>
</cp:coreProperties>
</file>