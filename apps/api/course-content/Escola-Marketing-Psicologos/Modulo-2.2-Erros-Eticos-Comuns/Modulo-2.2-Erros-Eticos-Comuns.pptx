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notesMasterIdLst>
    <p:notesMasterId r:id="rId1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13716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2.2 · BLOCO 2 · ÉTICA NA PUBLICIDADE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737360"/>
            <a:ext cx="100584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Os Erros Mais Comuns</a:t>
            </a:r>
            <a:endParaRPr lang="en-US" sz="5600" dirty="0"/>
          </a:p>
        </p:txBody>
      </p:sp>
      <p:sp>
        <p:nvSpPr>
          <p:cNvPr id="4" name="Text 2"/>
          <p:cNvSpPr/>
          <p:nvPr/>
        </p:nvSpPr>
        <p:spPr>
          <a:xfrm>
            <a:off x="822960" y="2880360"/>
            <a:ext cx="9601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BD8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Estudos de caso reais dos deslizes éticos mais frequentes em marketing de psicólogos</a:t>
            </a:r>
            <a:endParaRPr lang="en-US" sz="2100" dirty="0"/>
          </a:p>
        </p:txBody>
      </p:sp>
      <p:sp>
        <p:nvSpPr>
          <p:cNvPr id="5" name="Shape 3"/>
          <p:cNvSpPr/>
          <p:nvPr/>
        </p:nvSpPr>
        <p:spPr>
          <a:xfrm>
            <a:off x="822960" y="4160520"/>
            <a:ext cx="384048" cy="38404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50292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Padrões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60604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9" name="Text 7"/>
          <p:cNvSpPr/>
          <p:nvPr/>
        </p:nvSpPr>
        <p:spPr>
          <a:xfrm>
            <a:off x="260604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228600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Gravidade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38912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2" name="Text 10"/>
          <p:cNvSpPr/>
          <p:nvPr/>
        </p:nvSpPr>
        <p:spPr>
          <a:xfrm>
            <a:off x="438912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06908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Sinais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17220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5" name="Text 13"/>
          <p:cNvSpPr/>
          <p:nvPr/>
        </p:nvSpPr>
        <p:spPr>
          <a:xfrm>
            <a:off x="617220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85216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Prevenção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955280" y="4160520"/>
            <a:ext cx="384048" cy="384048"/>
          </a:xfrm>
          <a:prstGeom prst="ellipse">
            <a:avLst/>
          </a:prstGeom>
          <a:solidFill>
            <a:srgbClr val="1A3350"/>
          </a:solidFill>
          <a:ln/>
        </p:spPr>
      </p:sp>
      <p:sp>
        <p:nvSpPr>
          <p:cNvPr id="18" name="Text 16"/>
          <p:cNvSpPr/>
          <p:nvPr/>
        </p:nvSpPr>
        <p:spPr>
          <a:xfrm>
            <a:off x="7955280" y="41605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7635240" y="4617720"/>
            <a:ext cx="1783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AEBFD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Casos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822960" y="603504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E93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Escola de Marketing para Psicólogos — by Dioclides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50292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ROTEIRO DESTA AULA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7724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mesma anatomia de 5 passos, em todo protocolo do curso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454810" y="2240280"/>
            <a:ext cx="640080" cy="64008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454810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960120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padrões de erro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005840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deslizes que mais se repetem, mesmo entre profissionais cuidadosos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2982773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14623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1" name="Text 9"/>
          <p:cNvSpPr/>
          <p:nvPr/>
        </p:nvSpPr>
        <p:spPr>
          <a:xfrm>
            <a:off x="3614623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3119933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o erro se instala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165653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caminho comum entre boa intenção e post problemático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142586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774436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6" name="Text 14"/>
          <p:cNvSpPr/>
          <p:nvPr/>
        </p:nvSpPr>
        <p:spPr>
          <a:xfrm>
            <a:off x="5774436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5279746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Gravidade do erro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5325466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Nem todo deslize tem o mesmo peso — mas todos merecem atenção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7302398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7934249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1" name="Text 19"/>
          <p:cNvSpPr/>
          <p:nvPr/>
        </p:nvSpPr>
        <p:spPr>
          <a:xfrm>
            <a:off x="7934249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7439558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prevenir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7485278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processo simples que evita a maioria dos problemas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9462211" y="1920240"/>
            <a:ext cx="1903781" cy="3383280"/>
          </a:xfrm>
          <a:prstGeom prst="roundRect">
            <a:avLst>
              <a:gd name="adj" fmla="val 480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094062" y="2240280"/>
            <a:ext cx="640080" cy="64008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26" name="Text 24"/>
          <p:cNvSpPr/>
          <p:nvPr/>
        </p:nvSpPr>
        <p:spPr>
          <a:xfrm>
            <a:off x="10094062" y="224028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9599371" y="3063240"/>
            <a:ext cx="1629461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Casos reais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9645091" y="3611880"/>
            <a:ext cx="1538021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Analisando dois casos completos, do início ao fim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Erros Mais Comuns — Módulo 2.2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ANTES DE COMEÇAR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822960" y="1371600"/>
            <a:ext cx="98755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34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 maioria dos processos éticos contra psicólogos por publicidade não nasce de má intenção — nasce de um post feito às pressas, sem rodar as 4 perguntas do módulo anterior.</a:t>
            </a:r>
            <a:endParaRPr lang="en-US" sz="3400" dirty="0"/>
          </a:p>
        </p:txBody>
      </p:sp>
      <p:sp>
        <p:nvSpPr>
          <p:cNvPr id="4" name="Text 2"/>
          <p:cNvSpPr/>
          <p:nvPr/>
        </p:nvSpPr>
        <p:spPr>
          <a:xfrm>
            <a:off x="822960" y="3931920"/>
            <a:ext cx="795528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 módulo examina os erros mais recorrentes de perto, com estudos de caso reais, pra você reconhecer o padrão antes de repeti-lo.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Erros Mais Comuns — Módulo 2.2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padrões de erro mais recorrentes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691640"/>
            <a:ext cx="5120640" cy="4023360"/>
          </a:xfrm>
          <a:prstGeom prst="ellipse">
            <a:avLst/>
          </a:prstGeom>
          <a:solidFill>
            <a:srgbClr val="EFE8D9"/>
          </a:solidFill>
          <a:ln w="25400">
            <a:solidFill>
              <a:srgbClr val="12283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847088" y="2576779"/>
            <a:ext cx="457200" cy="457200"/>
          </a:xfrm>
          <a:prstGeom prst="ellipse">
            <a:avLst/>
          </a:prstGeom>
          <a:solidFill>
            <a:srgbClr val="12283D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949501" y="4186123"/>
            <a:ext cx="365760" cy="365760"/>
          </a:xfrm>
          <a:prstGeom prst="ellipse">
            <a:avLst/>
          </a:prstGeom>
          <a:solidFill>
            <a:srgbClr val="C1652F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895344" y="4105656"/>
            <a:ext cx="329184" cy="329184"/>
          </a:xfrm>
          <a:prstGeom prst="ellipse">
            <a:avLst/>
          </a:prstGeom>
          <a:solidFill>
            <a:srgbClr val="63768A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3792931" y="2657246"/>
            <a:ext cx="329184" cy="329184"/>
          </a:xfrm>
          <a:prstGeom prst="ellipse">
            <a:avLst/>
          </a:prstGeom>
          <a:solidFill>
            <a:srgbClr val="D99A73"/>
          </a:solidFill>
          <a:ln w="19050">
            <a:solidFill>
              <a:srgbClr val="FFFF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400800" y="1947672"/>
            <a:ext cx="201168" cy="201168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6720840" y="18745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Depoimento "espontâneo" compartilhado nos stories ou feed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6400800" y="2450592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6720840" y="237744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Storytelling de caso real sem descaracterizar o suficiente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400800" y="2953512"/>
            <a:ext cx="201168" cy="201168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4" name="Text 12"/>
          <p:cNvSpPr/>
          <p:nvPr/>
        </p:nvSpPr>
        <p:spPr>
          <a:xfrm>
            <a:off x="6720840" y="288036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Comparação disfarçada de opinião pessoal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400800" y="3456432"/>
            <a:ext cx="201168" cy="201168"/>
          </a:xfrm>
          <a:prstGeom prst="ellipse">
            <a:avLst/>
          </a:prstGeom>
          <a:solidFill>
            <a:srgbClr val="D99A73"/>
          </a:solidFill>
          <a:ln/>
        </p:spPr>
      </p:sp>
      <p:sp>
        <p:nvSpPr>
          <p:cNvPr id="16" name="Text 14"/>
          <p:cNvSpPr/>
          <p:nvPr/>
        </p:nvSpPr>
        <p:spPr>
          <a:xfrm>
            <a:off x="6720840" y="338328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Urgência artificial: "vagas quase esgotadas" sem ser verdade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0" y="4160520"/>
            <a:ext cx="512064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4 padrões aparecem repetidamente em processos éticos e notificações de CRPs regionais.</a:t>
            </a:r>
            <a:endParaRPr lang="en-US" sz="125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Nenhum deles exige má intenção — todos podem nascer de um impulso genuíno de comunicar bem.</a:t>
            </a:r>
            <a:endParaRPr lang="en-US" sz="1250" dirty="0"/>
          </a:p>
        </p:txBody>
      </p:sp>
      <p:sp>
        <p:nvSpPr>
          <p:cNvPr id="18" name="Text 1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Erros Mais Comuns — Módulo 2.2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Como um erro comum se instala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87552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Boa intenção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987552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Vontade genuína de mostrar que o trabalho funciona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081528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8" name="Shape 6"/>
          <p:cNvSpPr/>
          <p:nvPr/>
        </p:nvSpPr>
        <p:spPr>
          <a:xfrm>
            <a:off x="3584448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749040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Busca por prova social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3749040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Sensação de que "só dizer que ajuda" não é suficiente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843016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2" name="Shape 10"/>
          <p:cNvSpPr/>
          <p:nvPr/>
        </p:nvSpPr>
        <p:spPr>
          <a:xfrm>
            <a:off x="6345936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12283D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6510528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Uso de caso real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510528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"Só um pouquinho", sem perceber que já identifica alguém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604504" y="1965960"/>
            <a:ext cx="5029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600" dirty="0"/>
          </a:p>
        </p:txBody>
      </p:sp>
      <p:sp>
        <p:nvSpPr>
          <p:cNvPr id="16" name="Shape 14"/>
          <p:cNvSpPr/>
          <p:nvPr/>
        </p:nvSpPr>
        <p:spPr>
          <a:xfrm>
            <a:off x="9107424" y="1965960"/>
            <a:ext cx="2258568" cy="1920240"/>
          </a:xfrm>
          <a:prstGeom prst="roundRect">
            <a:avLst>
              <a:gd name="adj" fmla="val 3810"/>
            </a:avLst>
          </a:prstGeom>
          <a:solidFill>
            <a:srgbClr val="C1652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272016" y="2148840"/>
            <a:ext cx="192938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Publicação sem revisão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9272016" y="2651760"/>
            <a:ext cx="1929384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calor do momento, sem tempo de reler com distância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22960" y="4480560"/>
            <a:ext cx="98755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último elo — publicar sem revisão — é o único realmente evitável na hora. É onde a prevenção deste módulo age.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Erros Mais Comuns — Módulo 2.2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1 · MECANISMO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níveis de gravidade do erro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2116836" y="1920240"/>
            <a:ext cx="822960" cy="822960"/>
          </a:xfrm>
          <a:prstGeom prst="ellipse">
            <a:avLst/>
          </a:prstGeom>
          <a:solidFill>
            <a:srgbClr val="12283D"/>
          </a:solidFill>
          <a:ln/>
        </p:spPr>
      </p:sp>
      <p:sp>
        <p:nvSpPr>
          <p:cNvPr id="5" name="Text 3"/>
          <p:cNvSpPr/>
          <p:nvPr/>
        </p:nvSpPr>
        <p:spPr>
          <a:xfrm>
            <a:off x="92811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 leve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111099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Linguagem exagerada, sem promessa explícita nem exposição de terceiros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82996" y="1920240"/>
            <a:ext cx="822960" cy="82296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449427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 moderado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467715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Zona cinzenta cruzada sem perceber — comparação sutil, urgência artificial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9249156" y="1920240"/>
            <a:ext cx="822960" cy="822960"/>
          </a:xfrm>
          <a:prstGeom prst="ellipse">
            <a:avLst/>
          </a:prstGeom>
          <a:solidFill>
            <a:srgbClr val="63768A"/>
          </a:solidFill>
          <a:ln/>
        </p:spPr>
      </p:sp>
      <p:sp>
        <p:nvSpPr>
          <p:cNvPr id="11" name="Text 9"/>
          <p:cNvSpPr/>
          <p:nvPr/>
        </p:nvSpPr>
        <p:spPr>
          <a:xfrm>
            <a:off x="8060436" y="2926080"/>
            <a:ext cx="3200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Erro grave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8243316" y="347472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Depoimento identificável ou promessa explícita de resultado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822960" y="5212080"/>
            <a:ext cx="9601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gravidade determina a urgência da correção — mas todo nível merece revisão antes de se repetir.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Erros Mais Comuns — Módulo 2.2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Sinais de que um erro já pode ter acontecido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938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188720" y="187452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 identificado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3657600" y="187452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Alguém nos comentários reconheceu ou nomeou a pessoa do relato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822960" y="279806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8" name="Text 6"/>
          <p:cNvSpPr/>
          <p:nvPr/>
        </p:nvSpPr>
        <p:spPr>
          <a:xfrm>
            <a:off x="1188720" y="274320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Denúncia ou reclamação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3657600" y="274320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post recebeu algum tipo de queixa formal ou informal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822960" y="366674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1188720" y="361188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Alerta de colega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3657600" y="361188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Outro profissional comentou sobre o conteúdo publicado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22960" y="4535424"/>
            <a:ext cx="201168" cy="201168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4" name="Text 12"/>
          <p:cNvSpPr/>
          <p:nvPr/>
        </p:nvSpPr>
        <p:spPr>
          <a:xfrm>
            <a:off x="1188720" y="4480560"/>
            <a:ext cx="23774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Desconforto ao reler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3657600" y="4480560"/>
            <a:ext cx="75895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Você mesmo, ao reler depois, sente que passou do ponto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Erros Mais Comuns — Módulo 2.2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2 · SINAIS DE ALERTA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tipos de erro, com exemplo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Storytelling arriscado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051560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"Atendi uma paciente que só conseguia sair de casa depois de anos..." — detalhes reconhecíveis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0" name="Text 8"/>
          <p:cNvSpPr/>
          <p:nvPr/>
        </p:nvSpPr>
        <p:spPr>
          <a:xfrm>
            <a:off x="4474464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Prova social disfarçada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4703064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"Vejam essa mensagem que recebi hoje" — depoimento indireto, mesmo sem nome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29184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solidFill>
            <a:srgbClr val="12283D"/>
          </a:solidFill>
          <a:ln/>
        </p:spPr>
      </p:sp>
      <p:sp>
        <p:nvSpPr>
          <p:cNvPr id="14" name="Text 12"/>
          <p:cNvSpPr/>
          <p:nvPr/>
        </p:nvSpPr>
        <p:spPr>
          <a:xfrm>
            <a:off x="8125968" y="1920240"/>
            <a:ext cx="3240024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Urgência artificial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354568" y="274320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"Só restam 2 vagas esta semana" — quando não é verdade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Erros Mais Comuns — Módulo 2.2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3 · INSTRUMENTO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 consequências possíveis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51560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Orientação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1051560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Contato informal do CRP regional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51560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desfecho mais comum e mais leve — uma conversa de ajuste.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474464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703064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Advertência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4703064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formal, sem processo aberto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703064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Já entra no histórico profissional, mas sem sanção maior.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8125968" y="1920240"/>
            <a:ext cx="3240024" cy="3566160"/>
          </a:xfrm>
          <a:prstGeom prst="roundRect">
            <a:avLst>
              <a:gd name="adj" fmla="val 225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8354568" y="2103120"/>
            <a:ext cx="278282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C1652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Processo ético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8354568" y="2606040"/>
            <a:ext cx="278282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Procedimento disciplinar formal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8354568" y="3108960"/>
            <a:ext cx="2782824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Reservado a casos graves ou reincidentes — o desfecho mais sério.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Erros Mais Comuns — Módulo 2.2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Prevenindo o erro: 4 passos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723644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5" name="Text 3"/>
          <p:cNvSpPr/>
          <p:nvPr/>
        </p:nvSpPr>
        <p:spPr>
          <a:xfrm>
            <a:off x="1723644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914400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Revisar com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4 perguntas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51560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mesmas do Módulo 2.1, sempre antes de publicar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264408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9" name="Shape 7"/>
          <p:cNvSpPr/>
          <p:nvPr/>
        </p:nvSpPr>
        <p:spPr>
          <a:xfrm>
            <a:off x="4393692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0" name="Text 8"/>
          <p:cNvSpPr/>
          <p:nvPr/>
        </p:nvSpPr>
        <p:spPr>
          <a:xfrm>
            <a:off x="4393692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584448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Esperar 24h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 conteúdo emocional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3721608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Distância reduz a chance de exagero no calor do momento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934456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4" name="Shape 12"/>
          <p:cNvSpPr/>
          <p:nvPr/>
        </p:nvSpPr>
        <p:spPr>
          <a:xfrm>
            <a:off x="7063740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7063740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6254496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Pedir uma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segunda opinião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6391656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colega vê o que você, envolvido, pode não perceber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8604504" y="228600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B7C2C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200" dirty="0"/>
          </a:p>
        </p:txBody>
      </p:sp>
      <p:sp>
        <p:nvSpPr>
          <p:cNvPr id="19" name="Shape 17"/>
          <p:cNvSpPr/>
          <p:nvPr/>
        </p:nvSpPr>
        <p:spPr>
          <a:xfrm>
            <a:off x="9733788" y="2286000"/>
            <a:ext cx="731520" cy="7315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20" name="Text 18"/>
          <p:cNvSpPr/>
          <p:nvPr/>
        </p:nvSpPr>
        <p:spPr>
          <a:xfrm>
            <a:off x="9733788" y="2286000"/>
            <a:ext cx="731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2200" dirty="0"/>
          </a:p>
        </p:txBody>
      </p:sp>
      <p:sp>
        <p:nvSpPr>
          <p:cNvPr id="21" name="Text 19"/>
          <p:cNvSpPr/>
          <p:nvPr/>
        </p:nvSpPr>
        <p:spPr>
          <a:xfrm>
            <a:off x="8924544" y="3246120"/>
            <a:ext cx="235000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Documentar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1228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checklist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061704" y="4114800"/>
            <a:ext cx="2075688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consistente reduz erro mais que boa intenção sozinha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22960" y="534924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Esses 4 passos custam poucos minutos e evitam a maioria dos erros vistos neste módulo.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Erros Mais Comuns — Módulo 2.2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1 e 2,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Revisar com as 4 perguntas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Releia o texto com as 4 perguntas do Módulo 2.1, uma de cada vez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 qualquer resposta for "sim", pare e reescreva antes de continuar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Esperar 24h em conteúdo emocional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“Esse post ainda vai parecer uma boa ideia amanhã, com a cabeça mais fria?”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402336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Vale especialmente pra conteúdo escrito logo após uma sessão marcante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Erros Mais Comuns — Módulo 2.2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4 · PROTOCOLO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Passos 3 e 4, na prática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05156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64592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Pedir uma segunda opinião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105156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colega, supervisor ou mentor de confiança, antes de publicar algo sensível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Quem não estava envolvido no caso enxerga a exposição com mais clareza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63640" y="1828800"/>
            <a:ext cx="5120640" cy="4023360"/>
          </a:xfrm>
          <a:prstGeom prst="roundRect">
            <a:avLst>
              <a:gd name="adj" fmla="val 18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492240" y="2057400"/>
            <a:ext cx="457200" cy="45720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1" name="Text 9"/>
          <p:cNvSpPr/>
          <p:nvPr/>
        </p:nvSpPr>
        <p:spPr>
          <a:xfrm>
            <a:off x="6492240" y="20574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7086600" y="2084832"/>
            <a:ext cx="4114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Documentar um checklist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492240" y="2697480"/>
            <a:ext cx="466344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o checklist do Módulo 2.4 como rotina fixa, não como exceção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Processo consistente reduz erro melhor do que confiar só na atenção do momento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Erros Mais Comuns — Módulo 2.2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APLICAÇÃO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Estudo de caso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783080"/>
            <a:ext cx="1051560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1097280" y="1965960"/>
            <a:ext cx="996696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psicólogo publica no feed: "Diferente de muitos profissionais que só escutam sem direção, meu método é estruturado e vai direto ao ponto — por isso meus pacientes avançam mais rápido." A publicação gera debate nos comentários, com colegas apontando o tom da comparação.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388620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Discussão guiada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4297680"/>
            <a:ext cx="100584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 padrão de erro do slide 4 esse post exemplifica?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ausência de nomes específicos de colegas resolve o problema ético? Por quê?</a:t>
            </a:r>
            <a:endParaRPr lang="en-US" sz="14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4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Como reescrever esse post comunicando o mesmo diferencial, sem comparação?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Erros Mais Comuns — Módulo 2.2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5F1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45720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A8551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5 · ENCAMINHAMENTO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731520"/>
            <a:ext cx="100584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228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 um erro já aconteceu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822960" y="196596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051560" y="221284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6" name="Text 4"/>
          <p:cNvSpPr/>
          <p:nvPr/>
        </p:nvSpPr>
        <p:spPr>
          <a:xfrm>
            <a:off x="1508760" y="196596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já publicado com problema identificado: remover ou editar assim que possível, sem esperar repercussão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822960" y="292608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1051560" y="317296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9" name="Text 7"/>
          <p:cNvSpPr/>
          <p:nvPr/>
        </p:nvSpPr>
        <p:spPr>
          <a:xfrm>
            <a:off x="1508760" y="292608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Paciente ou terceiro identificado nos comentários: apagar o comentário e revisar a publicação original imediatamente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822960" y="388620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1051560" y="413308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2" name="Text 10"/>
          <p:cNvSpPr/>
          <p:nvPr/>
        </p:nvSpPr>
        <p:spPr>
          <a:xfrm>
            <a:off x="1508760" y="388620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Notificação recebida do CRP: buscar orientação jurídica ou de colega experiente antes de responder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822960" y="4846320"/>
            <a:ext cx="1051560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1051560" y="5093208"/>
            <a:ext cx="274320" cy="274320"/>
          </a:xfrm>
          <a:prstGeom prst="ellipse">
            <a:avLst/>
          </a:prstGeom>
          <a:solidFill>
            <a:srgbClr val="C1652F"/>
          </a:solidFill>
          <a:ln/>
        </p:spPr>
      </p:sp>
      <p:sp>
        <p:nvSpPr>
          <p:cNvPr id="15" name="Text 13"/>
          <p:cNvSpPr/>
          <p:nvPr/>
        </p:nvSpPr>
        <p:spPr>
          <a:xfrm>
            <a:off x="1508760" y="48463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B2B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Dúvida se um conteúdo antigo ainda está no perfil: fazer uma auditoria periódica do próprio feed, não só do que é novo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Erros Mais Comuns — Módulo 2.2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615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2283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22960" y="822960"/>
            <a:ext cx="9144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1652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RECAPITULANDO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777240" y="118872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 que leva desta aula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822960" y="2194560"/>
            <a:ext cx="886968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Depoimento disfarçado, storytelling arriscado, comparação sutil e urgência artificial são os 4 padrões mais recorrentes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maioria dos erros nasce de boa intenção, não de má-fé — o ponto de risco é publicar sem revisão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4 perguntas do Módulo 2.1, aplicadas como rotina, evitam a maioria dos deslizes vistos aqui</a:t>
            </a:r>
            <a:endParaRPr lang="en-US" sz="17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700" dirty="0">
                <a:solidFill>
                  <a:srgbClr val="E4E9E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 erro já publicado deve ser corrigido rapidamente — quanto mais cedo, menor o risco de repercussão</a:t>
            </a:r>
            <a:endParaRPr lang="en-US" sz="1700" dirty="0"/>
          </a:p>
        </p:txBody>
      </p:sp>
      <p:sp>
        <p:nvSpPr>
          <p:cNvPr id="5" name="Shape 3"/>
          <p:cNvSpPr/>
          <p:nvPr/>
        </p:nvSpPr>
        <p:spPr>
          <a:xfrm>
            <a:off x="822960" y="4846320"/>
            <a:ext cx="8686800" cy="1051560"/>
          </a:xfrm>
          <a:prstGeom prst="roundRect">
            <a:avLst>
              <a:gd name="adj" fmla="val 6957"/>
            </a:avLst>
          </a:prstGeom>
          <a:solidFill>
            <a:srgbClr val="1A3350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4846320"/>
            <a:ext cx="822960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D99A7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Próximo: exercícios práticos e avaliação do Módulo 2.2 →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457200" y="644652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Os Erros Mais Comuns — Módulo 2.2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11274552" y="644652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FA0B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Os Erros Mais Comuns — Estudos de Caso Reais</dc:title>
  <dc:subject>PptxGenJS Presentation</dc:subject>
  <dc:creator>Dioclides</dc:creator>
  <cp:lastModifiedBy>Dioclides</cp:lastModifiedBy>
  <cp:revision>1</cp:revision>
  <dcterms:created xsi:type="dcterms:W3CDTF">2026-07-10T16:36:36Z</dcterms:created>
  <dcterms:modified xsi:type="dcterms:W3CDTF">2026-07-10T16:36:36Z</dcterms:modified>
</cp:coreProperties>
</file>