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3D"/>
        </a:solidFill>
      </p:bgPr>
    </p:bg>
    <p:spTree>
      <p:nvGrpSpPr>
        <p:cNvPr id="1" name=""/>
        <p:cNvGrpSpPr/>
        <p:nvPr/>
      </p:nvGrpSpPr>
      <p:grpSpPr>
        <a:xfrm>
          <a:off x="0" y="0"/>
          <a:ext cx="0" cy="0"/>
          <a:chOff x="0" y="0"/>
          <a:chExt cx="0" cy="0"/>
        </a:xfrm>
      </p:grpSpPr>
      <p:sp>
        <p:nvSpPr>
          <p:cNvPr id="2" name="Text 0"/>
          <p:cNvSpPr/>
          <p:nvPr/>
        </p:nvSpPr>
        <p:spPr>
          <a:xfrm>
            <a:off x="822960" y="1371600"/>
            <a:ext cx="9144000" cy="274320"/>
          </a:xfrm>
          <a:prstGeom prst="rect">
            <a:avLst/>
          </a:prstGeom>
          <a:noFill/>
          <a:ln/>
        </p:spPr>
        <p:txBody>
          <a:bodyPr wrap="square" lIns="0" tIns="0" rIns="0" bIns="0" rtlCol="0" anchor="ctr"/>
          <a:lstStyle/>
          <a:p>
            <a:pPr indent="0" marL="0">
              <a:buNone/>
            </a:pPr>
            <a:r>
              <a:rPr lang="en-US" sz="1100" b="1" spc="200" kern="0" dirty="0">
                <a:solidFill>
                  <a:srgbClr val="C1652F"/>
                </a:solidFill>
                <a:latin typeface="Calibri" pitchFamily="34" charset="0"/>
                <a:ea typeface="Calibri" pitchFamily="34" charset="-122"/>
                <a:cs typeface="Calibri" pitchFamily="34" charset="-120"/>
              </a:rPr>
              <a:t>MÓDULO 6.4 · BLOCO 6 · ENCERRAMENTO</a:t>
            </a:r>
            <a:endParaRPr lang="en-US" sz="1100" dirty="0"/>
          </a:p>
        </p:txBody>
      </p:sp>
      <p:sp>
        <p:nvSpPr>
          <p:cNvPr id="3" name="Text 1"/>
          <p:cNvSpPr/>
          <p:nvPr/>
        </p:nvSpPr>
        <p:spPr>
          <a:xfrm>
            <a:off x="777240" y="1737360"/>
            <a:ext cx="10058400" cy="128016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Diversificando Receita</a:t>
            </a:r>
            <a:endParaRPr lang="en-US" sz="5600" dirty="0"/>
          </a:p>
        </p:txBody>
      </p:sp>
      <p:sp>
        <p:nvSpPr>
          <p:cNvPr id="4" name="Text 2"/>
          <p:cNvSpPr/>
          <p:nvPr/>
        </p:nvSpPr>
        <p:spPr>
          <a:xfrm>
            <a:off x="822960" y="2880360"/>
            <a:ext cx="9601200" cy="640080"/>
          </a:xfrm>
          <a:prstGeom prst="rect">
            <a:avLst/>
          </a:prstGeom>
          <a:noFill/>
          <a:ln/>
        </p:spPr>
        <p:txBody>
          <a:bodyPr wrap="square" lIns="0" tIns="0" rIns="0" bIns="0" rtlCol="0" anchor="ctr"/>
          <a:lstStyle/>
          <a:p>
            <a:pPr indent="0" marL="0">
              <a:buNone/>
            </a:pPr>
            <a:r>
              <a:rPr lang="en-US" sz="2100" dirty="0">
                <a:solidFill>
                  <a:srgbClr val="CBD8E5"/>
                </a:solidFill>
                <a:latin typeface="Calibri" pitchFamily="34" charset="0"/>
                <a:ea typeface="Calibri" pitchFamily="34" charset="-122"/>
                <a:cs typeface="Calibri" pitchFamily="34" charset="-120"/>
              </a:rPr>
              <a:t>Formatos que ampliam receita sem depender só de hora de sessão individual</a:t>
            </a:r>
            <a:endParaRPr lang="en-US" sz="2100" dirty="0"/>
          </a:p>
        </p:txBody>
      </p:sp>
      <p:sp>
        <p:nvSpPr>
          <p:cNvPr id="5" name="Shape 3"/>
          <p:cNvSpPr/>
          <p:nvPr/>
        </p:nvSpPr>
        <p:spPr>
          <a:xfrm>
            <a:off x="822960" y="4160520"/>
            <a:ext cx="384048" cy="384048"/>
          </a:xfrm>
          <a:prstGeom prst="ellipse">
            <a:avLst/>
          </a:prstGeom>
          <a:solidFill>
            <a:srgbClr val="C1652F"/>
          </a:solidFill>
          <a:ln/>
        </p:spPr>
      </p:sp>
      <p:sp>
        <p:nvSpPr>
          <p:cNvPr id="6" name="Text 4"/>
          <p:cNvSpPr/>
          <p:nvPr/>
        </p:nvSpPr>
        <p:spPr>
          <a:xfrm>
            <a:off x="82296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50292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Por quê</a:t>
            </a:r>
            <a:endParaRPr lang="en-US" sz="1000" dirty="0"/>
          </a:p>
        </p:txBody>
      </p:sp>
      <p:sp>
        <p:nvSpPr>
          <p:cNvPr id="8" name="Shape 6"/>
          <p:cNvSpPr/>
          <p:nvPr/>
        </p:nvSpPr>
        <p:spPr>
          <a:xfrm>
            <a:off x="2606040" y="4160520"/>
            <a:ext cx="384048" cy="384048"/>
          </a:xfrm>
          <a:prstGeom prst="ellipse">
            <a:avLst/>
          </a:prstGeom>
          <a:solidFill>
            <a:srgbClr val="1A3350"/>
          </a:solidFill>
          <a:ln/>
        </p:spPr>
      </p:sp>
      <p:sp>
        <p:nvSpPr>
          <p:cNvPr id="9" name="Text 7"/>
          <p:cNvSpPr/>
          <p:nvPr/>
        </p:nvSpPr>
        <p:spPr>
          <a:xfrm>
            <a:off x="260604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228600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4 formatos</a:t>
            </a:r>
            <a:endParaRPr lang="en-US" sz="1000" dirty="0"/>
          </a:p>
        </p:txBody>
      </p:sp>
      <p:sp>
        <p:nvSpPr>
          <p:cNvPr id="11" name="Shape 9"/>
          <p:cNvSpPr/>
          <p:nvPr/>
        </p:nvSpPr>
        <p:spPr>
          <a:xfrm>
            <a:off x="4389120" y="4160520"/>
            <a:ext cx="384048" cy="384048"/>
          </a:xfrm>
          <a:prstGeom prst="ellipse">
            <a:avLst/>
          </a:prstGeom>
          <a:solidFill>
            <a:srgbClr val="1A3350"/>
          </a:solidFill>
          <a:ln/>
        </p:spPr>
      </p:sp>
      <p:sp>
        <p:nvSpPr>
          <p:cNvPr id="12" name="Text 10"/>
          <p:cNvSpPr/>
          <p:nvPr/>
        </p:nvSpPr>
        <p:spPr>
          <a:xfrm>
            <a:off x="438912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406908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Como escolher</a:t>
            </a:r>
            <a:endParaRPr lang="en-US" sz="1000" dirty="0"/>
          </a:p>
        </p:txBody>
      </p:sp>
      <p:sp>
        <p:nvSpPr>
          <p:cNvPr id="14" name="Shape 12"/>
          <p:cNvSpPr/>
          <p:nvPr/>
        </p:nvSpPr>
        <p:spPr>
          <a:xfrm>
            <a:off x="6172200" y="4160520"/>
            <a:ext cx="384048" cy="384048"/>
          </a:xfrm>
          <a:prstGeom prst="ellipse">
            <a:avLst/>
          </a:prstGeom>
          <a:solidFill>
            <a:srgbClr val="1A3350"/>
          </a:solidFill>
          <a:ln/>
        </p:spPr>
      </p:sp>
      <p:sp>
        <p:nvSpPr>
          <p:cNvPr id="15" name="Text 13"/>
          <p:cNvSpPr/>
          <p:nvPr/>
        </p:nvSpPr>
        <p:spPr>
          <a:xfrm>
            <a:off x="617220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6" name="Text 14"/>
          <p:cNvSpPr/>
          <p:nvPr/>
        </p:nvSpPr>
        <p:spPr>
          <a:xfrm>
            <a:off x="585216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Erros</a:t>
            </a:r>
            <a:endParaRPr lang="en-US" sz="1000" dirty="0"/>
          </a:p>
        </p:txBody>
      </p:sp>
      <p:sp>
        <p:nvSpPr>
          <p:cNvPr id="17" name="Shape 15"/>
          <p:cNvSpPr/>
          <p:nvPr/>
        </p:nvSpPr>
        <p:spPr>
          <a:xfrm>
            <a:off x="7955280" y="4160520"/>
            <a:ext cx="384048" cy="384048"/>
          </a:xfrm>
          <a:prstGeom prst="ellipse">
            <a:avLst/>
          </a:prstGeom>
          <a:solidFill>
            <a:srgbClr val="1A3350"/>
          </a:solidFill>
          <a:ln/>
        </p:spPr>
      </p:sp>
      <p:sp>
        <p:nvSpPr>
          <p:cNvPr id="18" name="Text 16"/>
          <p:cNvSpPr/>
          <p:nvPr/>
        </p:nvSpPr>
        <p:spPr>
          <a:xfrm>
            <a:off x="7955280" y="4160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9" name="Text 17"/>
          <p:cNvSpPr/>
          <p:nvPr/>
        </p:nvSpPr>
        <p:spPr>
          <a:xfrm>
            <a:off x="7635240" y="4617720"/>
            <a:ext cx="1783080" cy="365760"/>
          </a:xfrm>
          <a:prstGeom prst="rect">
            <a:avLst/>
          </a:prstGeom>
          <a:noFill/>
          <a:ln/>
        </p:spPr>
        <p:txBody>
          <a:bodyPr wrap="square" lIns="0" tIns="0" rIns="0" bIns="0" rtlCol="0" anchor="ctr"/>
          <a:lstStyle/>
          <a:p>
            <a:pPr algn="ctr" indent="0" marL="0">
              <a:buNone/>
            </a:pPr>
            <a:r>
              <a:rPr lang="en-US" sz="1000" dirty="0">
                <a:solidFill>
                  <a:srgbClr val="AEBFD1"/>
                </a:solidFill>
                <a:latin typeface="Calibri" pitchFamily="34" charset="0"/>
                <a:ea typeface="Calibri" pitchFamily="34" charset="-122"/>
                <a:cs typeface="Calibri" pitchFamily="34" charset="-120"/>
              </a:rPr>
              <a:t>Aplicação</a:t>
            </a:r>
            <a:endParaRPr lang="en-US" sz="1000" dirty="0"/>
          </a:p>
        </p:txBody>
      </p:sp>
      <p:sp>
        <p:nvSpPr>
          <p:cNvPr id="20" name="Text 18"/>
          <p:cNvSpPr/>
          <p:nvPr/>
        </p:nvSpPr>
        <p:spPr>
          <a:xfrm>
            <a:off x="822960" y="6035040"/>
            <a:ext cx="9144000" cy="320040"/>
          </a:xfrm>
          <a:prstGeom prst="rect">
            <a:avLst/>
          </a:prstGeom>
          <a:noFill/>
          <a:ln/>
        </p:spPr>
        <p:txBody>
          <a:bodyPr wrap="square" lIns="0" tIns="0" rIns="0" bIns="0" rtlCol="0" anchor="ctr"/>
          <a:lstStyle/>
          <a:p>
            <a:pPr indent="0" marL="0">
              <a:buNone/>
            </a:pPr>
            <a:r>
              <a:rPr lang="en-US" sz="1100" dirty="0">
                <a:solidFill>
                  <a:srgbClr val="7E93A8"/>
                </a:solidFill>
                <a:latin typeface="Calibri" pitchFamily="34" charset="0"/>
                <a:ea typeface="Calibri" pitchFamily="34" charset="-122"/>
                <a:cs typeface="Calibri" pitchFamily="34" charset="-120"/>
              </a:rPr>
              <a:t>Escola de Marketing para Psicólogos — by Dioclides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50292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ROTEIRO DESTA AULA</a:t>
            </a:r>
            <a:endParaRPr lang="en-US" sz="1100" dirty="0"/>
          </a:p>
        </p:txBody>
      </p:sp>
      <p:sp>
        <p:nvSpPr>
          <p:cNvPr id="3" name="Text 1"/>
          <p:cNvSpPr/>
          <p:nvPr/>
        </p:nvSpPr>
        <p:spPr>
          <a:xfrm>
            <a:off x="777240" y="77724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A mesma anatomia de 5 passos, em todo protocolo do curso</a:t>
            </a:r>
            <a:endParaRPr lang="en-US" sz="2800" dirty="0"/>
          </a:p>
        </p:txBody>
      </p:sp>
      <p:sp>
        <p:nvSpPr>
          <p:cNvPr id="4" name="Shape 2"/>
          <p:cNvSpPr/>
          <p:nvPr/>
        </p:nvSpPr>
        <p:spPr>
          <a:xfrm>
            <a:off x="822960"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454810" y="2240280"/>
            <a:ext cx="640080" cy="640080"/>
          </a:xfrm>
          <a:prstGeom prst="ellipse">
            <a:avLst/>
          </a:prstGeom>
          <a:solidFill>
            <a:srgbClr val="C1652F"/>
          </a:solidFill>
          <a:ln/>
        </p:spPr>
      </p:sp>
      <p:sp>
        <p:nvSpPr>
          <p:cNvPr id="6" name="Text 4"/>
          <p:cNvSpPr/>
          <p:nvPr/>
        </p:nvSpPr>
        <p:spPr>
          <a:xfrm>
            <a:off x="1454810"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960120"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Por que diversificar</a:t>
            </a:r>
            <a:endParaRPr lang="en-US" sz="1500" dirty="0"/>
          </a:p>
        </p:txBody>
      </p:sp>
      <p:sp>
        <p:nvSpPr>
          <p:cNvPr id="8" name="Text 6"/>
          <p:cNvSpPr/>
          <p:nvPr/>
        </p:nvSpPr>
        <p:spPr>
          <a:xfrm>
            <a:off x="1005840"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Os limites reais de um modelo baseado só em hora individual</a:t>
            </a:r>
            <a:endParaRPr lang="en-US" sz="1100" dirty="0"/>
          </a:p>
        </p:txBody>
      </p:sp>
      <p:sp>
        <p:nvSpPr>
          <p:cNvPr id="9" name="Shape 7"/>
          <p:cNvSpPr/>
          <p:nvPr/>
        </p:nvSpPr>
        <p:spPr>
          <a:xfrm>
            <a:off x="2982773"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3614623" y="2240280"/>
            <a:ext cx="640080" cy="640080"/>
          </a:xfrm>
          <a:prstGeom prst="ellipse">
            <a:avLst/>
          </a:prstGeom>
          <a:solidFill>
            <a:srgbClr val="12283D"/>
          </a:solidFill>
          <a:ln/>
        </p:spPr>
      </p:sp>
      <p:sp>
        <p:nvSpPr>
          <p:cNvPr id="11" name="Text 9"/>
          <p:cNvSpPr/>
          <p:nvPr/>
        </p:nvSpPr>
        <p:spPr>
          <a:xfrm>
            <a:off x="3614623"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3119933"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Os 4 formatos possíveis</a:t>
            </a:r>
            <a:endParaRPr lang="en-US" sz="1500" dirty="0"/>
          </a:p>
        </p:txBody>
      </p:sp>
      <p:sp>
        <p:nvSpPr>
          <p:cNvPr id="13" name="Text 11"/>
          <p:cNvSpPr/>
          <p:nvPr/>
        </p:nvSpPr>
        <p:spPr>
          <a:xfrm>
            <a:off x="3165653"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Grupos, supervisão, cursos e palestras</a:t>
            </a:r>
            <a:endParaRPr lang="en-US" sz="1100" dirty="0"/>
          </a:p>
        </p:txBody>
      </p:sp>
      <p:sp>
        <p:nvSpPr>
          <p:cNvPr id="14" name="Shape 12"/>
          <p:cNvSpPr/>
          <p:nvPr/>
        </p:nvSpPr>
        <p:spPr>
          <a:xfrm>
            <a:off x="5142586"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15" name="Shape 13"/>
          <p:cNvSpPr/>
          <p:nvPr/>
        </p:nvSpPr>
        <p:spPr>
          <a:xfrm>
            <a:off x="5774436" y="2240280"/>
            <a:ext cx="640080" cy="640080"/>
          </a:xfrm>
          <a:prstGeom prst="ellipse">
            <a:avLst/>
          </a:prstGeom>
          <a:solidFill>
            <a:srgbClr val="12283D"/>
          </a:solidFill>
          <a:ln/>
        </p:spPr>
      </p:sp>
      <p:sp>
        <p:nvSpPr>
          <p:cNvPr id="16" name="Text 14"/>
          <p:cNvSpPr/>
          <p:nvPr/>
        </p:nvSpPr>
        <p:spPr>
          <a:xfrm>
            <a:off x="5774436"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5279746"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Como escolher o certo</a:t>
            </a:r>
            <a:endParaRPr lang="en-US" sz="1500" dirty="0"/>
          </a:p>
        </p:txBody>
      </p:sp>
      <p:sp>
        <p:nvSpPr>
          <p:cNvPr id="18" name="Text 16"/>
          <p:cNvSpPr/>
          <p:nvPr/>
        </p:nvSpPr>
        <p:spPr>
          <a:xfrm>
            <a:off x="5325466"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3 critérios pra decidir sem se perder em opções</a:t>
            </a:r>
            <a:endParaRPr lang="en-US" sz="1100" dirty="0"/>
          </a:p>
        </p:txBody>
      </p:sp>
      <p:sp>
        <p:nvSpPr>
          <p:cNvPr id="19" name="Shape 17"/>
          <p:cNvSpPr/>
          <p:nvPr/>
        </p:nvSpPr>
        <p:spPr>
          <a:xfrm>
            <a:off x="7302398"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20" name="Shape 18"/>
          <p:cNvSpPr/>
          <p:nvPr/>
        </p:nvSpPr>
        <p:spPr>
          <a:xfrm>
            <a:off x="7934249" y="2240280"/>
            <a:ext cx="640080" cy="640080"/>
          </a:xfrm>
          <a:prstGeom prst="ellipse">
            <a:avLst/>
          </a:prstGeom>
          <a:solidFill>
            <a:srgbClr val="12283D"/>
          </a:solidFill>
          <a:ln/>
        </p:spPr>
      </p:sp>
      <p:sp>
        <p:nvSpPr>
          <p:cNvPr id="21" name="Text 19"/>
          <p:cNvSpPr/>
          <p:nvPr/>
        </p:nvSpPr>
        <p:spPr>
          <a:xfrm>
            <a:off x="7934249"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439558"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Erros comuns</a:t>
            </a:r>
            <a:endParaRPr lang="en-US" sz="1500" dirty="0"/>
          </a:p>
        </p:txBody>
      </p:sp>
      <p:sp>
        <p:nvSpPr>
          <p:cNvPr id="23" name="Text 21"/>
          <p:cNvSpPr/>
          <p:nvPr/>
        </p:nvSpPr>
        <p:spPr>
          <a:xfrm>
            <a:off x="7485278"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Sinais de que ainda não é hora, ou o formato está errado</a:t>
            </a:r>
            <a:endParaRPr lang="en-US" sz="1100" dirty="0"/>
          </a:p>
        </p:txBody>
      </p:sp>
      <p:sp>
        <p:nvSpPr>
          <p:cNvPr id="24" name="Shape 22"/>
          <p:cNvSpPr/>
          <p:nvPr/>
        </p:nvSpPr>
        <p:spPr>
          <a:xfrm>
            <a:off x="9462211" y="1920240"/>
            <a:ext cx="1903781" cy="3383280"/>
          </a:xfrm>
          <a:prstGeom prst="roundRect">
            <a:avLst>
              <a:gd name="adj" fmla="val 4803"/>
            </a:avLst>
          </a:prstGeom>
          <a:solidFill>
            <a:srgbClr val="FFFFFF"/>
          </a:solidFill>
          <a:ln/>
          <a:effectLst>
            <a:outerShdw sx="100000" sy="100000" kx="0" ky="0" algn="bl" rotWithShape="0" blurRad="101600" dist="38100" dir="2700000">
              <a:srgbClr val="000000">
                <a:alpha val="12000"/>
              </a:srgbClr>
            </a:outerShdw>
          </a:effectLst>
        </p:spPr>
      </p:sp>
      <p:sp>
        <p:nvSpPr>
          <p:cNvPr id="25" name="Shape 23"/>
          <p:cNvSpPr/>
          <p:nvPr/>
        </p:nvSpPr>
        <p:spPr>
          <a:xfrm>
            <a:off x="10094062" y="2240280"/>
            <a:ext cx="640080" cy="640080"/>
          </a:xfrm>
          <a:prstGeom prst="ellipse">
            <a:avLst/>
          </a:prstGeom>
          <a:solidFill>
            <a:srgbClr val="12283D"/>
          </a:solidFill>
          <a:ln/>
        </p:spPr>
      </p:sp>
      <p:sp>
        <p:nvSpPr>
          <p:cNvPr id="26" name="Text 24"/>
          <p:cNvSpPr/>
          <p:nvPr/>
        </p:nvSpPr>
        <p:spPr>
          <a:xfrm>
            <a:off x="10094062" y="22402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9599371" y="3063240"/>
            <a:ext cx="1629461" cy="548640"/>
          </a:xfrm>
          <a:prstGeom prst="rect">
            <a:avLst/>
          </a:prstGeom>
          <a:noFill/>
          <a:ln/>
        </p:spPr>
        <p:txBody>
          <a:bodyPr wrap="square" lIns="0" tIns="0" rIns="0" bIns="0" rtlCol="0" anchor="ctr"/>
          <a:lstStyle/>
          <a:p>
            <a:pPr algn="ctr" indent="0" marL="0">
              <a:buNone/>
            </a:pPr>
            <a:r>
              <a:rPr lang="en-US" sz="1500" b="1" dirty="0">
                <a:solidFill>
                  <a:srgbClr val="12283D"/>
                </a:solidFill>
                <a:latin typeface="Cambria" pitchFamily="34" charset="0"/>
                <a:ea typeface="Cambria" pitchFamily="34" charset="-122"/>
                <a:cs typeface="Cambria" pitchFamily="34" charset="-120"/>
              </a:rPr>
              <a:t>Aplicação prática</a:t>
            </a:r>
            <a:endParaRPr lang="en-US" sz="1500" dirty="0"/>
          </a:p>
        </p:txBody>
      </p:sp>
      <p:sp>
        <p:nvSpPr>
          <p:cNvPr id="28" name="Text 26"/>
          <p:cNvSpPr/>
          <p:nvPr/>
        </p:nvSpPr>
        <p:spPr>
          <a:xfrm>
            <a:off x="9645091" y="3611880"/>
            <a:ext cx="1538021" cy="146304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Escolhendo um formato pra testar em pequena escala</a:t>
            </a:r>
            <a:endParaRPr lang="en-US" sz="1100" dirty="0"/>
          </a:p>
        </p:txBody>
      </p:sp>
      <p:sp>
        <p:nvSpPr>
          <p:cNvPr id="29" name="Text 27"/>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30" name="Text 2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82296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ANTES DE COMEÇAR</a:t>
            </a:r>
            <a:endParaRPr lang="en-US" sz="1100" dirty="0"/>
          </a:p>
        </p:txBody>
      </p:sp>
      <p:sp>
        <p:nvSpPr>
          <p:cNvPr id="3" name="Text 1"/>
          <p:cNvSpPr/>
          <p:nvPr/>
        </p:nvSpPr>
        <p:spPr>
          <a:xfrm>
            <a:off x="822960" y="1371600"/>
            <a:ext cx="9875520" cy="2377440"/>
          </a:xfrm>
          <a:prstGeom prst="rect">
            <a:avLst/>
          </a:prstGeom>
          <a:noFill/>
          <a:ln/>
        </p:spPr>
        <p:txBody>
          <a:bodyPr wrap="square" lIns="0" tIns="0" rIns="0" bIns="0" rtlCol="0" anchor="ctr"/>
          <a:lstStyle/>
          <a:p>
            <a:pPr indent="0" marL="0">
              <a:lnSpc>
                <a:spcPct val="115000"/>
              </a:lnSpc>
              <a:buNone/>
            </a:pPr>
            <a:r>
              <a:rPr lang="en-US" sz="3400" b="1" dirty="0">
                <a:solidFill>
                  <a:srgbClr val="12283D"/>
                </a:solidFill>
                <a:latin typeface="Cambria" pitchFamily="34" charset="0"/>
                <a:ea typeface="Cambria" pitchFamily="34" charset="-122"/>
                <a:cs typeface="Cambria" pitchFamily="34" charset="-120"/>
              </a:rPr>
              <a:t>Sua renda como psicólogo não precisa ser um múltiplo simples de "horas atendidas vezes valor da sessão" — existem formas de gerar mais valor sem gerar mais horas.</a:t>
            </a:r>
            <a:endParaRPr lang="en-US" sz="3400" dirty="0"/>
          </a:p>
        </p:txBody>
      </p:sp>
      <p:sp>
        <p:nvSpPr>
          <p:cNvPr id="4" name="Text 2"/>
          <p:cNvSpPr/>
          <p:nvPr/>
        </p:nvSpPr>
        <p:spPr>
          <a:xfrm>
            <a:off x="822960" y="3931920"/>
            <a:ext cx="7955280" cy="1371600"/>
          </a:xfrm>
          <a:prstGeom prst="rect">
            <a:avLst/>
          </a:prstGeom>
          <a:noFill/>
          <a:ln/>
        </p:spPr>
        <p:txBody>
          <a:bodyPr wrap="square" lIns="0" tIns="0" rIns="0" bIns="0" rtlCol="0" anchor="ctr"/>
          <a:lstStyle/>
          <a:p>
            <a:pPr indent="0" marL="0">
              <a:buNone/>
            </a:pPr>
            <a:r>
              <a:rPr lang="en-US" sz="1500" dirty="0">
                <a:solidFill>
                  <a:srgbClr val="6B6153"/>
                </a:solidFill>
                <a:latin typeface="Calibri" pitchFamily="34" charset="0"/>
                <a:ea typeface="Calibri" pitchFamily="34" charset="-122"/>
                <a:cs typeface="Calibri" pitchFamily="34" charset="-120"/>
              </a:rPr>
              <a:t>Este é o último módulo da Escola Completa de Marketing para Psicólogos, e olha pra frente: como sustentar crescimento sem depender de uma única fonte de receita.</a:t>
            </a:r>
            <a:endParaRPr lang="en-US" sz="15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4 formatos de diversificação</a:t>
            </a:r>
            <a:endParaRPr lang="en-US" sz="2800" dirty="0"/>
          </a:p>
        </p:txBody>
      </p:sp>
      <p:sp>
        <p:nvSpPr>
          <p:cNvPr id="4" name="Shape 2"/>
          <p:cNvSpPr/>
          <p:nvPr/>
        </p:nvSpPr>
        <p:spPr>
          <a:xfrm>
            <a:off x="822960" y="1691640"/>
            <a:ext cx="5120640" cy="4023360"/>
          </a:xfrm>
          <a:prstGeom prst="ellipse">
            <a:avLst/>
          </a:prstGeom>
          <a:solidFill>
            <a:srgbClr val="EFE8D9"/>
          </a:solidFill>
          <a:ln w="25400">
            <a:solidFill>
              <a:srgbClr val="12283D"/>
            </a:solidFill>
            <a:prstDash val="solid"/>
          </a:ln>
        </p:spPr>
      </p:sp>
      <p:sp>
        <p:nvSpPr>
          <p:cNvPr id="5" name="Shape 3"/>
          <p:cNvSpPr/>
          <p:nvPr/>
        </p:nvSpPr>
        <p:spPr>
          <a:xfrm>
            <a:off x="1847088" y="2576779"/>
            <a:ext cx="457200" cy="457200"/>
          </a:xfrm>
          <a:prstGeom prst="ellipse">
            <a:avLst/>
          </a:prstGeom>
          <a:solidFill>
            <a:srgbClr val="12283D"/>
          </a:solidFill>
          <a:ln w="19050">
            <a:solidFill>
              <a:srgbClr val="FFFFFF"/>
            </a:solidFill>
            <a:prstDash val="solid"/>
          </a:ln>
        </p:spPr>
      </p:sp>
      <p:sp>
        <p:nvSpPr>
          <p:cNvPr id="6" name="Shape 4"/>
          <p:cNvSpPr/>
          <p:nvPr/>
        </p:nvSpPr>
        <p:spPr>
          <a:xfrm>
            <a:off x="1949501" y="4186123"/>
            <a:ext cx="365760" cy="365760"/>
          </a:xfrm>
          <a:prstGeom prst="ellipse">
            <a:avLst/>
          </a:prstGeom>
          <a:solidFill>
            <a:srgbClr val="C1652F"/>
          </a:solidFill>
          <a:ln w="19050">
            <a:solidFill>
              <a:srgbClr val="FFFFFF"/>
            </a:solidFill>
            <a:prstDash val="solid"/>
          </a:ln>
        </p:spPr>
      </p:sp>
      <p:sp>
        <p:nvSpPr>
          <p:cNvPr id="7" name="Shape 5"/>
          <p:cNvSpPr/>
          <p:nvPr/>
        </p:nvSpPr>
        <p:spPr>
          <a:xfrm>
            <a:off x="3895344" y="4105656"/>
            <a:ext cx="329184" cy="329184"/>
          </a:xfrm>
          <a:prstGeom prst="ellipse">
            <a:avLst/>
          </a:prstGeom>
          <a:solidFill>
            <a:srgbClr val="63768A"/>
          </a:solidFill>
          <a:ln w="19050">
            <a:solidFill>
              <a:srgbClr val="FFFFFF"/>
            </a:solidFill>
            <a:prstDash val="solid"/>
          </a:ln>
        </p:spPr>
      </p:sp>
      <p:sp>
        <p:nvSpPr>
          <p:cNvPr id="8" name="Shape 6"/>
          <p:cNvSpPr/>
          <p:nvPr/>
        </p:nvSpPr>
        <p:spPr>
          <a:xfrm>
            <a:off x="3792931" y="2657246"/>
            <a:ext cx="329184" cy="329184"/>
          </a:xfrm>
          <a:prstGeom prst="ellipse">
            <a:avLst/>
          </a:prstGeom>
          <a:solidFill>
            <a:srgbClr val="D99A73"/>
          </a:solidFill>
          <a:ln w="19050">
            <a:solidFill>
              <a:srgbClr val="FFFFFF"/>
            </a:solidFill>
            <a:prstDash val="solid"/>
          </a:ln>
        </p:spPr>
      </p:sp>
      <p:sp>
        <p:nvSpPr>
          <p:cNvPr id="9" name="Shape 7"/>
          <p:cNvSpPr/>
          <p:nvPr/>
        </p:nvSpPr>
        <p:spPr>
          <a:xfrm>
            <a:off x="6400800" y="1947672"/>
            <a:ext cx="201168" cy="201168"/>
          </a:xfrm>
          <a:prstGeom prst="ellipse">
            <a:avLst/>
          </a:prstGeom>
          <a:solidFill>
            <a:srgbClr val="12283D"/>
          </a:solidFill>
          <a:ln/>
        </p:spPr>
      </p:sp>
      <p:sp>
        <p:nvSpPr>
          <p:cNvPr id="10" name="Text 8"/>
          <p:cNvSpPr/>
          <p:nvPr/>
        </p:nvSpPr>
        <p:spPr>
          <a:xfrm>
            <a:off x="6720840" y="187452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Grupos terapêuticos: mesma hora, mais pessoas atendidas</a:t>
            </a:r>
            <a:endParaRPr lang="en-US" sz="1300" dirty="0"/>
          </a:p>
        </p:txBody>
      </p:sp>
      <p:sp>
        <p:nvSpPr>
          <p:cNvPr id="11" name="Shape 9"/>
          <p:cNvSpPr/>
          <p:nvPr/>
        </p:nvSpPr>
        <p:spPr>
          <a:xfrm>
            <a:off x="6400800" y="2450592"/>
            <a:ext cx="201168" cy="201168"/>
          </a:xfrm>
          <a:prstGeom prst="ellipse">
            <a:avLst/>
          </a:prstGeom>
          <a:solidFill>
            <a:srgbClr val="C1652F"/>
          </a:solidFill>
          <a:ln/>
        </p:spPr>
      </p:sp>
      <p:sp>
        <p:nvSpPr>
          <p:cNvPr id="12" name="Text 10"/>
          <p:cNvSpPr/>
          <p:nvPr/>
        </p:nvSpPr>
        <p:spPr>
          <a:xfrm>
            <a:off x="6720840" y="237744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Supervisão clínica: ensinar o que você já domina profundamente</a:t>
            </a:r>
            <a:endParaRPr lang="en-US" sz="1300" dirty="0"/>
          </a:p>
        </p:txBody>
      </p:sp>
      <p:sp>
        <p:nvSpPr>
          <p:cNvPr id="13" name="Shape 11"/>
          <p:cNvSpPr/>
          <p:nvPr/>
        </p:nvSpPr>
        <p:spPr>
          <a:xfrm>
            <a:off x="6400800" y="2953512"/>
            <a:ext cx="201168" cy="201168"/>
          </a:xfrm>
          <a:prstGeom prst="ellipse">
            <a:avLst/>
          </a:prstGeom>
          <a:solidFill>
            <a:srgbClr val="63768A"/>
          </a:solidFill>
          <a:ln/>
        </p:spPr>
      </p:sp>
      <p:sp>
        <p:nvSpPr>
          <p:cNvPr id="14" name="Text 12"/>
          <p:cNvSpPr/>
          <p:nvPr/>
        </p:nvSpPr>
        <p:spPr>
          <a:xfrm>
            <a:off x="6720840" y="288036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Cursos e conteúdo pago: escala sem limite direto de tempo</a:t>
            </a:r>
            <a:endParaRPr lang="en-US" sz="1300" dirty="0"/>
          </a:p>
        </p:txBody>
      </p:sp>
      <p:sp>
        <p:nvSpPr>
          <p:cNvPr id="15" name="Shape 13"/>
          <p:cNvSpPr/>
          <p:nvPr/>
        </p:nvSpPr>
        <p:spPr>
          <a:xfrm>
            <a:off x="6400800" y="3456432"/>
            <a:ext cx="201168" cy="201168"/>
          </a:xfrm>
          <a:prstGeom prst="ellipse">
            <a:avLst/>
          </a:prstGeom>
          <a:solidFill>
            <a:srgbClr val="D99A73"/>
          </a:solidFill>
          <a:ln/>
        </p:spPr>
      </p:sp>
      <p:sp>
        <p:nvSpPr>
          <p:cNvPr id="16" name="Text 14"/>
          <p:cNvSpPr/>
          <p:nvPr/>
        </p:nvSpPr>
        <p:spPr>
          <a:xfrm>
            <a:off x="6720840" y="3383280"/>
            <a:ext cx="3200400" cy="320040"/>
          </a:xfrm>
          <a:prstGeom prst="rect">
            <a:avLst/>
          </a:prstGeom>
          <a:noFill/>
          <a:ln/>
        </p:spPr>
        <p:txBody>
          <a:bodyPr wrap="square" lIns="0" tIns="0" rIns="0" bIns="0" rtlCol="0" anchor="ctr"/>
          <a:lstStyle/>
          <a:p>
            <a:pPr indent="0" marL="0">
              <a:buNone/>
            </a:pPr>
            <a:r>
              <a:rPr lang="en-US" sz="1300" b="1" dirty="0">
                <a:solidFill>
                  <a:srgbClr val="12283D"/>
                </a:solidFill>
                <a:latin typeface="Calibri" pitchFamily="34" charset="0"/>
                <a:ea typeface="Calibri" pitchFamily="34" charset="-122"/>
                <a:cs typeface="Calibri" pitchFamily="34" charset="-120"/>
              </a:rPr>
              <a:t>Palestras e parcerias: autoridade combinada com receita</a:t>
            </a:r>
            <a:endParaRPr lang="en-US" sz="1300" dirty="0"/>
          </a:p>
        </p:txBody>
      </p:sp>
      <p:sp>
        <p:nvSpPr>
          <p:cNvPr id="17" name="Text 15"/>
          <p:cNvSpPr/>
          <p:nvPr/>
        </p:nvSpPr>
        <p:spPr>
          <a:xfrm>
            <a:off x="6400800" y="4160520"/>
            <a:ext cx="5120640" cy="20116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Cada formato exige uma competência e um nível de energia diferentes — não existe um "melhor" universal, só o mais adequado ao seu momento.</a:t>
            </a:r>
            <a:endParaRPr lang="en-US" sz="1250" dirty="0"/>
          </a:p>
          <a:p>
            <a:pPr marL="342900" indent="-342900">
              <a:spcAft>
                <a:spcPts val="1000"/>
              </a:spcAft>
              <a:buSzPct val="100000"/>
              <a:buChar char="•"/>
            </a:pPr>
            <a:r>
              <a:rPr lang="en-US" sz="1250" dirty="0">
                <a:solidFill>
                  <a:srgbClr val="6B6153"/>
                </a:solidFill>
                <a:latin typeface="Calibri" pitchFamily="34" charset="0"/>
                <a:ea typeface="Calibri" pitchFamily="34" charset="-122"/>
                <a:cs typeface="Calibri" pitchFamily="34" charset="-120"/>
              </a:rPr>
              <a:t>Diversificar não significa abandonar o atendimento individual — significa não depender só dele.</a:t>
            </a:r>
            <a:endParaRPr lang="en-US" sz="1250" dirty="0"/>
          </a:p>
        </p:txBody>
      </p:sp>
      <p:sp>
        <p:nvSpPr>
          <p:cNvPr id="18" name="Text 1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19" name="Text 1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Da hora individual à receita diversificada</a:t>
            </a:r>
            <a:endParaRPr lang="en-US" sz="2800" dirty="0"/>
          </a:p>
        </p:txBody>
      </p:sp>
      <p:sp>
        <p:nvSpPr>
          <p:cNvPr id="4" name="Shape 2"/>
          <p:cNvSpPr/>
          <p:nvPr/>
        </p:nvSpPr>
        <p:spPr>
          <a:xfrm>
            <a:off x="822960"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5" name="Text 3"/>
          <p:cNvSpPr/>
          <p:nvPr/>
        </p:nvSpPr>
        <p:spPr>
          <a:xfrm>
            <a:off x="987552"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Modelo individual consolidado</a:t>
            </a:r>
            <a:endParaRPr lang="en-US" sz="1500" dirty="0"/>
          </a:p>
        </p:txBody>
      </p:sp>
      <p:sp>
        <p:nvSpPr>
          <p:cNvPr id="6" name="Text 4"/>
          <p:cNvSpPr/>
          <p:nvPr/>
        </p:nvSpPr>
        <p:spPr>
          <a:xfrm>
            <a:off x="987552"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Uma base sólida de atendimento 1:1 já estabelecida</a:t>
            </a:r>
            <a:endParaRPr lang="en-US" sz="1100" dirty="0"/>
          </a:p>
        </p:txBody>
      </p:sp>
      <p:sp>
        <p:nvSpPr>
          <p:cNvPr id="7" name="Text 5"/>
          <p:cNvSpPr/>
          <p:nvPr/>
        </p:nvSpPr>
        <p:spPr>
          <a:xfrm>
            <a:off x="3081528"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584448"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9" name="Text 7"/>
          <p:cNvSpPr/>
          <p:nvPr/>
        </p:nvSpPr>
        <p:spPr>
          <a:xfrm>
            <a:off x="3749040"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Competência replicável</a:t>
            </a:r>
            <a:endParaRPr lang="en-US" sz="1500" dirty="0"/>
          </a:p>
        </p:txBody>
      </p:sp>
      <p:sp>
        <p:nvSpPr>
          <p:cNvPr id="10" name="Text 8"/>
          <p:cNvSpPr/>
          <p:nvPr/>
        </p:nvSpPr>
        <p:spPr>
          <a:xfrm>
            <a:off x="3749040"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Identificar o que você domina o suficiente pra ensinar ou escalar</a:t>
            </a:r>
            <a:endParaRPr lang="en-US" sz="1100" dirty="0"/>
          </a:p>
        </p:txBody>
      </p:sp>
      <p:sp>
        <p:nvSpPr>
          <p:cNvPr id="11" name="Text 9"/>
          <p:cNvSpPr/>
          <p:nvPr/>
        </p:nvSpPr>
        <p:spPr>
          <a:xfrm>
            <a:off x="5843016"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6345936" y="1965960"/>
            <a:ext cx="2258568" cy="1920240"/>
          </a:xfrm>
          <a:prstGeom prst="roundRect">
            <a:avLst>
              <a:gd name="adj" fmla="val 3810"/>
            </a:avLst>
          </a:prstGeom>
          <a:solidFill>
            <a:srgbClr val="12283D"/>
          </a:solidFill>
          <a:ln/>
          <a:effectLst>
            <a:outerShdw sx="100000" sy="100000" kx="0" ky="0" algn="bl" rotWithShape="0" blurRad="101600" dist="38100" dir="2700000">
              <a:srgbClr val="000000">
                <a:alpha val="12000"/>
              </a:srgbClr>
            </a:outerShdw>
          </a:effectLst>
        </p:spPr>
      </p:sp>
      <p:sp>
        <p:nvSpPr>
          <p:cNvPr id="13" name="Text 11"/>
          <p:cNvSpPr/>
          <p:nvPr/>
        </p:nvSpPr>
        <p:spPr>
          <a:xfrm>
            <a:off x="6510528"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Escolha do formato</a:t>
            </a:r>
            <a:endParaRPr lang="en-US" sz="1500" dirty="0"/>
          </a:p>
        </p:txBody>
      </p:sp>
      <p:sp>
        <p:nvSpPr>
          <p:cNvPr id="14" name="Text 12"/>
          <p:cNvSpPr/>
          <p:nvPr/>
        </p:nvSpPr>
        <p:spPr>
          <a:xfrm>
            <a:off x="6510528"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O que combina com sua energia e momento de carreira</a:t>
            </a:r>
            <a:endParaRPr lang="en-US" sz="1100" dirty="0"/>
          </a:p>
        </p:txBody>
      </p:sp>
      <p:sp>
        <p:nvSpPr>
          <p:cNvPr id="15" name="Text 13"/>
          <p:cNvSpPr/>
          <p:nvPr/>
        </p:nvSpPr>
        <p:spPr>
          <a:xfrm>
            <a:off x="8604504" y="1965960"/>
            <a:ext cx="502920" cy="1920240"/>
          </a:xfrm>
          <a:prstGeom prst="rect">
            <a:avLst/>
          </a:prstGeom>
          <a:noFill/>
          <a:ln/>
        </p:spPr>
        <p:txBody>
          <a:bodyPr wrap="square" lIns="0" tIns="0" rIns="0" bIns="0" rtlCol="0" anchor="ctr"/>
          <a:lstStyle/>
          <a:p>
            <a:pPr algn="ctr" indent="0" marL="0">
              <a:buNone/>
            </a:pPr>
            <a:r>
              <a:rPr lang="en-US" sz="2600" dirty="0">
                <a:solidFill>
                  <a:srgbClr val="12283D"/>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9107424" y="1965960"/>
            <a:ext cx="2258568" cy="1920240"/>
          </a:xfrm>
          <a:prstGeom prst="roundRect">
            <a:avLst>
              <a:gd name="adj" fmla="val 3810"/>
            </a:avLst>
          </a:prstGeom>
          <a:solidFill>
            <a:srgbClr val="C1652F"/>
          </a:solidFill>
          <a:ln/>
          <a:effectLst>
            <a:outerShdw sx="100000" sy="100000" kx="0" ky="0" algn="bl" rotWithShape="0" blurRad="101600" dist="38100" dir="2700000">
              <a:srgbClr val="000000">
                <a:alpha val="12000"/>
              </a:srgbClr>
            </a:outerShdw>
          </a:effectLst>
        </p:spPr>
      </p:sp>
      <p:sp>
        <p:nvSpPr>
          <p:cNvPr id="17" name="Text 15"/>
          <p:cNvSpPr/>
          <p:nvPr/>
        </p:nvSpPr>
        <p:spPr>
          <a:xfrm>
            <a:off x="9272016" y="2148840"/>
            <a:ext cx="1929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Teste em pequena escala</a:t>
            </a:r>
            <a:endParaRPr lang="en-US" sz="1500" dirty="0"/>
          </a:p>
        </p:txBody>
      </p:sp>
      <p:sp>
        <p:nvSpPr>
          <p:cNvPr id="18" name="Text 16"/>
          <p:cNvSpPr/>
          <p:nvPr/>
        </p:nvSpPr>
        <p:spPr>
          <a:xfrm>
            <a:off x="9272016" y="2651760"/>
            <a:ext cx="1929384" cy="1097280"/>
          </a:xfrm>
          <a:prstGeom prst="rect">
            <a:avLst/>
          </a:prstGeom>
          <a:noFill/>
          <a:ln/>
        </p:spPr>
        <p:txBody>
          <a:bodyPr wrap="square" lIns="0" tIns="0" rIns="0" bIns="0" rtlCol="0" anchor="ctr"/>
          <a:lstStyle/>
          <a:p>
            <a:pPr indent="0" marL="0">
              <a:buNone/>
            </a:pPr>
            <a:r>
              <a:rPr lang="en-US" sz="1100" dirty="0">
                <a:solidFill>
                  <a:srgbClr val="E4E9EF"/>
                </a:solidFill>
                <a:latin typeface="Calibri" pitchFamily="34" charset="0"/>
                <a:ea typeface="Calibri" pitchFamily="34" charset="-122"/>
                <a:cs typeface="Calibri" pitchFamily="34" charset="-120"/>
              </a:rPr>
              <a:t>Validar antes de investir tempo e recurso em expansão</a:t>
            </a:r>
            <a:endParaRPr lang="en-US" sz="1100" dirty="0"/>
          </a:p>
        </p:txBody>
      </p:sp>
      <p:sp>
        <p:nvSpPr>
          <p:cNvPr id="19" name="Text 17"/>
          <p:cNvSpPr/>
          <p:nvPr/>
        </p:nvSpPr>
        <p:spPr>
          <a:xfrm>
            <a:off x="822960" y="4480560"/>
            <a:ext cx="9875520" cy="822960"/>
          </a:xfrm>
          <a:prstGeom prst="rect">
            <a:avLst/>
          </a:prstGeom>
          <a:noFill/>
          <a:ln/>
        </p:spPr>
        <p:txBody>
          <a:bodyPr wrap="square" lIns="0" tIns="0" rIns="0" bIns="0" rtlCol="0" anchor="ctr"/>
          <a:lstStyle/>
          <a:p>
            <a:pPr indent="0" marL="0">
              <a:buNone/>
            </a:pPr>
            <a:r>
              <a:rPr lang="en-US" sz="1350" i="1" dirty="0">
                <a:solidFill>
                  <a:srgbClr val="6B6153"/>
                </a:solidFill>
                <a:latin typeface="Calibri" pitchFamily="34" charset="0"/>
                <a:ea typeface="Calibri" pitchFamily="34" charset="-122"/>
                <a:cs typeface="Calibri" pitchFamily="34" charset="-120"/>
              </a:rPr>
              <a:t>Pular direto pra um formato ambicioso, sem testar pequeno primeiro, é o erro mais comum nessa fase de crescimento.</a:t>
            </a:r>
            <a:endParaRPr lang="en-US" sz="1350" dirty="0"/>
          </a:p>
        </p:txBody>
      </p:sp>
      <p:sp>
        <p:nvSpPr>
          <p:cNvPr id="20" name="Text 18"/>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21" name="Text 1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1 · MECANISMO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3 critérios pra escolher o formato certo</a:t>
            </a:r>
            <a:endParaRPr lang="en-US" sz="2800" dirty="0"/>
          </a:p>
        </p:txBody>
      </p:sp>
      <p:sp>
        <p:nvSpPr>
          <p:cNvPr id="4" name="Shape 2"/>
          <p:cNvSpPr/>
          <p:nvPr/>
        </p:nvSpPr>
        <p:spPr>
          <a:xfrm>
            <a:off x="2116836" y="1920240"/>
            <a:ext cx="822960" cy="822960"/>
          </a:xfrm>
          <a:prstGeom prst="ellipse">
            <a:avLst/>
          </a:prstGeom>
          <a:solidFill>
            <a:srgbClr val="12283D"/>
          </a:solidFill>
          <a:ln/>
        </p:spPr>
      </p:sp>
      <p:sp>
        <p:nvSpPr>
          <p:cNvPr id="5" name="Text 3"/>
          <p:cNvSpPr/>
          <p:nvPr/>
        </p:nvSpPr>
        <p:spPr>
          <a:xfrm>
            <a:off x="92811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Energia disponível</a:t>
            </a:r>
            <a:endParaRPr lang="en-US" sz="2000" dirty="0"/>
          </a:p>
        </p:txBody>
      </p:sp>
      <p:sp>
        <p:nvSpPr>
          <p:cNvPr id="6" name="Text 4"/>
          <p:cNvSpPr/>
          <p:nvPr/>
        </p:nvSpPr>
        <p:spPr>
          <a:xfrm>
            <a:off x="111099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Além do atendimento individual, sem comprometer a qualidade dele</a:t>
            </a:r>
            <a:endParaRPr lang="en-US" sz="1300" dirty="0"/>
          </a:p>
        </p:txBody>
      </p:sp>
      <p:sp>
        <p:nvSpPr>
          <p:cNvPr id="7" name="Shape 5"/>
          <p:cNvSpPr/>
          <p:nvPr/>
        </p:nvSpPr>
        <p:spPr>
          <a:xfrm>
            <a:off x="5682996" y="1920240"/>
            <a:ext cx="822960" cy="822960"/>
          </a:xfrm>
          <a:prstGeom prst="ellipse">
            <a:avLst/>
          </a:prstGeom>
          <a:solidFill>
            <a:srgbClr val="C1652F"/>
          </a:solidFill>
          <a:ln/>
        </p:spPr>
      </p:sp>
      <p:sp>
        <p:nvSpPr>
          <p:cNvPr id="8" name="Text 6"/>
          <p:cNvSpPr/>
          <p:nvPr/>
        </p:nvSpPr>
        <p:spPr>
          <a:xfrm>
            <a:off x="449427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Competência dominada</a:t>
            </a:r>
            <a:endParaRPr lang="en-US" sz="2000" dirty="0"/>
          </a:p>
        </p:txBody>
      </p:sp>
      <p:sp>
        <p:nvSpPr>
          <p:cNvPr id="9" name="Text 7"/>
          <p:cNvSpPr/>
          <p:nvPr/>
        </p:nvSpPr>
        <p:spPr>
          <a:xfrm>
            <a:off x="467715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Algo que você já entende profundamente, não está só aprendendo</a:t>
            </a:r>
            <a:endParaRPr lang="en-US" sz="1300" dirty="0"/>
          </a:p>
        </p:txBody>
      </p:sp>
      <p:sp>
        <p:nvSpPr>
          <p:cNvPr id="10" name="Shape 8"/>
          <p:cNvSpPr/>
          <p:nvPr/>
        </p:nvSpPr>
        <p:spPr>
          <a:xfrm>
            <a:off x="9249156" y="1920240"/>
            <a:ext cx="822960" cy="822960"/>
          </a:xfrm>
          <a:prstGeom prst="ellipse">
            <a:avLst/>
          </a:prstGeom>
          <a:solidFill>
            <a:srgbClr val="63768A"/>
          </a:solidFill>
          <a:ln/>
        </p:spPr>
      </p:sp>
      <p:sp>
        <p:nvSpPr>
          <p:cNvPr id="11" name="Text 9"/>
          <p:cNvSpPr/>
          <p:nvPr/>
        </p:nvSpPr>
        <p:spPr>
          <a:xfrm>
            <a:off x="8060436" y="2926080"/>
            <a:ext cx="3200400" cy="502920"/>
          </a:xfrm>
          <a:prstGeom prst="rect">
            <a:avLst/>
          </a:prstGeom>
          <a:noFill/>
          <a:ln/>
        </p:spPr>
        <p:txBody>
          <a:bodyPr wrap="square" lIns="0" tIns="0" rIns="0" bIns="0" rtlCol="0" anchor="ctr"/>
          <a:lstStyle/>
          <a:p>
            <a:pPr algn="ctr" indent="0" marL="0">
              <a:buNone/>
            </a:pPr>
            <a:r>
              <a:rPr lang="en-US" sz="2000" b="1" dirty="0">
                <a:solidFill>
                  <a:srgbClr val="12283D"/>
                </a:solidFill>
                <a:latin typeface="Cambria" pitchFamily="34" charset="0"/>
                <a:ea typeface="Cambria" pitchFamily="34" charset="-122"/>
                <a:cs typeface="Cambria" pitchFamily="34" charset="-120"/>
              </a:rPr>
              <a:t>Momento de carreira</a:t>
            </a:r>
            <a:endParaRPr lang="en-US" sz="2000" dirty="0"/>
          </a:p>
        </p:txBody>
      </p:sp>
      <p:sp>
        <p:nvSpPr>
          <p:cNvPr id="12" name="Text 10"/>
          <p:cNvSpPr/>
          <p:nvPr/>
        </p:nvSpPr>
        <p:spPr>
          <a:xfrm>
            <a:off x="8243316" y="3474720"/>
            <a:ext cx="2834640" cy="1463040"/>
          </a:xfrm>
          <a:prstGeom prst="rect">
            <a:avLst/>
          </a:prstGeom>
          <a:noFill/>
          <a:ln/>
        </p:spPr>
        <p:txBody>
          <a:bodyPr wrap="square" lIns="0" tIns="0" rIns="0" bIns="0" rtlCol="0" anchor="ctr"/>
          <a:lstStyle/>
          <a:p>
            <a:pPr algn="ctr" indent="0" marL="0">
              <a:buNone/>
            </a:pPr>
            <a:r>
              <a:rPr lang="en-US" sz="1300" dirty="0">
                <a:solidFill>
                  <a:srgbClr val="6B6153"/>
                </a:solidFill>
                <a:latin typeface="Calibri" pitchFamily="34" charset="0"/>
                <a:ea typeface="Calibri" pitchFamily="34" charset="-122"/>
                <a:cs typeface="Calibri" pitchFamily="34" charset="-120"/>
              </a:rPr>
              <a:t>O formato precisa combinar com onde você está agora, não onde quer chegar</a:t>
            </a:r>
            <a:endParaRPr lang="en-US" sz="1300" dirty="0"/>
          </a:p>
        </p:txBody>
      </p:sp>
      <p:sp>
        <p:nvSpPr>
          <p:cNvPr id="13" name="Text 11"/>
          <p:cNvSpPr/>
          <p:nvPr/>
        </p:nvSpPr>
        <p:spPr>
          <a:xfrm>
            <a:off x="822960" y="5212080"/>
            <a:ext cx="9601200" cy="548640"/>
          </a:xfrm>
          <a:prstGeom prst="rect">
            <a:avLst/>
          </a:prstGeom>
          <a:noFill/>
          <a:ln/>
        </p:spPr>
        <p:txBody>
          <a:bodyPr wrap="square" lIns="0" tIns="0" rIns="0" bIns="0" rtlCol="0" anchor="ctr"/>
          <a:lstStyle/>
          <a:p>
            <a:pPr algn="ctr" indent="0" marL="0">
              <a:buNone/>
            </a:pPr>
            <a:r>
              <a:rPr lang="en-US" sz="1300" i="1" dirty="0">
                <a:solidFill>
                  <a:srgbClr val="6B6153"/>
                </a:solidFill>
                <a:latin typeface="Calibri" pitchFamily="34" charset="0"/>
                <a:ea typeface="Calibri" pitchFamily="34" charset="-122"/>
                <a:cs typeface="Calibri" pitchFamily="34" charset="-120"/>
              </a:rPr>
              <a:t>Os 3 critérios juntos evitam a armadilha de escolher um formato pela moda, em vez de pela adequação real.</a:t>
            </a:r>
            <a:endParaRPr lang="en-US" sz="130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2 · SINAIS DE ALERTA</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Sinais de que é hora de diversificar</a:t>
            </a:r>
            <a:endParaRPr lang="en-US" sz="2800" dirty="0"/>
          </a:p>
        </p:txBody>
      </p:sp>
      <p:sp>
        <p:nvSpPr>
          <p:cNvPr id="4" name="Shape 2"/>
          <p:cNvSpPr/>
          <p:nvPr/>
        </p:nvSpPr>
        <p:spPr>
          <a:xfrm>
            <a:off x="822960" y="1929384"/>
            <a:ext cx="201168" cy="201168"/>
          </a:xfrm>
          <a:prstGeom prst="ellipse">
            <a:avLst/>
          </a:prstGeom>
          <a:solidFill>
            <a:srgbClr val="C1652F"/>
          </a:solidFill>
          <a:ln/>
        </p:spPr>
      </p:sp>
      <p:sp>
        <p:nvSpPr>
          <p:cNvPr id="5" name="Text 3"/>
          <p:cNvSpPr/>
          <p:nvPr/>
        </p:nvSpPr>
        <p:spPr>
          <a:xfrm>
            <a:off x="1188720" y="187452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Agenda individual no limite</a:t>
            </a:r>
            <a:endParaRPr lang="en-US" sz="1500" dirty="0"/>
          </a:p>
        </p:txBody>
      </p:sp>
      <p:sp>
        <p:nvSpPr>
          <p:cNvPr id="6" name="Text 4"/>
          <p:cNvSpPr/>
          <p:nvPr/>
        </p:nvSpPr>
        <p:spPr>
          <a:xfrm>
            <a:off x="3657600" y="187452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Atendimento 1:1 já sustentável, mas sem espaço pra crescer mais</a:t>
            </a:r>
            <a:endParaRPr lang="en-US" sz="1350" dirty="0"/>
          </a:p>
        </p:txBody>
      </p:sp>
      <p:sp>
        <p:nvSpPr>
          <p:cNvPr id="7" name="Shape 5"/>
          <p:cNvSpPr/>
          <p:nvPr/>
        </p:nvSpPr>
        <p:spPr>
          <a:xfrm>
            <a:off x="822960" y="2798064"/>
            <a:ext cx="201168" cy="201168"/>
          </a:xfrm>
          <a:prstGeom prst="ellipse">
            <a:avLst/>
          </a:prstGeom>
          <a:solidFill>
            <a:srgbClr val="C1652F"/>
          </a:solidFill>
          <a:ln/>
        </p:spPr>
      </p:sp>
      <p:sp>
        <p:nvSpPr>
          <p:cNvPr id="8" name="Text 6"/>
          <p:cNvSpPr/>
          <p:nvPr/>
        </p:nvSpPr>
        <p:spPr>
          <a:xfrm>
            <a:off x="1188720" y="274320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Interesse recorrente de outros</a:t>
            </a:r>
            <a:endParaRPr lang="en-US" sz="1500" dirty="0"/>
          </a:p>
        </p:txBody>
      </p:sp>
      <p:sp>
        <p:nvSpPr>
          <p:cNvPr id="9" name="Text 7"/>
          <p:cNvSpPr/>
          <p:nvPr/>
        </p:nvSpPr>
        <p:spPr>
          <a:xfrm>
            <a:off x="3657600" y="274320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Colegas ou pacientes perguntando como você faz o que faz</a:t>
            </a:r>
            <a:endParaRPr lang="en-US" sz="1350" dirty="0"/>
          </a:p>
        </p:txBody>
      </p:sp>
      <p:sp>
        <p:nvSpPr>
          <p:cNvPr id="10" name="Shape 8"/>
          <p:cNvSpPr/>
          <p:nvPr/>
        </p:nvSpPr>
        <p:spPr>
          <a:xfrm>
            <a:off x="822960" y="3666744"/>
            <a:ext cx="201168" cy="201168"/>
          </a:xfrm>
          <a:prstGeom prst="ellipse">
            <a:avLst/>
          </a:prstGeom>
          <a:solidFill>
            <a:srgbClr val="C1652F"/>
          </a:solidFill>
          <a:ln/>
        </p:spPr>
      </p:sp>
      <p:sp>
        <p:nvSpPr>
          <p:cNvPr id="11" name="Text 9"/>
          <p:cNvSpPr/>
          <p:nvPr/>
        </p:nvSpPr>
        <p:spPr>
          <a:xfrm>
            <a:off x="1188720" y="361188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Desejo de impacto ampliado</a:t>
            </a:r>
            <a:endParaRPr lang="en-US" sz="1500" dirty="0"/>
          </a:p>
        </p:txBody>
      </p:sp>
      <p:sp>
        <p:nvSpPr>
          <p:cNvPr id="12" name="Text 10"/>
          <p:cNvSpPr/>
          <p:nvPr/>
        </p:nvSpPr>
        <p:spPr>
          <a:xfrm>
            <a:off x="3657600" y="361188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Vontade de alcançar mais pessoas do que a agenda individual permite</a:t>
            </a:r>
            <a:endParaRPr lang="en-US" sz="1350" dirty="0"/>
          </a:p>
        </p:txBody>
      </p:sp>
      <p:sp>
        <p:nvSpPr>
          <p:cNvPr id="13" name="Shape 11"/>
          <p:cNvSpPr/>
          <p:nvPr/>
        </p:nvSpPr>
        <p:spPr>
          <a:xfrm>
            <a:off x="822960" y="4535424"/>
            <a:ext cx="201168" cy="201168"/>
          </a:xfrm>
          <a:prstGeom prst="ellipse">
            <a:avLst/>
          </a:prstGeom>
          <a:solidFill>
            <a:srgbClr val="C1652F"/>
          </a:solidFill>
          <a:ln/>
        </p:spPr>
      </p:sp>
      <p:sp>
        <p:nvSpPr>
          <p:cNvPr id="14" name="Text 12"/>
          <p:cNvSpPr/>
          <p:nvPr/>
        </p:nvSpPr>
        <p:spPr>
          <a:xfrm>
            <a:off x="1188720" y="4480560"/>
            <a:ext cx="2377440" cy="411480"/>
          </a:xfrm>
          <a:prstGeom prst="rect">
            <a:avLst/>
          </a:prstGeom>
          <a:noFill/>
          <a:ln/>
        </p:spPr>
        <p:txBody>
          <a:bodyPr wrap="square" lIns="0" tIns="0" rIns="0" bIns="0" rtlCol="0" anchor="ctr"/>
          <a:lstStyle/>
          <a:p>
            <a:pPr indent="0" marL="0">
              <a:buNone/>
            </a:pPr>
            <a:r>
              <a:rPr lang="en-US" sz="1500" b="1" dirty="0">
                <a:solidFill>
                  <a:srgbClr val="12283D"/>
                </a:solidFill>
                <a:latin typeface="Calibri" pitchFamily="34" charset="0"/>
                <a:ea typeface="Calibri" pitchFamily="34" charset="-122"/>
                <a:cs typeface="Calibri" pitchFamily="34" charset="-120"/>
              </a:rPr>
              <a:t>Busca por resiliência financeira</a:t>
            </a:r>
            <a:endParaRPr lang="en-US" sz="1500" dirty="0"/>
          </a:p>
        </p:txBody>
      </p:sp>
      <p:sp>
        <p:nvSpPr>
          <p:cNvPr id="15" name="Text 13"/>
          <p:cNvSpPr/>
          <p:nvPr/>
        </p:nvSpPr>
        <p:spPr>
          <a:xfrm>
            <a:off x="3657600" y="4480560"/>
            <a:ext cx="7589520" cy="640080"/>
          </a:xfrm>
          <a:prstGeom prst="rect">
            <a:avLst/>
          </a:prstGeom>
          <a:noFill/>
          <a:ln/>
        </p:spPr>
        <p:txBody>
          <a:bodyPr wrap="square" lIns="0" tIns="0" rIns="0" bIns="0" rtlCol="0" anchor="ctr"/>
          <a:lstStyle/>
          <a:p>
            <a:pPr indent="0" marL="0">
              <a:buNone/>
            </a:pPr>
            <a:r>
              <a:rPr lang="en-US" sz="1350" dirty="0">
                <a:solidFill>
                  <a:srgbClr val="6B6153"/>
                </a:solidFill>
                <a:latin typeface="Calibri" pitchFamily="34" charset="0"/>
                <a:ea typeface="Calibri" pitchFamily="34" charset="-122"/>
                <a:cs typeface="Calibri" pitchFamily="34" charset="-120"/>
              </a:rPr>
              <a:t>Não depender de uma única fonte de receita no consultório</a:t>
            </a:r>
            <a:endParaRPr lang="en-US" sz="135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2 · SINAIS DE ALERTA</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3 abordagens de diversificação</a:t>
            </a:r>
            <a:endParaRPr lang="en-US" sz="2800" dirty="0"/>
          </a:p>
        </p:txBody>
      </p:sp>
      <p:sp>
        <p:nvSpPr>
          <p:cNvPr id="4" name="Shape 2"/>
          <p:cNvSpPr/>
          <p:nvPr/>
        </p:nvSpPr>
        <p:spPr>
          <a:xfrm>
            <a:off x="822960"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822960" y="1920240"/>
            <a:ext cx="3240024" cy="640080"/>
          </a:xfrm>
          <a:prstGeom prst="rect">
            <a:avLst/>
          </a:prstGeom>
          <a:solidFill>
            <a:srgbClr val="12283D"/>
          </a:solidFill>
          <a:ln/>
        </p:spPr>
      </p:sp>
      <p:sp>
        <p:nvSpPr>
          <p:cNvPr id="6" name="Text 4"/>
          <p:cNvSpPr/>
          <p:nvPr/>
        </p:nvSpPr>
        <p:spPr>
          <a:xfrm>
            <a:off x="822960"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Só individual</a:t>
            </a:r>
            <a:endParaRPr lang="en-US" sz="1500" dirty="0"/>
          </a:p>
        </p:txBody>
      </p:sp>
      <p:sp>
        <p:nvSpPr>
          <p:cNvPr id="7" name="Text 5"/>
          <p:cNvSpPr/>
          <p:nvPr/>
        </p:nvSpPr>
        <p:spPr>
          <a:xfrm>
            <a:off x="1051560"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Toda a receita depende de horas de atendimento 1:1, sem alternativa</a:t>
            </a:r>
            <a:endParaRPr lang="en-US" sz="1250" dirty="0"/>
          </a:p>
        </p:txBody>
      </p:sp>
      <p:sp>
        <p:nvSpPr>
          <p:cNvPr id="8" name="Shape 6"/>
          <p:cNvSpPr/>
          <p:nvPr/>
        </p:nvSpPr>
        <p:spPr>
          <a:xfrm>
            <a:off x="4474464"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9" name="Shape 7"/>
          <p:cNvSpPr/>
          <p:nvPr/>
        </p:nvSpPr>
        <p:spPr>
          <a:xfrm>
            <a:off x="4474464" y="1920240"/>
            <a:ext cx="3240024" cy="640080"/>
          </a:xfrm>
          <a:prstGeom prst="rect">
            <a:avLst/>
          </a:prstGeom>
          <a:solidFill>
            <a:srgbClr val="12283D"/>
          </a:solidFill>
          <a:ln/>
        </p:spPr>
      </p:sp>
      <p:sp>
        <p:nvSpPr>
          <p:cNvPr id="10" name="Text 8"/>
          <p:cNvSpPr/>
          <p:nvPr/>
        </p:nvSpPr>
        <p:spPr>
          <a:xfrm>
            <a:off x="4474464"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Sem estratégia</a:t>
            </a:r>
            <a:endParaRPr lang="en-US" sz="1500" dirty="0"/>
          </a:p>
        </p:txBody>
      </p:sp>
      <p:sp>
        <p:nvSpPr>
          <p:cNvPr id="11" name="Text 9"/>
          <p:cNvSpPr/>
          <p:nvPr/>
        </p:nvSpPr>
        <p:spPr>
          <a:xfrm>
            <a:off x="4703064"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Tenta vários formatos ao mesmo tempo, sem foco nem teste real</a:t>
            </a:r>
            <a:endParaRPr lang="en-US" sz="1250" dirty="0"/>
          </a:p>
        </p:txBody>
      </p:sp>
      <p:sp>
        <p:nvSpPr>
          <p:cNvPr id="12" name="Shape 10"/>
          <p:cNvSpPr/>
          <p:nvPr/>
        </p:nvSpPr>
        <p:spPr>
          <a:xfrm>
            <a:off x="8125968" y="1920240"/>
            <a:ext cx="3240024" cy="329184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13" name="Shape 11"/>
          <p:cNvSpPr/>
          <p:nvPr/>
        </p:nvSpPr>
        <p:spPr>
          <a:xfrm>
            <a:off x="8125968" y="1920240"/>
            <a:ext cx="3240024" cy="640080"/>
          </a:xfrm>
          <a:prstGeom prst="rect">
            <a:avLst/>
          </a:prstGeom>
          <a:solidFill>
            <a:srgbClr val="12283D"/>
          </a:solidFill>
          <a:ln/>
        </p:spPr>
      </p:sp>
      <p:sp>
        <p:nvSpPr>
          <p:cNvPr id="14" name="Text 12"/>
          <p:cNvSpPr/>
          <p:nvPr/>
        </p:nvSpPr>
        <p:spPr>
          <a:xfrm>
            <a:off x="8125968" y="1920240"/>
            <a:ext cx="3240024"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Intencional</a:t>
            </a:r>
            <a:endParaRPr lang="en-US" sz="1500" dirty="0"/>
          </a:p>
        </p:txBody>
      </p:sp>
      <p:sp>
        <p:nvSpPr>
          <p:cNvPr id="15" name="Text 13"/>
          <p:cNvSpPr/>
          <p:nvPr/>
        </p:nvSpPr>
        <p:spPr>
          <a:xfrm>
            <a:off x="8354568" y="2743200"/>
            <a:ext cx="2782824" cy="2286000"/>
          </a:xfrm>
          <a:prstGeom prst="rect">
            <a:avLst/>
          </a:prstGeom>
          <a:noFill/>
          <a:ln/>
        </p:spPr>
        <p:txBody>
          <a:bodyPr wrap="square" lIns="0" tIns="0" rIns="0" bIns="0" rtlCol="0" anchor="ctr"/>
          <a:lstStyle/>
          <a:p>
            <a:pPr indent="0" marL="0">
              <a:buNone/>
            </a:pPr>
            <a:r>
              <a:rPr lang="en-US" sz="1250" dirty="0">
                <a:solidFill>
                  <a:srgbClr val="6B6153"/>
                </a:solidFill>
                <a:latin typeface="Calibri" pitchFamily="34" charset="0"/>
                <a:ea typeface="Calibri" pitchFamily="34" charset="-122"/>
                <a:cs typeface="Calibri" pitchFamily="34" charset="-120"/>
              </a:rPr>
              <a:t>Um formato testado em pequena escala, com critério claro de escolha</a:t>
            </a:r>
            <a:endParaRPr lang="en-US" sz="125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3 · INSTRUMENTO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3 perguntas antes de diversificar</a:t>
            </a:r>
            <a:endParaRPr lang="en-US" sz="2800" dirty="0"/>
          </a:p>
        </p:txBody>
      </p:sp>
      <p:sp>
        <p:nvSpPr>
          <p:cNvPr id="4" name="Shape 2"/>
          <p:cNvSpPr/>
          <p:nvPr/>
        </p:nvSpPr>
        <p:spPr>
          <a:xfrm>
            <a:off x="822960"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1051560"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Isso energiza?</a:t>
            </a:r>
            <a:endParaRPr lang="en-US" sz="2200" dirty="0"/>
          </a:p>
        </p:txBody>
      </p:sp>
      <p:sp>
        <p:nvSpPr>
          <p:cNvPr id="6" name="Text 4"/>
          <p:cNvSpPr/>
          <p:nvPr/>
        </p:nvSpPr>
        <p:spPr>
          <a:xfrm>
            <a:off x="1051560"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Isso realmente te energiza, ou é mais uma obrigação</a:t>
            </a:r>
            <a:endParaRPr lang="en-US" sz="1100" dirty="0"/>
          </a:p>
        </p:txBody>
      </p:sp>
      <p:sp>
        <p:nvSpPr>
          <p:cNvPr id="7" name="Text 5"/>
          <p:cNvSpPr/>
          <p:nvPr/>
        </p:nvSpPr>
        <p:spPr>
          <a:xfrm>
            <a:off x="1051560"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Diversificação sem energia real vira desgaste, não crescimento.</a:t>
            </a:r>
            <a:endParaRPr lang="en-US" sz="1200" dirty="0"/>
          </a:p>
        </p:txBody>
      </p:sp>
      <p:sp>
        <p:nvSpPr>
          <p:cNvPr id="8" name="Shape 6"/>
          <p:cNvSpPr/>
          <p:nvPr/>
        </p:nvSpPr>
        <p:spPr>
          <a:xfrm>
            <a:off x="4474464"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4703064"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Domino isso?</a:t>
            </a:r>
            <a:endParaRPr lang="en-US" sz="2200" dirty="0"/>
          </a:p>
        </p:txBody>
      </p:sp>
      <p:sp>
        <p:nvSpPr>
          <p:cNvPr id="10" name="Text 8"/>
          <p:cNvSpPr/>
          <p:nvPr/>
        </p:nvSpPr>
        <p:spPr>
          <a:xfrm>
            <a:off x="4703064"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Você tem competência real, ou está aprendendo junto</a:t>
            </a:r>
            <a:endParaRPr lang="en-US" sz="1100" dirty="0"/>
          </a:p>
        </p:txBody>
      </p:sp>
      <p:sp>
        <p:nvSpPr>
          <p:cNvPr id="11" name="Text 9"/>
          <p:cNvSpPr/>
          <p:nvPr/>
        </p:nvSpPr>
        <p:spPr>
          <a:xfrm>
            <a:off x="4703064"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Ensinar ou escalar algo ainda incerto compromete a qualidade entregue.</a:t>
            </a:r>
            <a:endParaRPr lang="en-US" sz="1200" dirty="0"/>
          </a:p>
        </p:txBody>
      </p:sp>
      <p:sp>
        <p:nvSpPr>
          <p:cNvPr id="12" name="Shape 10"/>
          <p:cNvSpPr/>
          <p:nvPr/>
        </p:nvSpPr>
        <p:spPr>
          <a:xfrm>
            <a:off x="8125968" y="1920240"/>
            <a:ext cx="3240024" cy="3566160"/>
          </a:xfrm>
          <a:prstGeom prst="roundRect">
            <a:avLst>
              <a:gd name="adj" fmla="val 2258"/>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8354568" y="2103120"/>
            <a:ext cx="2782824" cy="548640"/>
          </a:xfrm>
          <a:prstGeom prst="rect">
            <a:avLst/>
          </a:prstGeom>
          <a:noFill/>
          <a:ln/>
        </p:spPr>
        <p:txBody>
          <a:bodyPr wrap="square" lIns="0" tIns="0" rIns="0" bIns="0" rtlCol="0" anchor="ctr"/>
          <a:lstStyle/>
          <a:p>
            <a:pPr indent="0" marL="0">
              <a:buNone/>
            </a:pPr>
            <a:r>
              <a:rPr lang="en-US" sz="2200" b="1" dirty="0">
                <a:solidFill>
                  <a:srgbClr val="C1652F"/>
                </a:solidFill>
                <a:latin typeface="Cambria" pitchFamily="34" charset="0"/>
                <a:ea typeface="Cambria" pitchFamily="34" charset="-122"/>
                <a:cs typeface="Cambria" pitchFamily="34" charset="-120"/>
              </a:rPr>
              <a:t>Impacto na agenda?</a:t>
            </a:r>
            <a:endParaRPr lang="en-US" sz="2200" dirty="0"/>
          </a:p>
        </p:txBody>
      </p:sp>
      <p:sp>
        <p:nvSpPr>
          <p:cNvPr id="14" name="Text 12"/>
          <p:cNvSpPr/>
          <p:nvPr/>
        </p:nvSpPr>
        <p:spPr>
          <a:xfrm>
            <a:off x="8354568" y="2606040"/>
            <a:ext cx="2782824" cy="457200"/>
          </a:xfrm>
          <a:prstGeom prst="rect">
            <a:avLst/>
          </a:prstGeom>
          <a:noFill/>
          <a:ln/>
        </p:spPr>
        <p:txBody>
          <a:bodyPr wrap="square" lIns="0" tIns="0" rIns="0" bIns="0" rtlCol="0" anchor="ctr"/>
          <a:lstStyle/>
          <a:p>
            <a:pPr indent="0" marL="0">
              <a:buNone/>
            </a:pPr>
            <a:r>
              <a:rPr lang="en-US" sz="1100" i="1" dirty="0">
                <a:solidFill>
                  <a:srgbClr val="12283D"/>
                </a:solidFill>
                <a:latin typeface="Calibri" pitchFamily="34" charset="0"/>
                <a:ea typeface="Calibri" pitchFamily="34" charset="-122"/>
                <a:cs typeface="Calibri" pitchFamily="34" charset="-120"/>
              </a:rPr>
              <a:t>Que impacto isso teria no seu atendimento individual</a:t>
            </a:r>
            <a:endParaRPr lang="en-US" sz="1100" dirty="0"/>
          </a:p>
        </p:txBody>
      </p:sp>
      <p:sp>
        <p:nvSpPr>
          <p:cNvPr id="15" name="Text 13"/>
          <p:cNvSpPr/>
          <p:nvPr/>
        </p:nvSpPr>
        <p:spPr>
          <a:xfrm>
            <a:off x="8354568" y="3108960"/>
            <a:ext cx="2782824" cy="2286000"/>
          </a:xfrm>
          <a:prstGeom prst="rect">
            <a:avLst/>
          </a:prstGeom>
          <a:noFill/>
          <a:ln/>
        </p:spPr>
        <p:txBody>
          <a:bodyPr wrap="square" lIns="0" tIns="0" rIns="0" bIns="0" rtlCol="0" anchor="ctr"/>
          <a:lstStyle/>
          <a:p>
            <a:pPr indent="0" marL="0">
              <a:buNone/>
            </a:pPr>
            <a:r>
              <a:rPr lang="en-US" sz="1200" dirty="0">
                <a:solidFill>
                  <a:srgbClr val="6B6153"/>
                </a:solidFill>
                <a:latin typeface="Calibri" pitchFamily="34" charset="0"/>
                <a:ea typeface="Calibri" pitchFamily="34" charset="-122"/>
                <a:cs typeface="Calibri" pitchFamily="34" charset="-120"/>
              </a:rPr>
              <a:t>Diversificar não deveria comprometer a base que já sustenta o consultório.</a:t>
            </a:r>
            <a:endParaRPr lang="en-US" sz="12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Diversificando com segurança: 4 passos</a:t>
            </a:r>
            <a:endParaRPr lang="en-US" sz="2800" dirty="0"/>
          </a:p>
        </p:txBody>
      </p:sp>
      <p:sp>
        <p:nvSpPr>
          <p:cNvPr id="4" name="Shape 2"/>
          <p:cNvSpPr/>
          <p:nvPr/>
        </p:nvSpPr>
        <p:spPr>
          <a:xfrm>
            <a:off x="1723644" y="2286000"/>
            <a:ext cx="731520" cy="731520"/>
          </a:xfrm>
          <a:prstGeom prst="ellipse">
            <a:avLst/>
          </a:prstGeom>
          <a:solidFill>
            <a:srgbClr val="C1652F"/>
          </a:solidFill>
          <a:ln/>
        </p:spPr>
      </p:sp>
      <p:sp>
        <p:nvSpPr>
          <p:cNvPr id="5" name="Text 3"/>
          <p:cNvSpPr/>
          <p:nvPr/>
        </p:nvSpPr>
        <p:spPr>
          <a:xfrm>
            <a:off x="1723644"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914400"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Identificar uma</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competência replicável</a:t>
            </a:r>
            <a:endParaRPr lang="en-US" sz="1400" dirty="0"/>
          </a:p>
        </p:txBody>
      </p:sp>
      <p:sp>
        <p:nvSpPr>
          <p:cNvPr id="7" name="Text 5"/>
          <p:cNvSpPr/>
          <p:nvPr/>
        </p:nvSpPr>
        <p:spPr>
          <a:xfrm>
            <a:off x="1051560"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O que você já domina o suficiente pra ensinar ou escalar</a:t>
            </a:r>
            <a:endParaRPr lang="en-US" sz="1100" dirty="0"/>
          </a:p>
        </p:txBody>
      </p:sp>
      <p:sp>
        <p:nvSpPr>
          <p:cNvPr id="8" name="Text 6"/>
          <p:cNvSpPr/>
          <p:nvPr/>
        </p:nvSpPr>
        <p:spPr>
          <a:xfrm>
            <a:off x="3264408"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393692" y="2286000"/>
            <a:ext cx="731520" cy="731520"/>
          </a:xfrm>
          <a:prstGeom prst="ellipse">
            <a:avLst/>
          </a:prstGeom>
          <a:solidFill>
            <a:srgbClr val="C1652F"/>
          </a:solidFill>
          <a:ln/>
        </p:spPr>
      </p:sp>
      <p:sp>
        <p:nvSpPr>
          <p:cNvPr id="10" name="Text 8"/>
          <p:cNvSpPr/>
          <p:nvPr/>
        </p:nvSpPr>
        <p:spPr>
          <a:xfrm>
            <a:off x="4393692"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3584448"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Escolher um</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formato pra testar</a:t>
            </a:r>
            <a:endParaRPr lang="en-US" sz="1400" dirty="0"/>
          </a:p>
        </p:txBody>
      </p:sp>
      <p:sp>
        <p:nvSpPr>
          <p:cNvPr id="12" name="Text 10"/>
          <p:cNvSpPr/>
          <p:nvPr/>
        </p:nvSpPr>
        <p:spPr>
          <a:xfrm>
            <a:off x="3721608"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Com base nos 3 critérios do slide 6</a:t>
            </a:r>
            <a:endParaRPr lang="en-US" sz="1100" dirty="0"/>
          </a:p>
        </p:txBody>
      </p:sp>
      <p:sp>
        <p:nvSpPr>
          <p:cNvPr id="13" name="Text 11"/>
          <p:cNvSpPr/>
          <p:nvPr/>
        </p:nvSpPr>
        <p:spPr>
          <a:xfrm>
            <a:off x="5934456"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7063740" y="2286000"/>
            <a:ext cx="731520" cy="731520"/>
          </a:xfrm>
          <a:prstGeom prst="ellipse">
            <a:avLst/>
          </a:prstGeom>
          <a:solidFill>
            <a:srgbClr val="C1652F"/>
          </a:solidFill>
          <a:ln/>
        </p:spPr>
      </p:sp>
      <p:sp>
        <p:nvSpPr>
          <p:cNvPr id="15" name="Text 13"/>
          <p:cNvSpPr/>
          <p:nvPr/>
        </p:nvSpPr>
        <p:spPr>
          <a:xfrm>
            <a:off x="7063740"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6254496"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Rodar uma</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versão piloto</a:t>
            </a:r>
            <a:endParaRPr lang="en-US" sz="1400" dirty="0"/>
          </a:p>
        </p:txBody>
      </p:sp>
      <p:sp>
        <p:nvSpPr>
          <p:cNvPr id="17" name="Text 15"/>
          <p:cNvSpPr/>
          <p:nvPr/>
        </p:nvSpPr>
        <p:spPr>
          <a:xfrm>
            <a:off x="6391656"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Pequena, de baixo risco, antes de qualquer expansão</a:t>
            </a:r>
            <a:endParaRPr lang="en-US" sz="1100" dirty="0"/>
          </a:p>
        </p:txBody>
      </p:sp>
      <p:sp>
        <p:nvSpPr>
          <p:cNvPr id="18" name="Text 16"/>
          <p:cNvSpPr/>
          <p:nvPr/>
        </p:nvSpPr>
        <p:spPr>
          <a:xfrm>
            <a:off x="8604504" y="2286000"/>
            <a:ext cx="320040" cy="731520"/>
          </a:xfrm>
          <a:prstGeom prst="rect">
            <a:avLst/>
          </a:prstGeom>
          <a:noFill/>
          <a:ln/>
        </p:spPr>
        <p:txBody>
          <a:bodyPr wrap="square" lIns="0" tIns="0" rIns="0" bIns="0" rtlCol="0" anchor="ctr"/>
          <a:lstStyle/>
          <a:p>
            <a:pPr algn="ctr" indent="0" marL="0">
              <a:buNone/>
            </a:pPr>
            <a:r>
              <a:rPr lang="en-US" sz="2200" dirty="0">
                <a:solidFill>
                  <a:srgbClr val="B7C2CE"/>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9733788" y="2286000"/>
            <a:ext cx="731520" cy="731520"/>
          </a:xfrm>
          <a:prstGeom prst="ellipse">
            <a:avLst/>
          </a:prstGeom>
          <a:solidFill>
            <a:srgbClr val="C1652F"/>
          </a:solidFill>
          <a:ln/>
        </p:spPr>
      </p:sp>
      <p:sp>
        <p:nvSpPr>
          <p:cNvPr id="20" name="Text 18"/>
          <p:cNvSpPr/>
          <p:nvPr/>
        </p:nvSpPr>
        <p:spPr>
          <a:xfrm>
            <a:off x="9733788"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8924544" y="3246120"/>
            <a:ext cx="2350008" cy="822960"/>
          </a:xfrm>
          <a:prstGeom prst="rect">
            <a:avLst/>
          </a:prstGeom>
          <a:noFill/>
          <a:ln/>
        </p:spPr>
        <p:txBody>
          <a:bodyPr wrap="square" lIns="0" tIns="0" rIns="0" bIns="0" rtlCol="0" anchor="ctr"/>
          <a:lstStyle/>
          <a:p>
            <a:pPr algn="ctr" indent="0" marL="0">
              <a:buNone/>
            </a:pPr>
            <a:r>
              <a:rPr lang="en-US" sz="1400" b="1" dirty="0">
                <a:solidFill>
                  <a:srgbClr val="12283D"/>
                </a:solidFill>
                <a:latin typeface="Calibri" pitchFamily="34" charset="0"/>
                <a:ea typeface="Calibri" pitchFamily="34" charset="-122"/>
                <a:cs typeface="Calibri" pitchFamily="34" charset="-120"/>
              </a:rPr>
              <a:t>Avaliar antes</a:t>
            </a:r>
            <a:endParaRPr lang="en-US" sz="1400" dirty="0"/>
          </a:p>
          <a:p>
            <a:pPr algn="ctr" indent="0" marL="0">
              <a:buNone/>
            </a:pPr>
            <a:r>
              <a:rPr lang="en-US" sz="1400" b="1" dirty="0">
                <a:solidFill>
                  <a:srgbClr val="12283D"/>
                </a:solidFill>
                <a:latin typeface="Calibri" pitchFamily="34" charset="0"/>
                <a:ea typeface="Calibri" pitchFamily="34" charset="-122"/>
                <a:cs typeface="Calibri" pitchFamily="34" charset="-120"/>
              </a:rPr>
              <a:t>de expandir</a:t>
            </a:r>
            <a:endParaRPr lang="en-US" sz="1400" dirty="0"/>
          </a:p>
        </p:txBody>
      </p:sp>
      <p:sp>
        <p:nvSpPr>
          <p:cNvPr id="22" name="Text 20"/>
          <p:cNvSpPr/>
          <p:nvPr/>
        </p:nvSpPr>
        <p:spPr>
          <a:xfrm>
            <a:off x="9061704" y="4114800"/>
            <a:ext cx="2075688" cy="731520"/>
          </a:xfrm>
          <a:prstGeom prst="rect">
            <a:avLst/>
          </a:prstGeom>
          <a:noFill/>
          <a:ln/>
        </p:spPr>
        <p:txBody>
          <a:bodyPr wrap="square" lIns="0" tIns="0" rIns="0" bIns="0" rtlCol="0" anchor="ctr"/>
          <a:lstStyle/>
          <a:p>
            <a:pPr algn="ctr" indent="0" marL="0">
              <a:buNone/>
            </a:pPr>
            <a:r>
              <a:rPr lang="en-US" sz="1100" dirty="0">
                <a:solidFill>
                  <a:srgbClr val="6B6153"/>
                </a:solidFill>
                <a:latin typeface="Calibri" pitchFamily="34" charset="0"/>
                <a:ea typeface="Calibri" pitchFamily="34" charset="-122"/>
                <a:cs typeface="Calibri" pitchFamily="34" charset="-120"/>
              </a:rPr>
              <a:t>Com dados reais, não só entusiasmo inicial</a:t>
            </a:r>
            <a:endParaRPr lang="en-US" sz="1100" dirty="0"/>
          </a:p>
        </p:txBody>
      </p:sp>
      <p:sp>
        <p:nvSpPr>
          <p:cNvPr id="23" name="Text 21"/>
          <p:cNvSpPr/>
          <p:nvPr/>
        </p:nvSpPr>
        <p:spPr>
          <a:xfrm>
            <a:off x="822960" y="5349240"/>
            <a:ext cx="9601200" cy="457200"/>
          </a:xfrm>
          <a:prstGeom prst="rect">
            <a:avLst/>
          </a:prstGeom>
          <a:noFill/>
          <a:ln/>
        </p:spPr>
        <p:txBody>
          <a:bodyPr wrap="square" lIns="0" tIns="0" rIns="0" bIns="0" rtlCol="0" anchor="ctr"/>
          <a:lstStyle/>
          <a:p>
            <a:pPr algn="ctr" indent="0" marL="0">
              <a:buNone/>
            </a:pPr>
            <a:r>
              <a:rPr lang="en-US" sz="1300" i="1" dirty="0">
                <a:solidFill>
                  <a:srgbClr val="6B6153"/>
                </a:solidFill>
                <a:latin typeface="Calibri" pitchFamily="34" charset="0"/>
                <a:ea typeface="Calibri" pitchFamily="34" charset="-122"/>
                <a:cs typeface="Calibri" pitchFamily="34" charset="-120"/>
              </a:rPr>
              <a:t>Esses 4 passos fecham o curso inteiro voltando ao mesmo princípio do início: decisão baseada em dado real, não em intuição isolada.</a:t>
            </a:r>
            <a:endParaRPr lang="en-US" sz="130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25" name="Text 2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Passos 1 e 2, na prática</a:t>
            </a:r>
            <a:endParaRPr lang="en-US" sz="2800" dirty="0"/>
          </a:p>
        </p:txBody>
      </p:sp>
      <p:sp>
        <p:nvSpPr>
          <p:cNvPr id="4" name="Shape 2"/>
          <p:cNvSpPr/>
          <p:nvPr/>
        </p:nvSpPr>
        <p:spPr>
          <a:xfrm>
            <a:off x="82296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057400"/>
            <a:ext cx="457200" cy="457200"/>
          </a:xfrm>
          <a:prstGeom prst="ellipse">
            <a:avLst/>
          </a:prstGeom>
          <a:solidFill>
            <a:srgbClr val="C1652F"/>
          </a:solidFill>
          <a:ln/>
        </p:spPr>
      </p:sp>
      <p:sp>
        <p:nvSpPr>
          <p:cNvPr id="6" name="Text 4"/>
          <p:cNvSpPr/>
          <p:nvPr/>
        </p:nvSpPr>
        <p:spPr>
          <a:xfrm>
            <a:off x="105156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64592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Identificar uma competência replicável</a:t>
            </a:r>
            <a:endParaRPr lang="en-US" sz="1600" dirty="0"/>
          </a:p>
        </p:txBody>
      </p:sp>
      <p:sp>
        <p:nvSpPr>
          <p:cNvPr id="8" name="Text 6"/>
          <p:cNvSpPr/>
          <p:nvPr/>
        </p:nvSpPr>
        <p:spPr>
          <a:xfrm>
            <a:off x="105156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Pense no que colegas ou pacientes já elogiaram ou perguntaram como você faz</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Prefira algo que você já domina, não algo que ainda está descobrindo</a:t>
            </a:r>
            <a:endParaRPr lang="en-US" sz="1250" dirty="0"/>
          </a:p>
        </p:txBody>
      </p:sp>
      <p:sp>
        <p:nvSpPr>
          <p:cNvPr id="9" name="Shape 7"/>
          <p:cNvSpPr/>
          <p:nvPr/>
        </p:nvSpPr>
        <p:spPr>
          <a:xfrm>
            <a:off x="626364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6492240" y="2057400"/>
            <a:ext cx="457200" cy="457200"/>
          </a:xfrm>
          <a:prstGeom prst="ellipse">
            <a:avLst/>
          </a:prstGeom>
          <a:solidFill>
            <a:srgbClr val="C1652F"/>
          </a:solidFill>
          <a:ln/>
        </p:spPr>
      </p:sp>
      <p:sp>
        <p:nvSpPr>
          <p:cNvPr id="11" name="Text 9"/>
          <p:cNvSpPr/>
          <p:nvPr/>
        </p:nvSpPr>
        <p:spPr>
          <a:xfrm>
            <a:off x="649224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08660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Escolher um formato pra testar</a:t>
            </a:r>
            <a:endParaRPr lang="en-US" sz="1600" dirty="0"/>
          </a:p>
        </p:txBody>
      </p:sp>
      <p:sp>
        <p:nvSpPr>
          <p:cNvPr id="13" name="Text 11"/>
          <p:cNvSpPr/>
          <p:nvPr/>
        </p:nvSpPr>
        <p:spPr>
          <a:xfrm>
            <a:off x="6492240" y="2697480"/>
            <a:ext cx="4663440" cy="1188720"/>
          </a:xfrm>
          <a:prstGeom prst="rect">
            <a:avLst/>
          </a:prstGeom>
          <a:noFill/>
          <a:ln/>
        </p:spPr>
        <p:txBody>
          <a:bodyPr wrap="square" lIns="0" tIns="0" rIns="0" bIns="0" rtlCol="0" anchor="ctr"/>
          <a:lstStyle/>
          <a:p>
            <a:pPr indent="0" marL="0">
              <a:buNone/>
            </a:pPr>
            <a:r>
              <a:rPr lang="en-US" sz="1300" i="1" dirty="0">
                <a:solidFill>
                  <a:srgbClr val="6B6153"/>
                </a:solidFill>
                <a:latin typeface="Calibri" pitchFamily="34" charset="0"/>
                <a:ea typeface="Calibri" pitchFamily="34" charset="-122"/>
                <a:cs typeface="Calibri" pitchFamily="34" charset="-120"/>
              </a:rPr>
              <a:t>“Considerando minha energia, competência e momento de carreira, qual dos 4 formatos faz mais sentido agora?”</a:t>
            </a:r>
            <a:endParaRPr lang="en-US" sz="1300" dirty="0"/>
          </a:p>
        </p:txBody>
      </p:sp>
      <p:sp>
        <p:nvSpPr>
          <p:cNvPr id="14" name="Text 12"/>
          <p:cNvSpPr/>
          <p:nvPr/>
        </p:nvSpPr>
        <p:spPr>
          <a:xfrm>
            <a:off x="6492240" y="402336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Escolha um formato por vez, não tente iniciar vários ao mesmo tempo</a:t>
            </a:r>
            <a:endParaRPr lang="en-US" sz="1250" dirty="0"/>
          </a:p>
        </p:txBody>
      </p:sp>
      <p:sp>
        <p:nvSpPr>
          <p:cNvPr id="15"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16"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4 · PROTOCOLO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Passos 3 e 4, na prática</a:t>
            </a:r>
            <a:endParaRPr lang="en-US" sz="2800" dirty="0"/>
          </a:p>
        </p:txBody>
      </p:sp>
      <p:sp>
        <p:nvSpPr>
          <p:cNvPr id="4" name="Shape 2"/>
          <p:cNvSpPr/>
          <p:nvPr/>
        </p:nvSpPr>
        <p:spPr>
          <a:xfrm>
            <a:off x="82296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057400"/>
            <a:ext cx="457200" cy="457200"/>
          </a:xfrm>
          <a:prstGeom prst="ellipse">
            <a:avLst/>
          </a:prstGeom>
          <a:solidFill>
            <a:srgbClr val="C1652F"/>
          </a:solidFill>
          <a:ln/>
        </p:spPr>
      </p:sp>
      <p:sp>
        <p:nvSpPr>
          <p:cNvPr id="6" name="Text 4"/>
          <p:cNvSpPr/>
          <p:nvPr/>
        </p:nvSpPr>
        <p:spPr>
          <a:xfrm>
            <a:off x="105156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7" name="Text 5"/>
          <p:cNvSpPr/>
          <p:nvPr/>
        </p:nvSpPr>
        <p:spPr>
          <a:xfrm>
            <a:off x="164592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Rodar uma versão piloto</a:t>
            </a:r>
            <a:endParaRPr lang="en-US" sz="1600" dirty="0"/>
          </a:p>
        </p:txBody>
      </p:sp>
      <p:sp>
        <p:nvSpPr>
          <p:cNvPr id="8" name="Text 6"/>
          <p:cNvSpPr/>
          <p:nvPr/>
        </p:nvSpPr>
        <p:spPr>
          <a:xfrm>
            <a:off x="105156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Um grupo pequeno, uma palestra única, ou um mini curso — algo de baixo risco pra validar a ideia</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O objetivo do piloto é aprender, não já gerar receita significativa</a:t>
            </a:r>
            <a:endParaRPr lang="en-US" sz="1250" dirty="0"/>
          </a:p>
        </p:txBody>
      </p:sp>
      <p:sp>
        <p:nvSpPr>
          <p:cNvPr id="9" name="Shape 7"/>
          <p:cNvSpPr/>
          <p:nvPr/>
        </p:nvSpPr>
        <p:spPr>
          <a:xfrm>
            <a:off x="6263640" y="1828800"/>
            <a:ext cx="5120640" cy="4023360"/>
          </a:xfrm>
          <a:prstGeom prst="roundRect">
            <a:avLst>
              <a:gd name="adj" fmla="val 1818"/>
            </a:avLst>
          </a:prstGeom>
          <a:solidFill>
            <a:srgbClr val="FFFFFF"/>
          </a:solidFill>
          <a:ln/>
          <a:effectLst>
            <a:outerShdw sx="100000" sy="100000" kx="0" ky="0" algn="bl" rotWithShape="0" blurRad="101600" dist="38100" dir="2700000">
              <a:srgbClr val="000000">
                <a:alpha val="12000"/>
              </a:srgbClr>
            </a:outerShdw>
          </a:effectLst>
        </p:spPr>
      </p:sp>
      <p:sp>
        <p:nvSpPr>
          <p:cNvPr id="10" name="Shape 8"/>
          <p:cNvSpPr/>
          <p:nvPr/>
        </p:nvSpPr>
        <p:spPr>
          <a:xfrm>
            <a:off x="6492240" y="2057400"/>
            <a:ext cx="457200" cy="457200"/>
          </a:xfrm>
          <a:prstGeom prst="ellipse">
            <a:avLst/>
          </a:prstGeom>
          <a:solidFill>
            <a:srgbClr val="C1652F"/>
          </a:solidFill>
          <a:ln/>
        </p:spPr>
      </p:sp>
      <p:sp>
        <p:nvSpPr>
          <p:cNvPr id="11" name="Text 9"/>
          <p:cNvSpPr/>
          <p:nvPr/>
        </p:nvSpPr>
        <p:spPr>
          <a:xfrm>
            <a:off x="649224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2" name="Text 10"/>
          <p:cNvSpPr/>
          <p:nvPr/>
        </p:nvSpPr>
        <p:spPr>
          <a:xfrm>
            <a:off x="7086600" y="2084832"/>
            <a:ext cx="4114800" cy="41148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Avaliar antes de expandir</a:t>
            </a:r>
            <a:endParaRPr lang="en-US" sz="1600" dirty="0"/>
          </a:p>
        </p:txBody>
      </p:sp>
      <p:sp>
        <p:nvSpPr>
          <p:cNvPr id="13" name="Text 11"/>
          <p:cNvSpPr/>
          <p:nvPr/>
        </p:nvSpPr>
        <p:spPr>
          <a:xfrm>
            <a:off x="6492240" y="269748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Reveja se o formato realmente energizou, gerou resultado e não comprometeu o atendimento individual</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Expanda só depois de confirmar isso com a experiência real do piloto</a:t>
            </a:r>
            <a:endParaRPr lang="en-US" sz="125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APLICAÇÃO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Estudo de caso</a:t>
            </a:r>
            <a:endParaRPr lang="en-US" sz="2800" dirty="0"/>
          </a:p>
        </p:txBody>
      </p:sp>
      <p:sp>
        <p:nvSpPr>
          <p:cNvPr id="4" name="Shape 2"/>
          <p:cNvSpPr/>
          <p:nvPr/>
        </p:nvSpPr>
        <p:spPr>
          <a:xfrm>
            <a:off x="822960" y="1783080"/>
            <a:ext cx="10515600" cy="1828800"/>
          </a:xfrm>
          <a:prstGeom prst="roundRect">
            <a:avLst>
              <a:gd name="adj" fmla="val 4000"/>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1097280" y="1965960"/>
            <a:ext cx="9966960" cy="14630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Uma psicóloga com agenda de atendimento individual já no limite sustentável recebe, com frequência, perguntas de colegas mais novos sobre como ela lida com um tema clínico específico que domina profundamente. Ela nunca considerou dar supervisão, mas o padrão de interesse é claro.</a:t>
            </a:r>
            <a:endParaRPr lang="en-US" sz="1500" dirty="0"/>
          </a:p>
        </p:txBody>
      </p:sp>
      <p:sp>
        <p:nvSpPr>
          <p:cNvPr id="6" name="Text 4"/>
          <p:cNvSpPr/>
          <p:nvPr/>
        </p:nvSpPr>
        <p:spPr>
          <a:xfrm>
            <a:off x="822960" y="3886200"/>
            <a:ext cx="5486400" cy="365760"/>
          </a:xfrm>
          <a:prstGeom prst="rect">
            <a:avLst/>
          </a:prstGeom>
          <a:noFill/>
          <a:ln/>
        </p:spPr>
        <p:txBody>
          <a:bodyPr wrap="square" lIns="0" tIns="0" rIns="0" bIns="0" rtlCol="0" anchor="ctr"/>
          <a:lstStyle/>
          <a:p>
            <a:pPr indent="0" marL="0">
              <a:buNone/>
            </a:pPr>
            <a:r>
              <a:rPr lang="en-US" sz="1600" b="1" dirty="0">
                <a:solidFill>
                  <a:srgbClr val="12283D"/>
                </a:solidFill>
                <a:latin typeface="Cambria" pitchFamily="34" charset="0"/>
                <a:ea typeface="Cambria" pitchFamily="34" charset="-122"/>
                <a:cs typeface="Cambria" pitchFamily="34" charset="-120"/>
              </a:rPr>
              <a:t>Discussão guiada</a:t>
            </a:r>
            <a:endParaRPr lang="en-US" sz="1600" dirty="0"/>
          </a:p>
        </p:txBody>
      </p:sp>
      <p:sp>
        <p:nvSpPr>
          <p:cNvPr id="7" name="Text 5"/>
          <p:cNvSpPr/>
          <p:nvPr/>
        </p:nvSpPr>
        <p:spPr>
          <a:xfrm>
            <a:off x="822960" y="4297680"/>
            <a:ext cx="10058400" cy="16459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Quantos dos 4 sinais do slide 7 essa psicóloga já apresenta?</a:t>
            </a:r>
            <a:endParaRPr lang="en-US" sz="1400" dirty="0"/>
          </a:p>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Que formato de diversificação (slide 4) parece mais alinhado à situação dela?</a:t>
            </a:r>
            <a:endParaRPr lang="en-US" sz="1400" dirty="0"/>
          </a:p>
          <a:p>
            <a:pPr marL="342900" indent="-342900">
              <a:spcAft>
                <a:spcPts val="800"/>
              </a:spcAft>
              <a:buSzPct val="100000"/>
              <a:buChar char="•"/>
            </a:pPr>
            <a:r>
              <a:rPr lang="en-US" sz="1400" dirty="0">
                <a:solidFill>
                  <a:srgbClr val="6B6153"/>
                </a:solidFill>
                <a:latin typeface="Calibri" pitchFamily="34" charset="0"/>
                <a:ea typeface="Calibri" pitchFamily="34" charset="-122"/>
                <a:cs typeface="Calibri" pitchFamily="34" charset="-120"/>
              </a:rPr>
              <a:t>Como ela poderia estruturar um piloto de baixo risco pra testar essa ideia?</a:t>
            </a:r>
            <a:endParaRPr lang="en-US" sz="1400" dirty="0"/>
          </a:p>
        </p:txBody>
      </p:sp>
      <p:sp>
        <p:nvSpPr>
          <p:cNvPr id="8"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9"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A"/>
        </a:solidFill>
      </p:bgPr>
    </p:bg>
    <p:spTree>
      <p:nvGrpSpPr>
        <p:cNvPr id="1" name=""/>
        <p:cNvGrpSpPr/>
        <p:nvPr/>
      </p:nvGrpSpPr>
      <p:grpSpPr>
        <a:xfrm>
          <a:off x="0" y="0"/>
          <a:ext cx="0" cy="0"/>
          <a:chOff x="0" y="0"/>
          <a:chExt cx="0" cy="0"/>
        </a:xfrm>
      </p:grpSpPr>
      <p:sp>
        <p:nvSpPr>
          <p:cNvPr id="2" name="Text 0"/>
          <p:cNvSpPr/>
          <p:nvPr/>
        </p:nvSpPr>
        <p:spPr>
          <a:xfrm>
            <a:off x="822960" y="457200"/>
            <a:ext cx="9144000" cy="274320"/>
          </a:xfrm>
          <a:prstGeom prst="rect">
            <a:avLst/>
          </a:prstGeom>
          <a:noFill/>
          <a:ln/>
        </p:spPr>
        <p:txBody>
          <a:bodyPr wrap="square" lIns="0" tIns="0" rIns="0" bIns="0" rtlCol="0" anchor="ctr"/>
          <a:lstStyle/>
          <a:p>
            <a:pPr indent="0" marL="0">
              <a:buNone/>
            </a:pPr>
            <a:r>
              <a:rPr lang="en-US" sz="1100" b="1" spc="200" kern="0" dirty="0">
                <a:solidFill>
                  <a:srgbClr val="A8551F"/>
                </a:solidFill>
                <a:latin typeface="Calibri" pitchFamily="34" charset="0"/>
                <a:ea typeface="Calibri" pitchFamily="34" charset="-122"/>
                <a:cs typeface="Calibri" pitchFamily="34" charset="-120"/>
              </a:rPr>
              <a:t>PASSO 5 · ENCAMINHAMENTO</a:t>
            </a:r>
            <a:endParaRPr lang="en-US" sz="1100" dirty="0"/>
          </a:p>
        </p:txBody>
      </p:sp>
      <p:sp>
        <p:nvSpPr>
          <p:cNvPr id="3" name="Text 1"/>
          <p:cNvSpPr/>
          <p:nvPr/>
        </p:nvSpPr>
        <p:spPr>
          <a:xfrm>
            <a:off x="777240" y="731520"/>
            <a:ext cx="10058400" cy="685800"/>
          </a:xfrm>
          <a:prstGeom prst="rect">
            <a:avLst/>
          </a:prstGeom>
          <a:noFill/>
          <a:ln/>
        </p:spPr>
        <p:txBody>
          <a:bodyPr wrap="square" lIns="0" tIns="0" rIns="0" bIns="0" rtlCol="0" anchor="ctr"/>
          <a:lstStyle/>
          <a:p>
            <a:pPr indent="0" marL="0">
              <a:buNone/>
            </a:pPr>
            <a:r>
              <a:rPr lang="en-US" sz="2800" b="1" dirty="0">
                <a:solidFill>
                  <a:srgbClr val="12283D"/>
                </a:solidFill>
                <a:latin typeface="Cambria" pitchFamily="34" charset="0"/>
                <a:ea typeface="Cambria" pitchFamily="34" charset="-122"/>
                <a:cs typeface="Cambria" pitchFamily="34" charset="-120"/>
              </a:rPr>
              <a:t>Quando buscar ajuda especializada</a:t>
            </a:r>
            <a:endParaRPr lang="en-US" sz="2800" dirty="0"/>
          </a:p>
        </p:txBody>
      </p:sp>
      <p:sp>
        <p:nvSpPr>
          <p:cNvPr id="4" name="Shape 2"/>
          <p:cNvSpPr/>
          <p:nvPr/>
        </p:nvSpPr>
        <p:spPr>
          <a:xfrm>
            <a:off x="822960" y="196596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051560" y="2212848"/>
            <a:ext cx="274320" cy="274320"/>
          </a:xfrm>
          <a:prstGeom prst="ellipse">
            <a:avLst/>
          </a:prstGeom>
          <a:solidFill>
            <a:srgbClr val="C1652F"/>
          </a:solidFill>
          <a:ln/>
        </p:spPr>
      </p:sp>
      <p:sp>
        <p:nvSpPr>
          <p:cNvPr id="6" name="Text 4"/>
          <p:cNvSpPr/>
          <p:nvPr/>
        </p:nvSpPr>
        <p:spPr>
          <a:xfrm>
            <a:off x="1508760" y="196596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Dúvida sobre requisitos formais pra oferecer supervisão clínica: consultar orientação do CRP regional</a:t>
            </a:r>
            <a:endParaRPr lang="en-US" sz="1300" dirty="0"/>
          </a:p>
        </p:txBody>
      </p:sp>
      <p:sp>
        <p:nvSpPr>
          <p:cNvPr id="7" name="Shape 5"/>
          <p:cNvSpPr/>
          <p:nvPr/>
        </p:nvSpPr>
        <p:spPr>
          <a:xfrm>
            <a:off x="822960" y="292608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8" name="Shape 6"/>
          <p:cNvSpPr/>
          <p:nvPr/>
        </p:nvSpPr>
        <p:spPr>
          <a:xfrm>
            <a:off x="1051560" y="3172968"/>
            <a:ext cx="274320" cy="274320"/>
          </a:xfrm>
          <a:prstGeom prst="ellipse">
            <a:avLst/>
          </a:prstGeom>
          <a:solidFill>
            <a:srgbClr val="C1652F"/>
          </a:solidFill>
          <a:ln/>
        </p:spPr>
      </p:sp>
      <p:sp>
        <p:nvSpPr>
          <p:cNvPr id="9" name="Text 7"/>
          <p:cNvSpPr/>
          <p:nvPr/>
        </p:nvSpPr>
        <p:spPr>
          <a:xfrm>
            <a:off x="1508760" y="292608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Interesse em criar curso ou conteúdo pago estruturado: buscar apoio de produção educacional, se o volume justificar</a:t>
            </a:r>
            <a:endParaRPr lang="en-US" sz="1300" dirty="0"/>
          </a:p>
        </p:txBody>
      </p:sp>
      <p:sp>
        <p:nvSpPr>
          <p:cNvPr id="10" name="Shape 8"/>
          <p:cNvSpPr/>
          <p:nvPr/>
        </p:nvSpPr>
        <p:spPr>
          <a:xfrm>
            <a:off x="822960" y="388620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1051560" y="4133088"/>
            <a:ext cx="274320" cy="274320"/>
          </a:xfrm>
          <a:prstGeom prst="ellipse">
            <a:avLst/>
          </a:prstGeom>
          <a:solidFill>
            <a:srgbClr val="C1652F"/>
          </a:solidFill>
          <a:ln/>
        </p:spPr>
      </p:sp>
      <p:sp>
        <p:nvSpPr>
          <p:cNvPr id="12" name="Text 10"/>
          <p:cNvSpPr/>
          <p:nvPr/>
        </p:nvSpPr>
        <p:spPr>
          <a:xfrm>
            <a:off x="1508760" y="388620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Complexidade tributária ao diversificar fontes de receita: revisar com o contador já envolvido desde o Módulo 6.1</a:t>
            </a:r>
            <a:endParaRPr lang="en-US" sz="1300" dirty="0"/>
          </a:p>
        </p:txBody>
      </p:sp>
      <p:sp>
        <p:nvSpPr>
          <p:cNvPr id="13" name="Shape 11"/>
          <p:cNvSpPr/>
          <p:nvPr/>
        </p:nvSpPr>
        <p:spPr>
          <a:xfrm>
            <a:off x="822960" y="4846320"/>
            <a:ext cx="10515600" cy="777240"/>
          </a:xfrm>
          <a:prstGeom prst="roundRect">
            <a:avLst>
              <a:gd name="adj" fmla="val 7059"/>
            </a:avLst>
          </a:prstGeom>
          <a:solidFill>
            <a:srgbClr val="FFFFFF"/>
          </a:solidFill>
          <a:ln/>
          <a:effectLst>
            <a:outerShdw sx="100000" sy="100000" kx="0" ky="0" algn="bl" rotWithShape="0" blurRad="101600" dist="38100" dir="2700000">
              <a:srgbClr val="000000">
                <a:alpha val="12000"/>
              </a:srgbClr>
            </a:outerShdw>
          </a:effectLst>
        </p:spPr>
      </p:sp>
      <p:sp>
        <p:nvSpPr>
          <p:cNvPr id="14" name="Shape 12"/>
          <p:cNvSpPr/>
          <p:nvPr/>
        </p:nvSpPr>
        <p:spPr>
          <a:xfrm>
            <a:off x="1051560" y="5093208"/>
            <a:ext cx="274320" cy="274320"/>
          </a:xfrm>
          <a:prstGeom prst="ellipse">
            <a:avLst/>
          </a:prstGeom>
          <a:solidFill>
            <a:srgbClr val="C1652F"/>
          </a:solidFill>
          <a:ln/>
        </p:spPr>
      </p:sp>
      <p:sp>
        <p:nvSpPr>
          <p:cNvPr id="15" name="Text 13"/>
          <p:cNvSpPr/>
          <p:nvPr/>
        </p:nvSpPr>
        <p:spPr>
          <a:xfrm>
            <a:off x="1508760" y="4846320"/>
            <a:ext cx="9601200" cy="7772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Insegurança persistente mesmo com os sinais de prontidão presentes: considerar mentoria com quem já diversificou com sucesso</a:t>
            </a:r>
            <a:endParaRPr lang="en-US" sz="1300" dirty="0"/>
          </a:p>
        </p:txBody>
      </p:sp>
      <p:sp>
        <p:nvSpPr>
          <p:cNvPr id="16" name="Text 14"/>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6B6153"/>
                </a:solidFill>
                <a:latin typeface="Calibri" pitchFamily="34" charset="0"/>
                <a:ea typeface="Calibri" pitchFamily="34" charset="-122"/>
                <a:cs typeface="Calibri" pitchFamily="34" charset="-120"/>
              </a:rPr>
              <a:t>Diversificando Receita — Módulo 6.4</a:t>
            </a:r>
            <a:endParaRPr lang="en-US" sz="900" dirty="0"/>
          </a:p>
        </p:txBody>
      </p:sp>
      <p:sp>
        <p:nvSpPr>
          <p:cNvPr id="17"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15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83D"/>
        </a:solidFill>
      </p:bgPr>
    </p:bg>
    <p:spTree>
      <p:nvGrpSpPr>
        <p:cNvPr id="1" name=""/>
        <p:cNvGrpSpPr/>
        <p:nvPr/>
      </p:nvGrpSpPr>
      <p:grpSpPr>
        <a:xfrm>
          <a:off x="0" y="0"/>
          <a:ext cx="0" cy="0"/>
          <a:chOff x="0" y="0"/>
          <a:chExt cx="0" cy="0"/>
        </a:xfrm>
      </p:grpSpPr>
      <p:sp>
        <p:nvSpPr>
          <p:cNvPr id="2" name="Text 0"/>
          <p:cNvSpPr/>
          <p:nvPr/>
        </p:nvSpPr>
        <p:spPr>
          <a:xfrm>
            <a:off x="822960" y="822960"/>
            <a:ext cx="9144000" cy="274320"/>
          </a:xfrm>
          <a:prstGeom prst="rect">
            <a:avLst/>
          </a:prstGeom>
          <a:noFill/>
          <a:ln/>
        </p:spPr>
        <p:txBody>
          <a:bodyPr wrap="square" lIns="0" tIns="0" rIns="0" bIns="0" rtlCol="0" anchor="ctr"/>
          <a:lstStyle/>
          <a:p>
            <a:pPr indent="0" marL="0">
              <a:buNone/>
            </a:pPr>
            <a:r>
              <a:rPr lang="en-US" sz="1100" b="1" spc="200" kern="0" dirty="0">
                <a:solidFill>
                  <a:srgbClr val="C1652F"/>
                </a:solidFill>
                <a:latin typeface="Calibri" pitchFamily="34" charset="0"/>
                <a:ea typeface="Calibri" pitchFamily="34" charset="-122"/>
                <a:cs typeface="Calibri" pitchFamily="34" charset="-120"/>
              </a:rPr>
              <a:t>RECAPITULANDO</a:t>
            </a:r>
            <a:endParaRPr lang="en-US" sz="1100" dirty="0"/>
          </a:p>
        </p:txBody>
      </p:sp>
      <p:sp>
        <p:nvSpPr>
          <p:cNvPr id="3" name="Text 1"/>
          <p:cNvSpPr/>
          <p:nvPr/>
        </p:nvSpPr>
        <p:spPr>
          <a:xfrm>
            <a:off x="777240" y="118872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 que leva desta aula</a:t>
            </a:r>
            <a:endParaRPr lang="en-US" sz="3200" dirty="0"/>
          </a:p>
        </p:txBody>
      </p:sp>
      <p:sp>
        <p:nvSpPr>
          <p:cNvPr id="4" name="Text 2"/>
          <p:cNvSpPr/>
          <p:nvPr/>
        </p:nvSpPr>
        <p:spPr>
          <a:xfrm>
            <a:off x="822960" y="2194560"/>
            <a:ext cx="8869680" cy="237744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Grupos, supervisão, cursos e palestras ampliam receita sem depender só de hora de atendimento individual</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Energia disponível, competência dominada e momento de carreira orientam a escolha do formato certo</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Testar em pequena escala antes de expandir é o que diferencia diversificação intencional de tentativa dispersa</a:t>
            </a:r>
            <a:endParaRPr lang="en-US" sz="1700" dirty="0"/>
          </a:p>
          <a:p>
            <a:pPr marL="342900" indent="-342900">
              <a:spcAft>
                <a:spcPts val="1200"/>
              </a:spcAft>
              <a:buSzPct val="100000"/>
              <a:buChar char="•"/>
            </a:pPr>
            <a:r>
              <a:rPr lang="en-US" sz="1700" dirty="0">
                <a:solidFill>
                  <a:srgbClr val="E4E9EF"/>
                </a:solidFill>
                <a:latin typeface="Calibri" pitchFamily="34" charset="0"/>
                <a:ea typeface="Calibri" pitchFamily="34" charset="-122"/>
                <a:cs typeface="Calibri" pitchFamily="34" charset="-120"/>
              </a:rPr>
              <a:t>Você concluiu a Escola de Marketing para Psicólogos — do posicionamento à diversificação, uma base completa pra construir e sustentar seu consultório</a:t>
            </a:r>
            <a:endParaRPr lang="en-US" sz="1700" dirty="0"/>
          </a:p>
        </p:txBody>
      </p:sp>
      <p:sp>
        <p:nvSpPr>
          <p:cNvPr id="5" name="Shape 3"/>
          <p:cNvSpPr/>
          <p:nvPr/>
        </p:nvSpPr>
        <p:spPr>
          <a:xfrm>
            <a:off x="822960" y="4846320"/>
            <a:ext cx="8686800" cy="1051560"/>
          </a:xfrm>
          <a:prstGeom prst="roundRect">
            <a:avLst>
              <a:gd name="adj" fmla="val 6957"/>
            </a:avLst>
          </a:prstGeom>
          <a:solidFill>
            <a:srgbClr val="1A3350"/>
          </a:solidFill>
          <a:ln/>
        </p:spPr>
      </p:sp>
      <p:sp>
        <p:nvSpPr>
          <p:cNvPr id="6" name="Text 4"/>
          <p:cNvSpPr/>
          <p:nvPr/>
        </p:nvSpPr>
        <p:spPr>
          <a:xfrm>
            <a:off x="1097280" y="4846320"/>
            <a:ext cx="8229600" cy="1051560"/>
          </a:xfrm>
          <a:prstGeom prst="rect">
            <a:avLst/>
          </a:prstGeom>
          <a:noFill/>
          <a:ln/>
        </p:spPr>
        <p:txBody>
          <a:bodyPr wrap="square" lIns="0" tIns="0" rIns="0" bIns="0" rtlCol="0" anchor="ctr"/>
          <a:lstStyle/>
          <a:p>
            <a:pPr indent="0" marL="0">
              <a:buNone/>
            </a:pPr>
            <a:r>
              <a:rPr lang="en-US" sz="1500" b="1" dirty="0">
                <a:solidFill>
                  <a:srgbClr val="D99A73"/>
                </a:solidFill>
                <a:latin typeface="Calibri" pitchFamily="34" charset="0"/>
                <a:ea typeface="Calibri" pitchFamily="34" charset="-122"/>
                <a:cs typeface="Calibri" pitchFamily="34" charset="-120"/>
              </a:rPr>
              <a:t>Escola Completa concluída. Últimos exercícios e avaliação do Módulo 6.4 →</a:t>
            </a:r>
            <a:endParaRPr lang="en-US" sz="1500" dirty="0"/>
          </a:p>
        </p:txBody>
      </p:sp>
      <p:sp>
        <p:nvSpPr>
          <p:cNvPr id="7" name="Text 5"/>
          <p:cNvSpPr/>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8FA0B3"/>
                </a:solidFill>
                <a:latin typeface="Calibri" pitchFamily="34" charset="0"/>
                <a:ea typeface="Calibri" pitchFamily="34" charset="-122"/>
                <a:cs typeface="Calibri" pitchFamily="34" charset="-120"/>
              </a:rPr>
              <a:t>Diversificando Receita — Módulo 6.4</a:t>
            </a:r>
            <a:endParaRPr lang="en-US" sz="900" dirty="0"/>
          </a:p>
        </p:txBody>
      </p:sp>
      <p:sp>
        <p:nvSpPr>
          <p:cNvPr id="8" name="Text 6"/>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8FA0B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Diversificando Receita — Além da Hora de Sessão Individual</dc:title>
  <dc:subject>PptxGenJS Presentation</dc:subject>
  <dc:creator>Dioclides</dc:creator>
  <cp:lastModifiedBy>Dioclides</cp:lastModifiedBy>
  <cp:revision>1</cp:revision>
  <dcterms:created xsi:type="dcterms:W3CDTF">2026-07-10T20:47:37Z</dcterms:created>
  <dcterms:modified xsi:type="dcterms:W3CDTF">2026-07-10T20:47:37Z</dcterms:modified>
</cp:coreProperties>
</file>